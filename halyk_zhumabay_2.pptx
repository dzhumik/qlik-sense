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651"/>
    <a:srgbClr val="ECF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>
        <p:scale>
          <a:sx n="53" d="100"/>
          <a:sy n="53" d="100"/>
        </p:scale>
        <p:origin x="2944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1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4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9.png"/><Relationship Id="rId5" Type="http://schemas.openxmlformats.org/officeDocument/2006/relationships/image" Target="../media/image15.png"/><Relationship Id="rId10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46.png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4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0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4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7831" y="11648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2053743" y="4034920"/>
            <a:ext cx="8229600" cy="192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2500884" y="4034920"/>
            <a:ext cx="19202" cy="2286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4939589" y="4034920"/>
            <a:ext cx="19202" cy="228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378294" y="4034920"/>
            <a:ext cx="19202" cy="2286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816084" y="4034920"/>
            <a:ext cx="19202" cy="2286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0"/>
            <a:ext cx="12191695" cy="14666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457200" y="267005"/>
            <a:ext cx="457200" cy="3840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028700" y="190195"/>
            <a:ext cx="5296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Департамент информационных технологий и данных</a:t>
            </a:r>
            <a:endParaRPr lang="en-US" sz="1000" dirty="0"/>
          </a:p>
        </p:txBody>
      </p:sp>
      <p:sp>
        <p:nvSpPr>
          <p:cNvPr id="13" name="Text 4"/>
          <p:cNvSpPr txBox="1"/>
          <p:nvPr/>
        </p:nvSpPr>
        <p:spPr>
          <a:xfrm>
            <a:off x="457200" y="418795"/>
            <a:ext cx="799642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Штатное расписание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Управления развития систем отчетности</a:t>
            </a:r>
            <a:endParaRPr lang="en-US" sz="2700" dirty="0"/>
          </a:p>
        </p:txBody>
      </p:sp>
      <p:sp>
        <p:nvSpPr>
          <p:cNvPr id="14" name="Shape 5"/>
          <p:cNvSpPr/>
          <p:nvPr/>
        </p:nvSpPr>
        <p:spPr>
          <a:xfrm>
            <a:off x="9965131" y="1901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6"/>
          <p:cNvSpPr txBox="1"/>
          <p:nvPr/>
        </p:nvSpPr>
        <p:spPr>
          <a:xfrm>
            <a:off x="9936785" y="1901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10422331" y="2286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158484" y="2587424"/>
            <a:ext cx="19202" cy="228600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4644238" y="1787324"/>
            <a:ext cx="30476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9"/>
          <p:cNvSpPr/>
          <p:nvPr/>
        </p:nvSpPr>
        <p:spPr>
          <a:xfrm>
            <a:off x="4644238" y="1787324"/>
            <a:ext cx="47549" cy="800100"/>
          </a:xfrm>
          <a:prstGeom prst="roundRect">
            <a:avLst>
              <a:gd name="adj" fmla="val 18314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0"/>
          <p:cNvSpPr txBox="1"/>
          <p:nvPr/>
        </p:nvSpPr>
        <p:spPr>
          <a:xfrm>
            <a:off x="4920387" y="1920827"/>
            <a:ext cx="22887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Начальник управления</a:t>
            </a:r>
            <a:endParaRPr lang="en-US" sz="1300" dirty="0"/>
          </a:p>
        </p:txBody>
      </p:sp>
      <p:sp>
        <p:nvSpPr>
          <p:cNvPr id="21" name="Text 11"/>
          <p:cNvSpPr txBox="1"/>
          <p:nvPr/>
        </p:nvSpPr>
        <p:spPr>
          <a:xfrm>
            <a:off x="4920387" y="2225322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Руководство</a:t>
            </a:r>
            <a:endParaRPr lang="en-US" sz="1200" dirty="0"/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A5CEC537-C6C8-55E7-22D2-04F3D837F7B6}"/>
              </a:ext>
            </a:extLst>
          </p:cNvPr>
          <p:cNvGrpSpPr/>
          <p:nvPr/>
        </p:nvGrpSpPr>
        <p:grpSpPr>
          <a:xfrm>
            <a:off x="7222846" y="2253037"/>
            <a:ext cx="286207" cy="228600"/>
            <a:chOff x="7182612" y="2244524"/>
            <a:chExt cx="286207" cy="228600"/>
          </a:xfrm>
        </p:grpSpPr>
        <p:sp>
          <p:nvSpPr>
            <p:cNvPr id="22" name="Shape 12"/>
            <p:cNvSpPr/>
            <p:nvPr/>
          </p:nvSpPr>
          <p:spPr>
            <a:xfrm>
              <a:off x="7182612" y="2244524"/>
              <a:ext cx="286207" cy="228600"/>
            </a:xfrm>
            <a:prstGeom prst="roundRect">
              <a:avLst>
                <a:gd name="adj" fmla="val 400000"/>
              </a:avLst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3" name="Text 13"/>
            <p:cNvSpPr txBox="1"/>
            <p:nvPr/>
          </p:nvSpPr>
          <p:spPr>
            <a:xfrm>
              <a:off x="7262367" y="2300974"/>
              <a:ext cx="123002" cy="11378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000" dirty="0"/>
            </a:p>
          </p:txBody>
        </p:sp>
      </p:grp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7263994" y="1929971"/>
            <a:ext cx="200254" cy="228600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158484" y="3806320"/>
            <a:ext cx="19202" cy="2286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644238" y="2816024"/>
            <a:ext cx="3047695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15"/>
          <p:cNvSpPr/>
          <p:nvPr/>
        </p:nvSpPr>
        <p:spPr>
          <a:xfrm>
            <a:off x="4644238" y="2816024"/>
            <a:ext cx="47549" cy="990295"/>
          </a:xfrm>
          <a:prstGeom prst="roundRect">
            <a:avLst>
              <a:gd name="adj" fmla="val 14792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16"/>
          <p:cNvSpPr txBox="1"/>
          <p:nvPr/>
        </p:nvSpPr>
        <p:spPr>
          <a:xfrm>
            <a:off x="4920387" y="2930324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4920387" y="3234820"/>
            <a:ext cx="2315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3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командами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7222845" y="3375743"/>
            <a:ext cx="286207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19"/>
          <p:cNvSpPr txBox="1"/>
          <p:nvPr/>
        </p:nvSpPr>
        <p:spPr>
          <a:xfrm>
            <a:off x="7306274" y="3422044"/>
            <a:ext cx="111588" cy="1234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7206387" y="3053768"/>
            <a:ext cx="256946" cy="228600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1443838" y="4263520"/>
            <a:ext cx="213329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4" name="Shape 21"/>
          <p:cNvSpPr/>
          <p:nvPr/>
        </p:nvSpPr>
        <p:spPr>
          <a:xfrm>
            <a:off x="1443838" y="4263520"/>
            <a:ext cx="47549" cy="1686154"/>
          </a:xfrm>
          <a:prstGeom prst="roundRect">
            <a:avLst>
              <a:gd name="adj" fmla="val 8691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22"/>
          <p:cNvSpPr/>
          <p:nvPr/>
        </p:nvSpPr>
        <p:spPr>
          <a:xfrm>
            <a:off x="2306117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2393815" y="4539336"/>
            <a:ext cx="282761" cy="245059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608430" y="4987724"/>
            <a:ext cx="18525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разработчик</a:t>
            </a:r>
            <a:endParaRPr lang="en-US" sz="1200" dirty="0"/>
          </a:p>
        </p:txBody>
      </p:sp>
      <p:sp>
        <p:nvSpPr>
          <p:cNvPr id="38" name="Shape 24"/>
          <p:cNvSpPr/>
          <p:nvPr/>
        </p:nvSpPr>
        <p:spPr>
          <a:xfrm>
            <a:off x="2337207" y="5492473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25"/>
          <p:cNvSpPr txBox="1"/>
          <p:nvPr/>
        </p:nvSpPr>
        <p:spPr>
          <a:xfrm>
            <a:off x="2298802" y="5492473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26"/>
          <p:cNvSpPr/>
          <p:nvPr/>
        </p:nvSpPr>
        <p:spPr>
          <a:xfrm>
            <a:off x="3882543" y="4263520"/>
            <a:ext cx="213329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Shape 27"/>
          <p:cNvSpPr/>
          <p:nvPr/>
        </p:nvSpPr>
        <p:spPr>
          <a:xfrm>
            <a:off x="3882543" y="4263520"/>
            <a:ext cx="47549" cy="1686154"/>
          </a:xfrm>
          <a:prstGeom prst="roundRect">
            <a:avLst>
              <a:gd name="adj" fmla="val 8691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28"/>
          <p:cNvSpPr/>
          <p:nvPr/>
        </p:nvSpPr>
        <p:spPr>
          <a:xfrm>
            <a:off x="4743908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46237" y="4539336"/>
            <a:ext cx="245059" cy="245059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046220" y="4987724"/>
            <a:ext cx="18525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разработчик</a:t>
            </a:r>
            <a:endParaRPr lang="en-US" sz="1200" dirty="0"/>
          </a:p>
        </p:txBody>
      </p:sp>
      <p:sp>
        <p:nvSpPr>
          <p:cNvPr id="45" name="Shape 30"/>
          <p:cNvSpPr/>
          <p:nvPr/>
        </p:nvSpPr>
        <p:spPr>
          <a:xfrm>
            <a:off x="4774997" y="5492473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31"/>
          <p:cNvSpPr txBox="1"/>
          <p:nvPr/>
        </p:nvSpPr>
        <p:spPr>
          <a:xfrm>
            <a:off x="4737507" y="5492473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Shape 32"/>
          <p:cNvSpPr/>
          <p:nvPr/>
        </p:nvSpPr>
        <p:spPr>
          <a:xfrm>
            <a:off x="6320333" y="4263520"/>
            <a:ext cx="213329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8" name="Shape 33"/>
          <p:cNvSpPr/>
          <p:nvPr/>
        </p:nvSpPr>
        <p:spPr>
          <a:xfrm>
            <a:off x="6320333" y="4263520"/>
            <a:ext cx="47549" cy="1686154"/>
          </a:xfrm>
          <a:prstGeom prst="roundRect">
            <a:avLst>
              <a:gd name="adj" fmla="val 8691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Shape 34"/>
          <p:cNvSpPr/>
          <p:nvPr/>
        </p:nvSpPr>
        <p:spPr>
          <a:xfrm>
            <a:off x="7182612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295333" y="4528945"/>
            <a:ext cx="245059" cy="245059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6484925" y="4987724"/>
            <a:ext cx="185257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Старший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разработчик</a:t>
            </a:r>
            <a:endParaRPr lang="en-US" sz="1200" dirty="0"/>
          </a:p>
        </p:txBody>
      </p:sp>
      <p:sp>
        <p:nvSpPr>
          <p:cNvPr id="52" name="Shape 36"/>
          <p:cNvSpPr/>
          <p:nvPr/>
        </p:nvSpPr>
        <p:spPr>
          <a:xfrm>
            <a:off x="7213702" y="5492473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37"/>
          <p:cNvSpPr txBox="1"/>
          <p:nvPr/>
        </p:nvSpPr>
        <p:spPr>
          <a:xfrm>
            <a:off x="7175297" y="5492473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Shape 38"/>
          <p:cNvSpPr/>
          <p:nvPr/>
        </p:nvSpPr>
        <p:spPr>
          <a:xfrm>
            <a:off x="8759038" y="4263520"/>
            <a:ext cx="2133295" cy="1686154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5" name="Shape 39"/>
          <p:cNvSpPr/>
          <p:nvPr/>
        </p:nvSpPr>
        <p:spPr>
          <a:xfrm>
            <a:off x="8759038" y="4263520"/>
            <a:ext cx="56146" cy="1743762"/>
          </a:xfrm>
          <a:prstGeom prst="roundRect">
            <a:avLst>
              <a:gd name="adj" fmla="val 992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Shape 40"/>
          <p:cNvSpPr/>
          <p:nvPr/>
        </p:nvSpPr>
        <p:spPr>
          <a:xfrm>
            <a:off x="9621317" y="4416224"/>
            <a:ext cx="457200" cy="457200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710263" y="4539336"/>
            <a:ext cx="306324" cy="245059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8920887" y="4987724"/>
            <a:ext cx="18580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59" name="Shape 42"/>
          <p:cNvSpPr/>
          <p:nvPr/>
        </p:nvSpPr>
        <p:spPr>
          <a:xfrm>
            <a:off x="9653505" y="5491557"/>
            <a:ext cx="400507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Text 43"/>
          <p:cNvSpPr txBox="1"/>
          <p:nvPr/>
        </p:nvSpPr>
        <p:spPr>
          <a:xfrm>
            <a:off x="9625224" y="5492015"/>
            <a:ext cx="4764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704173" y="1843900"/>
            <a:ext cx="738869" cy="738869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96B65B66-2B2D-2352-E21B-9988A6872940}"/>
              </a:ext>
            </a:extLst>
          </p:cNvPr>
          <p:cNvSpPr/>
          <p:nvPr/>
        </p:nvSpPr>
        <p:spPr>
          <a:xfrm>
            <a:off x="8630107" y="1784603"/>
            <a:ext cx="2262226" cy="861322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4"/>
          <a:srcRect l="-607" r="-607"/>
          <a:stretch/>
        </p:blipFill>
        <p:spPr>
          <a:xfrm>
            <a:off x="8859289" y="2014429"/>
            <a:ext cx="438668" cy="346725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9534576" y="1825125"/>
            <a:ext cx="1271851" cy="2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Общий штат</a:t>
            </a:r>
            <a:endParaRPr lang="en-US" sz="1000" b="1" dirty="0"/>
          </a:p>
        </p:txBody>
      </p:sp>
      <p:sp>
        <p:nvSpPr>
          <p:cNvPr id="65" name="Text 45"/>
          <p:cNvSpPr txBox="1"/>
          <p:nvPr/>
        </p:nvSpPr>
        <p:spPr>
          <a:xfrm>
            <a:off x="9558735" y="1962484"/>
            <a:ext cx="611767" cy="55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457200" y="1319479"/>
            <a:ext cx="11277295" cy="819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28954" y="1481328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228954" y="1671523"/>
            <a:ext cx="1552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человека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31619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285439" y="1652321"/>
            <a:ext cx="133502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664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590849" y="1652321"/>
            <a:ext cx="133502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77190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895344" y="1652321"/>
            <a:ext cx="133502" cy="1527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494215" y="1633118"/>
            <a:ext cx="2243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в ODS / DDS слои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457200" y="2443277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9"/>
          <p:cNvSpPr/>
          <p:nvPr/>
        </p:nvSpPr>
        <p:spPr>
          <a:xfrm>
            <a:off x="457200" y="2443277"/>
            <a:ext cx="38405" cy="1371600"/>
          </a:xfrm>
          <a:prstGeom prst="roundRect">
            <a:avLst>
              <a:gd name="adj" fmla="val 132274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0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3077" y="2766974"/>
            <a:ext cx="142646" cy="1901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95705" y="263347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бизнес требований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1295705" y="2938882"/>
            <a:ext cx="4534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требований на интеграцию новых источников, расширение таблиц в ODS/DDS слоях, перегрузку и дозагрузку данных.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6248095" y="2443277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14"/>
          <p:cNvSpPr/>
          <p:nvPr/>
        </p:nvSpPr>
        <p:spPr>
          <a:xfrm>
            <a:off x="6248095" y="2443277"/>
            <a:ext cx="38405" cy="1371600"/>
          </a:xfrm>
          <a:prstGeom prst="roundRect">
            <a:avLst>
              <a:gd name="adj" fmla="val 132274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15"/>
          <p:cNvSpPr/>
          <p:nvPr/>
        </p:nvSpPr>
        <p:spPr>
          <a:xfrm>
            <a:off x="6476695" y="26334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596482" y="2766974"/>
            <a:ext cx="219456" cy="1901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086600" y="263347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7086600" y="2938882"/>
            <a:ext cx="4534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Понимание бизнес-процесса и архитектуры. Определение политик доступа и типов загрузки в ODS для корректного хранения.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57200" y="4037076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19"/>
          <p:cNvSpPr/>
          <p:nvPr/>
        </p:nvSpPr>
        <p:spPr>
          <a:xfrm>
            <a:off x="457200" y="4037076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0"/>
          <p:cNvSpPr/>
          <p:nvPr/>
        </p:nvSpPr>
        <p:spPr>
          <a:xfrm>
            <a:off x="685800" y="4227271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04672" y="4360774"/>
            <a:ext cx="219456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295705" y="4227271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ТЗ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295705" y="453268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согласование технических заданий на интеграцию данных в ODS и DDS слои хранилища.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6248095" y="4037076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24"/>
          <p:cNvSpPr/>
          <p:nvPr/>
        </p:nvSpPr>
        <p:spPr>
          <a:xfrm>
            <a:off x="6248095" y="4037076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25"/>
          <p:cNvSpPr/>
          <p:nvPr/>
        </p:nvSpPr>
        <p:spPr>
          <a:xfrm>
            <a:off x="6476695" y="4227271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10198" y="4360774"/>
            <a:ext cx="190195" cy="19019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7086600" y="4227271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ODS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7086600" y="453268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загруженных данных в слой ODS на полное соответствие с источником данных.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457200" y="5447081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Shape 29"/>
          <p:cNvSpPr/>
          <p:nvPr/>
        </p:nvSpPr>
        <p:spPr>
          <a:xfrm>
            <a:off x="457200" y="5447081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30"/>
          <p:cNvSpPr/>
          <p:nvPr/>
        </p:nvSpPr>
        <p:spPr>
          <a:xfrm>
            <a:off x="685800" y="5638190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5528" y="5771693"/>
            <a:ext cx="237744" cy="19019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295705" y="563819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DDS с заказчиком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1295705" y="5942686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Совместное с бизнес-заказчиком тестирование и верификация данных, загруженных в слой DDS.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6248095" y="5447081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Shape 34"/>
          <p:cNvSpPr/>
          <p:nvPr/>
        </p:nvSpPr>
        <p:spPr>
          <a:xfrm>
            <a:off x="6248095" y="5447081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35"/>
          <p:cNvSpPr/>
          <p:nvPr/>
        </p:nvSpPr>
        <p:spPr>
          <a:xfrm>
            <a:off x="6476695" y="5638190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10198" y="5771693"/>
            <a:ext cx="190195" cy="19019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086600" y="563819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Консультация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7086600" y="5942686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Консультирование бизнес-подразделений о наличии данных в хранилище и маршрутах доступа к ним.</a:t>
            </a:r>
            <a:endParaRPr lang="en-US" sz="1000" dirty="0"/>
          </a:p>
        </p:txBody>
      </p:sp>
      <p:sp>
        <p:nvSpPr>
          <p:cNvPr id="53" name="Shape 38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Shape 39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3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1028700" y="304495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457200" y="571500"/>
            <a:ext cx="63633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новых источников</a:t>
            </a:r>
            <a:endParaRPr lang="en-US" sz="2200" dirty="0"/>
          </a:p>
        </p:txBody>
      </p:sp>
      <p:sp>
        <p:nvSpPr>
          <p:cNvPr id="58" name="Shape 42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43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0" name="Text 44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887064A7-069A-8D99-D36E-24FB51EEFF5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8" b="-28"/>
          <a:stretch/>
        </p:blipFill>
        <p:spPr>
          <a:xfrm>
            <a:off x="457200" y="1319479"/>
            <a:ext cx="11277295" cy="8577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481328"/>
            <a:ext cx="533095" cy="5330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43407" y="1633118"/>
            <a:ext cx="286207" cy="228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304849" y="1481328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304849" y="1671523"/>
            <a:ext cx="16568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человек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33110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3453689" y="1652321"/>
            <a:ext cx="171907" cy="19019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6539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3796589" y="1652321"/>
            <a:ext cx="171907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9968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139489" y="1652321"/>
            <a:ext cx="171907" cy="19019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3397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482389" y="1652321"/>
            <a:ext cx="171907" cy="19019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6826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825289" y="1652321"/>
            <a:ext cx="171907" cy="190195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50255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168189" y="1652321"/>
            <a:ext cx="171907" cy="190195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53684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511089" y="1652321"/>
            <a:ext cx="171907" cy="190195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57113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853989" y="1652321"/>
            <a:ext cx="171907" cy="190195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6054242" y="1518818"/>
            <a:ext cx="457200" cy="457200"/>
          </a:xfrm>
          <a:prstGeom prst="ellipse">
            <a:avLst/>
          </a:prstGeom>
          <a:solidFill>
            <a:srgbClr val="D1FAE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196889" y="1652321"/>
            <a:ext cx="171907" cy="190195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7993685" y="1633118"/>
            <a:ext cx="3680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Регуляторная отчетность и модели данных</a:t>
            </a:r>
            <a:endParaRPr lang="en-US" sz="1200" dirty="0"/>
          </a:p>
        </p:txBody>
      </p:sp>
      <p:sp>
        <p:nvSpPr>
          <p:cNvPr id="28" name="Shape 14"/>
          <p:cNvSpPr/>
          <p:nvPr/>
        </p:nvSpPr>
        <p:spPr>
          <a:xfrm>
            <a:off x="457200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15"/>
          <p:cNvSpPr/>
          <p:nvPr/>
        </p:nvSpPr>
        <p:spPr>
          <a:xfrm>
            <a:off x="457200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16"/>
          <p:cNvSpPr/>
          <p:nvPr/>
        </p:nvSpPr>
        <p:spPr>
          <a:xfrm>
            <a:off x="733349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2812694"/>
            <a:ext cx="228600" cy="2286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1419149" y="2788006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требований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733349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 бизнес-требований к регуляторным отчетам и составление ТЗ.</a:t>
            </a:r>
            <a:endParaRPr lang="en-US" sz="1000" dirty="0"/>
          </a:p>
        </p:txBody>
      </p:sp>
      <p:sp>
        <p:nvSpPr>
          <p:cNvPr id="34" name="Shape 19"/>
          <p:cNvSpPr/>
          <p:nvPr/>
        </p:nvSpPr>
        <p:spPr>
          <a:xfrm>
            <a:off x="3333902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20"/>
          <p:cNvSpPr/>
          <p:nvPr/>
        </p:nvSpPr>
        <p:spPr>
          <a:xfrm>
            <a:off x="3333902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21"/>
          <p:cNvSpPr/>
          <p:nvPr/>
        </p:nvSpPr>
        <p:spPr>
          <a:xfrm>
            <a:off x="3610051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3733495" y="2812694"/>
            <a:ext cx="286207" cy="22860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4295851" y="2788006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(ТЗ)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3610051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ТЗ на интеграцию в ODS/DDS новых источников (КБО, ГГК).</a:t>
            </a:r>
            <a:endParaRPr lang="en-US" sz="1000" dirty="0"/>
          </a:p>
        </p:txBody>
      </p:sp>
      <p:sp>
        <p:nvSpPr>
          <p:cNvPr id="40" name="Shape 24"/>
          <p:cNvSpPr/>
          <p:nvPr/>
        </p:nvSpPr>
        <p:spPr>
          <a:xfrm>
            <a:off x="6210605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Shape 25"/>
          <p:cNvSpPr/>
          <p:nvPr/>
        </p:nvSpPr>
        <p:spPr>
          <a:xfrm>
            <a:off x="6210605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26"/>
          <p:cNvSpPr/>
          <p:nvPr/>
        </p:nvSpPr>
        <p:spPr>
          <a:xfrm>
            <a:off x="6486754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38544" y="2812694"/>
            <a:ext cx="228600" cy="228600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7172554" y="2895905"/>
            <a:ext cx="14008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45" name="Text 28"/>
          <p:cNvSpPr txBox="1"/>
          <p:nvPr/>
        </p:nvSpPr>
        <p:spPr>
          <a:xfrm>
            <a:off x="6486754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загрузок в ODS и совместное тестирование с заказчиком в DDS.</a:t>
            </a:r>
            <a:endParaRPr lang="en-US" sz="1000" dirty="0"/>
          </a:p>
        </p:txBody>
      </p:sp>
      <p:sp>
        <p:nvSpPr>
          <p:cNvPr id="46" name="Shape 29"/>
          <p:cNvSpPr/>
          <p:nvPr/>
        </p:nvSpPr>
        <p:spPr>
          <a:xfrm>
            <a:off x="9087307" y="2404872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Shape 30"/>
          <p:cNvSpPr/>
          <p:nvPr/>
        </p:nvSpPr>
        <p:spPr>
          <a:xfrm>
            <a:off x="9087307" y="2404872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31"/>
          <p:cNvSpPr/>
          <p:nvPr/>
        </p:nvSpPr>
        <p:spPr>
          <a:xfrm>
            <a:off x="9363456" y="2659990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544507" y="2812694"/>
            <a:ext cx="171907" cy="228600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10049256" y="2788006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отчетов</a:t>
            </a:r>
            <a:endParaRPr lang="en-US" sz="1300" dirty="0"/>
          </a:p>
        </p:txBody>
      </p:sp>
      <p:sp>
        <p:nvSpPr>
          <p:cNvPr id="51" name="Text 33"/>
          <p:cNvSpPr txBox="1"/>
          <p:nvPr/>
        </p:nvSpPr>
        <p:spPr>
          <a:xfrm>
            <a:off x="9363456" y="3460090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отчетов и моделей (QVD), автообновление и поддержка работы.</a:t>
            </a:r>
            <a:endParaRPr lang="en-US" sz="1000" dirty="0"/>
          </a:p>
        </p:txBody>
      </p:sp>
      <p:sp>
        <p:nvSpPr>
          <p:cNvPr id="52" name="Shape 34"/>
          <p:cNvSpPr/>
          <p:nvPr/>
        </p:nvSpPr>
        <p:spPr>
          <a:xfrm>
            <a:off x="457200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3" name="Shape 35"/>
          <p:cNvSpPr/>
          <p:nvPr/>
        </p:nvSpPr>
        <p:spPr>
          <a:xfrm>
            <a:off x="457200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Shape 36"/>
          <p:cNvSpPr/>
          <p:nvPr/>
        </p:nvSpPr>
        <p:spPr>
          <a:xfrm>
            <a:off x="733349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6054" y="5000854"/>
            <a:ext cx="228600" cy="228600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1419149" y="4977079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 Sap BW</a:t>
            </a:r>
            <a:endParaRPr lang="en-US" sz="1300" dirty="0"/>
          </a:p>
        </p:txBody>
      </p:sp>
      <p:sp>
        <p:nvSpPr>
          <p:cNvPr id="57" name="Text 38"/>
          <p:cNvSpPr txBox="1"/>
          <p:nvPr/>
        </p:nvSpPr>
        <p:spPr>
          <a:xfrm>
            <a:off x="733349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 функционала регуляторной отчетности в системе SAP BW.</a:t>
            </a:r>
            <a:endParaRPr lang="en-US" sz="1000" dirty="0"/>
          </a:p>
        </p:txBody>
      </p:sp>
      <p:sp>
        <p:nvSpPr>
          <p:cNvPr id="58" name="Shape 39"/>
          <p:cNvSpPr/>
          <p:nvPr/>
        </p:nvSpPr>
        <p:spPr>
          <a:xfrm>
            <a:off x="3333902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9" name="Shape 40"/>
          <p:cNvSpPr/>
          <p:nvPr/>
        </p:nvSpPr>
        <p:spPr>
          <a:xfrm>
            <a:off x="3333902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Shape 41"/>
          <p:cNvSpPr/>
          <p:nvPr/>
        </p:nvSpPr>
        <p:spPr>
          <a:xfrm>
            <a:off x="3610051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3776472" y="5000854"/>
            <a:ext cx="200254" cy="228600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4295851" y="4977079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Ad-hoc запросы</a:t>
            </a:r>
            <a:endParaRPr lang="en-US" sz="1300" dirty="0"/>
          </a:p>
        </p:txBody>
      </p:sp>
      <p:sp>
        <p:nvSpPr>
          <p:cNvPr id="63" name="Text 43"/>
          <p:cNvSpPr txBox="1"/>
          <p:nvPr/>
        </p:nvSpPr>
        <p:spPr>
          <a:xfrm>
            <a:off x="3610051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Выгрузка данных по запросам регуляторов в Qlik Sense и Sap BW.</a:t>
            </a:r>
            <a:endParaRPr lang="en-US" sz="1000" dirty="0"/>
          </a:p>
        </p:txBody>
      </p:sp>
      <p:sp>
        <p:nvSpPr>
          <p:cNvPr id="64" name="Shape 44"/>
          <p:cNvSpPr/>
          <p:nvPr/>
        </p:nvSpPr>
        <p:spPr>
          <a:xfrm>
            <a:off x="6210605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5" name="Shape 45"/>
          <p:cNvSpPr/>
          <p:nvPr/>
        </p:nvSpPr>
        <p:spPr>
          <a:xfrm>
            <a:off x="6210605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Shape 46"/>
          <p:cNvSpPr/>
          <p:nvPr/>
        </p:nvSpPr>
        <p:spPr>
          <a:xfrm>
            <a:off x="6486754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6610198" y="5000854"/>
            <a:ext cx="286207" cy="228600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7172554" y="4977079"/>
            <a:ext cx="151607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и SSBI</a:t>
            </a:r>
            <a:endParaRPr lang="en-US" sz="1300" dirty="0"/>
          </a:p>
        </p:txBody>
      </p:sp>
      <p:sp>
        <p:nvSpPr>
          <p:cNvPr id="69" name="Text 48"/>
          <p:cNvSpPr txBox="1"/>
          <p:nvPr/>
        </p:nvSpPr>
        <p:spPr>
          <a:xfrm>
            <a:off x="6486754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Внутреннее обучение Qlik Sense, инструкции, консультации пользователей.</a:t>
            </a:r>
            <a:endParaRPr lang="en-US" sz="1000" dirty="0"/>
          </a:p>
        </p:txBody>
      </p:sp>
      <p:sp>
        <p:nvSpPr>
          <p:cNvPr id="70" name="Shape 49"/>
          <p:cNvSpPr/>
          <p:nvPr/>
        </p:nvSpPr>
        <p:spPr>
          <a:xfrm>
            <a:off x="9087307" y="4593031"/>
            <a:ext cx="2648102" cy="1962302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1" name="Shape 50"/>
          <p:cNvSpPr/>
          <p:nvPr/>
        </p:nvSpPr>
        <p:spPr>
          <a:xfrm>
            <a:off x="9087307" y="4593031"/>
            <a:ext cx="47549" cy="1962302"/>
          </a:xfrm>
          <a:prstGeom prst="roundRect">
            <a:avLst>
              <a:gd name="adj" fmla="val 112023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Shape 51"/>
          <p:cNvSpPr/>
          <p:nvPr/>
        </p:nvSpPr>
        <p:spPr>
          <a:xfrm>
            <a:off x="9363456" y="4848149"/>
            <a:ext cx="533095" cy="533095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3" name="Image 1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15246" y="5000854"/>
            <a:ext cx="228600" cy="228600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10049256" y="5084064"/>
            <a:ext cx="1162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</a:t>
            </a:r>
            <a:endParaRPr lang="en-US" sz="1300" dirty="0"/>
          </a:p>
        </p:txBody>
      </p:sp>
      <p:sp>
        <p:nvSpPr>
          <p:cNvPr id="75" name="Text 53"/>
          <p:cNvSpPr txBox="1"/>
          <p:nvPr/>
        </p:nvSpPr>
        <p:spPr>
          <a:xfrm>
            <a:off x="9363456" y="5648249"/>
            <a:ext cx="2220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Рассмотрение и решение инцидентов по регуляторной отчетности.</a:t>
            </a:r>
            <a:endParaRPr lang="en-US" sz="1000" dirty="0"/>
          </a:p>
        </p:txBody>
      </p:sp>
      <p:sp>
        <p:nvSpPr>
          <p:cNvPr id="77" name="Shape 54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8" name="Shape 55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15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1028700" y="304495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1000" dirty="0"/>
          </a:p>
        </p:txBody>
      </p:sp>
      <p:sp>
        <p:nvSpPr>
          <p:cNvPr id="81" name="Text 57"/>
          <p:cNvSpPr txBox="1"/>
          <p:nvPr/>
        </p:nvSpPr>
        <p:spPr>
          <a:xfrm>
            <a:off x="457200" y="571500"/>
            <a:ext cx="72009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регуляторной отчетности</a:t>
            </a:r>
            <a:endParaRPr lang="en-US" sz="2200" dirty="0"/>
          </a:p>
        </p:txBody>
      </p:sp>
      <p:sp>
        <p:nvSpPr>
          <p:cNvPr id="82" name="Shape 58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3" name="Text 59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84" name="Text 60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85" name="Image 5" descr="preencoded.png">
            <a:extLst>
              <a:ext uri="{FF2B5EF4-FFF2-40B4-BE49-F238E27FC236}">
                <a16:creationId xmlns:a16="http://schemas.microsoft.com/office/drawing/2014/main" id="{D0E1BD0A-9DA6-B0DD-BBFE-9AB3DE43989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457200" y="1319479"/>
            <a:ext cx="11277295" cy="819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28954" y="1481328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228954" y="1671523"/>
            <a:ext cx="1552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человек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31619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285439" y="1652321"/>
            <a:ext cx="133502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664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590849" y="1652321"/>
            <a:ext cx="133502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77190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895344" y="1652321"/>
            <a:ext cx="133502" cy="1527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0763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199839" y="1652321"/>
            <a:ext cx="133502" cy="15270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3808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505249" y="1652321"/>
            <a:ext cx="133502" cy="1527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927287" y="1633118"/>
            <a:ext cx="31519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Qlik Sense • Qlik Nprinting • Отчетность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457200" y="2367382"/>
            <a:ext cx="5486400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1"/>
          <p:cNvSpPr/>
          <p:nvPr/>
        </p:nvSpPr>
        <p:spPr>
          <a:xfrm>
            <a:off x="457200" y="2367382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2"/>
          <p:cNvSpPr/>
          <p:nvPr/>
        </p:nvSpPr>
        <p:spPr>
          <a:xfrm>
            <a:off x="647395" y="25191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2652674"/>
            <a:ext cx="190195" cy="19019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257300" y="251917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Qlik Sense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1257300" y="2824582"/>
            <a:ext cx="4610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пользователей, предоставление доступов, рассмотрение инцидентов, подготовка материалов на закуп лицензии.</a:t>
            </a:r>
            <a:endParaRPr lang="en-US" sz="1000" dirty="0"/>
          </a:p>
        </p:txBody>
      </p:sp>
      <p:sp>
        <p:nvSpPr>
          <p:cNvPr id="26" name="Shape 15"/>
          <p:cNvSpPr/>
          <p:nvPr/>
        </p:nvSpPr>
        <p:spPr>
          <a:xfrm>
            <a:off x="6248095" y="2367382"/>
            <a:ext cx="5486400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16"/>
          <p:cNvSpPr/>
          <p:nvPr/>
        </p:nvSpPr>
        <p:spPr>
          <a:xfrm>
            <a:off x="6248095" y="2367382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17"/>
          <p:cNvSpPr/>
          <p:nvPr/>
        </p:nvSpPr>
        <p:spPr>
          <a:xfrm>
            <a:off x="6439205" y="25191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2652674"/>
            <a:ext cx="190195" cy="19019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048195" y="251917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Nprinting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7048195" y="2824582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рассылок отчетов из Qlik Sense по маршруту заказчика (почта или сетевая папка), поддержка и доступы.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457200" y="4034333"/>
            <a:ext cx="5486400" cy="1295705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21"/>
          <p:cNvSpPr/>
          <p:nvPr/>
        </p:nvSpPr>
        <p:spPr>
          <a:xfrm>
            <a:off x="457200" y="4034333"/>
            <a:ext cx="38405" cy="1295705"/>
          </a:xfrm>
          <a:prstGeom prst="roundRect">
            <a:avLst>
              <a:gd name="adj" fmla="val 1400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Shape 22"/>
          <p:cNvSpPr/>
          <p:nvPr/>
        </p:nvSpPr>
        <p:spPr>
          <a:xfrm>
            <a:off x="647395" y="4187038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767182" y="4320540"/>
            <a:ext cx="219456" cy="1901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257300" y="418703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SSBI платформы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1257300" y="449153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модели данных в разрезе продуктов (на QVD файлах) и построение конструктора отчетов (визуализация).</a:t>
            </a:r>
            <a:endParaRPr lang="en-US" sz="1000" dirty="0"/>
          </a:p>
        </p:txBody>
      </p:sp>
      <p:sp>
        <p:nvSpPr>
          <p:cNvPr id="38" name="Shape 25"/>
          <p:cNvSpPr/>
          <p:nvPr/>
        </p:nvSpPr>
        <p:spPr>
          <a:xfrm>
            <a:off x="6248095" y="4034333"/>
            <a:ext cx="5486400" cy="1295705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9" name="Shape 26"/>
          <p:cNvSpPr/>
          <p:nvPr/>
        </p:nvSpPr>
        <p:spPr>
          <a:xfrm>
            <a:off x="6248095" y="4034333"/>
            <a:ext cx="38405" cy="1295705"/>
          </a:xfrm>
          <a:prstGeom prst="roundRect">
            <a:avLst>
              <a:gd name="adj" fmla="val 1400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Shape 27"/>
          <p:cNvSpPr/>
          <p:nvPr/>
        </p:nvSpPr>
        <p:spPr>
          <a:xfrm>
            <a:off x="6439205" y="4187038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48018" y="4320540"/>
            <a:ext cx="237744" cy="19019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048195" y="418703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Внутреннее обучение</a:t>
            </a:r>
            <a:endParaRPr lang="en-US" sz="1300" dirty="0"/>
          </a:p>
        </p:txBody>
      </p:sp>
      <p:sp>
        <p:nvSpPr>
          <p:cNvPr id="43" name="Text 29"/>
          <p:cNvSpPr txBox="1"/>
          <p:nvPr/>
        </p:nvSpPr>
        <p:spPr>
          <a:xfrm>
            <a:off x="7048195" y="449153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культуры SSBI: проведение внутреннего обучения работников Банка инструментам Qlik Sense.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457200" y="5518404"/>
            <a:ext cx="11277295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5" name="Shape 31"/>
          <p:cNvSpPr/>
          <p:nvPr/>
        </p:nvSpPr>
        <p:spPr>
          <a:xfrm>
            <a:off x="457200" y="5518404"/>
            <a:ext cx="38405" cy="1114654"/>
          </a:xfrm>
          <a:prstGeom prst="roundRect">
            <a:avLst>
              <a:gd name="adj" fmla="val 1627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32"/>
          <p:cNvSpPr/>
          <p:nvPr/>
        </p:nvSpPr>
        <p:spPr>
          <a:xfrm>
            <a:off x="647395" y="5671109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767182" y="5804611"/>
            <a:ext cx="219456" cy="19019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257300" y="5671109"/>
            <a:ext cx="7372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отчетность</a:t>
            </a:r>
            <a:endParaRPr lang="en-US" sz="1300" dirty="0"/>
          </a:p>
        </p:txBody>
      </p:sp>
      <p:sp>
        <p:nvSpPr>
          <p:cNvPr id="49" name="Text 34"/>
          <p:cNvSpPr txBox="1"/>
          <p:nvPr/>
        </p:nvSpPr>
        <p:spPr>
          <a:xfrm>
            <a:off x="1257300" y="5975604"/>
            <a:ext cx="7555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новых и доработка существующих управленческих отчетов для принятия бизнес-решений.</a:t>
            </a:r>
            <a:endParaRPr lang="en-US" sz="1000" dirty="0"/>
          </a:p>
        </p:txBody>
      </p:sp>
      <p:sp>
        <p:nvSpPr>
          <p:cNvPr id="51" name="Shape 35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2" name="Shape 36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1028700" y="304495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457200" y="571500"/>
            <a:ext cx="596097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SSBI</a:t>
            </a:r>
            <a:endParaRPr lang="en-US" sz="2200" dirty="0"/>
          </a:p>
        </p:txBody>
      </p:sp>
      <p:sp>
        <p:nvSpPr>
          <p:cNvPr id="56" name="Shape 39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40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8" name="Text 41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59" name="Image 5" descr="preencoded.png">
            <a:extLst>
              <a:ext uri="{FF2B5EF4-FFF2-40B4-BE49-F238E27FC236}">
                <a16:creationId xmlns:a16="http://schemas.microsoft.com/office/drawing/2014/main" id="{687E97A0-A12B-1C9C-29CD-499F3DB299A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090879"/>
            <a:ext cx="12191695" cy="57726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09905" y="1852574"/>
            <a:ext cx="3403397" cy="4624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5139" y="2414930"/>
            <a:ext cx="28529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Внутренние курсы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781099" y="3085427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1327251" y="4226357"/>
            <a:ext cx="1841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</a:t>
            </a:r>
            <a:endParaRPr lang="en-US" sz="5400" dirty="0"/>
          </a:p>
        </p:txBody>
      </p:sp>
      <p:sp>
        <p:nvSpPr>
          <p:cNvPr id="13" name="Text 7"/>
          <p:cNvSpPr txBox="1"/>
          <p:nvPr/>
        </p:nvSpPr>
        <p:spPr>
          <a:xfrm>
            <a:off x="1628546" y="4985208"/>
            <a:ext cx="1239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сотрудников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394606" y="1852574"/>
            <a:ext cx="3403397" cy="4624121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887468" y="2414930"/>
            <a:ext cx="24176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курсы</a:t>
            </a:r>
            <a:endParaRPr lang="en-US" sz="18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rcRect l="-18" r="-18"/>
          <a:stretch/>
        </p:blipFill>
        <p:spPr>
          <a:xfrm>
            <a:off x="4698797" y="3429000"/>
            <a:ext cx="2794406" cy="78089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822241" y="3610051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Level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4822241" y="3762756"/>
            <a:ext cx="16294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Профессионалы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6426098" y="3590849"/>
            <a:ext cx="952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</a:t>
            </a:r>
            <a:endParaRPr lang="en-US" sz="36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rcRect l="-18" r="-18"/>
          <a:stretch/>
        </p:blipFill>
        <p:spPr>
          <a:xfrm>
            <a:off x="4698797" y="4438498"/>
            <a:ext cx="2794406" cy="78089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822241" y="4619549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4822241" y="4772254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DataCamp</a:t>
            </a:r>
            <a:endParaRPr lang="en-US" sz="1300" dirty="0"/>
          </a:p>
        </p:txBody>
      </p:sp>
      <p:sp>
        <p:nvSpPr>
          <p:cNvPr id="24" name="Text 14"/>
          <p:cNvSpPr txBox="1"/>
          <p:nvPr/>
        </p:nvSpPr>
        <p:spPr>
          <a:xfrm>
            <a:off x="6100572" y="4601261"/>
            <a:ext cx="1286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</a:t>
            </a:r>
            <a:endParaRPr lang="en-US" sz="36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Shape 25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1028700" y="304495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SSBI</a:t>
            </a:r>
            <a:endParaRPr lang="en-US" sz="1000" dirty="0"/>
          </a:p>
        </p:txBody>
      </p:sp>
      <p:sp>
        <p:nvSpPr>
          <p:cNvPr id="44" name="Text 27"/>
          <p:cNvSpPr txBox="1"/>
          <p:nvPr/>
        </p:nvSpPr>
        <p:spPr>
          <a:xfrm>
            <a:off x="457200" y="571500"/>
            <a:ext cx="5143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сотрудников</a:t>
            </a:r>
            <a:endParaRPr lang="en-US" sz="2200" dirty="0"/>
          </a:p>
        </p:txBody>
      </p:sp>
      <p:sp>
        <p:nvSpPr>
          <p:cNvPr id="45" name="Shape 28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29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7" name="Text 30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977847" y="1548079"/>
            <a:ext cx="666598" cy="666598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44268" y="1747418"/>
            <a:ext cx="333756" cy="267005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62549" y="1548079"/>
            <a:ext cx="666598" cy="666598"/>
          </a:xfrm>
          <a:prstGeom prst="rect">
            <a:avLst/>
          </a:prstGeom>
        </p:spPr>
      </p:pic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2BEDC6D7-4785-1067-2304-20526014C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78850" y="1847545"/>
            <a:ext cx="3403397" cy="4624121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62802" y="1747418"/>
            <a:ext cx="267005" cy="267005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47250" y="1548079"/>
            <a:ext cx="666598" cy="666598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13671" y="1747418"/>
            <a:ext cx="333756" cy="26700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560613" y="2414930"/>
            <a:ext cx="264535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Сетевые Ресурсы</a:t>
            </a:r>
            <a:endParaRPr lang="en-US" sz="1800" dirty="0"/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D2DD5858-3A52-DDB7-6749-470C9FDDCFDC}"/>
              </a:ext>
            </a:extLst>
          </p:cNvPr>
          <p:cNvGrpSpPr/>
          <p:nvPr/>
        </p:nvGrpSpPr>
        <p:grpSpPr>
          <a:xfrm>
            <a:off x="8649310" y="3577423"/>
            <a:ext cx="2574950" cy="648309"/>
            <a:chOff x="8635594" y="3290926"/>
            <a:chExt cx="2574950" cy="648309"/>
          </a:xfrm>
        </p:grpSpPr>
        <p:sp>
          <p:nvSpPr>
            <p:cNvPr id="28" name="Shape 16"/>
            <p:cNvSpPr/>
            <p:nvPr/>
          </p:nvSpPr>
          <p:spPr>
            <a:xfrm>
              <a:off x="8635594" y="3290926"/>
              <a:ext cx="381305" cy="381305"/>
            </a:xfrm>
            <a:prstGeom prst="ellipse">
              <a:avLst/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29" name="Image 10" descr="preencoded.png"/>
            <p:cNvPicPr>
              <a:picLocks noChangeAspect="1"/>
            </p:cNvPicPr>
            <p:nvPr/>
          </p:nvPicPr>
          <p:blipFill>
            <a:blip r:embed="rId11"/>
            <a:srcRect l="-33" r="-33"/>
            <a:stretch/>
          </p:blipFill>
          <p:spPr>
            <a:xfrm>
              <a:off x="8740750" y="3405226"/>
              <a:ext cx="171907" cy="152705"/>
            </a:xfrm>
            <a:prstGeom prst="rect">
              <a:avLst/>
            </a:prstGeom>
          </p:spPr>
        </p:pic>
        <p:sp>
          <p:nvSpPr>
            <p:cNvPr id="30" name="Text 17"/>
            <p:cNvSpPr txBox="1"/>
            <p:nvPr/>
          </p:nvSpPr>
          <p:spPr>
            <a:xfrm>
              <a:off x="9169603" y="3290926"/>
              <a:ext cx="204094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Ролики</a:t>
              </a:r>
              <a:endParaRPr lang="en-US" sz="1300" dirty="0"/>
            </a:p>
          </p:txBody>
        </p:sp>
        <p:sp>
          <p:nvSpPr>
            <p:cNvPr id="31" name="Text 18"/>
            <p:cNvSpPr txBox="1"/>
            <p:nvPr/>
          </p:nvSpPr>
          <p:spPr>
            <a:xfrm>
              <a:off x="9169603" y="3557930"/>
              <a:ext cx="203911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Обучающие видеоматериалы</a:t>
              </a:r>
              <a:endParaRPr lang="en-US" sz="1000" dirty="0"/>
            </a:p>
          </p:txBody>
        </p: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5699600E-C4DF-EB77-F078-3643323F9211}"/>
              </a:ext>
            </a:extLst>
          </p:cNvPr>
          <p:cNvGrpSpPr/>
          <p:nvPr/>
        </p:nvGrpSpPr>
        <p:grpSpPr>
          <a:xfrm>
            <a:off x="8649310" y="4415927"/>
            <a:ext cx="2574950" cy="647396"/>
            <a:chOff x="8635594" y="4129430"/>
            <a:chExt cx="2574950" cy="647396"/>
          </a:xfrm>
        </p:grpSpPr>
        <p:sp>
          <p:nvSpPr>
            <p:cNvPr id="32" name="Shape 19"/>
            <p:cNvSpPr/>
            <p:nvPr/>
          </p:nvSpPr>
          <p:spPr>
            <a:xfrm>
              <a:off x="8635594" y="4129430"/>
              <a:ext cx="381305" cy="381305"/>
            </a:xfrm>
            <a:prstGeom prst="ellipse">
              <a:avLst/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33" name="Image 11" descr="preencoded.png"/>
            <p:cNvPicPr>
              <a:picLocks noChangeAspect="1"/>
            </p:cNvPicPr>
            <p:nvPr/>
          </p:nvPicPr>
          <p:blipFill>
            <a:blip r:embed="rId12"/>
            <a:srcRect l="-33" r="-33"/>
            <a:stretch/>
          </p:blipFill>
          <p:spPr>
            <a:xfrm>
              <a:off x="8740750" y="4243730"/>
              <a:ext cx="171907" cy="152705"/>
            </a:xfrm>
            <a:prstGeom prst="rect">
              <a:avLst/>
            </a:prstGeom>
          </p:spPr>
        </p:pic>
        <p:sp>
          <p:nvSpPr>
            <p:cNvPr id="34" name="Text 20"/>
            <p:cNvSpPr txBox="1"/>
            <p:nvPr/>
          </p:nvSpPr>
          <p:spPr>
            <a:xfrm>
              <a:off x="9169603" y="4129430"/>
              <a:ext cx="204094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Записи веб-сессий</a:t>
              </a:r>
              <a:endParaRPr lang="en-US" sz="1300" dirty="0"/>
            </a:p>
          </p:txBody>
        </p:sp>
        <p:sp>
          <p:nvSpPr>
            <p:cNvPr id="35" name="Text 21"/>
            <p:cNvSpPr txBox="1"/>
            <p:nvPr/>
          </p:nvSpPr>
          <p:spPr>
            <a:xfrm>
              <a:off x="9169603" y="4395521"/>
              <a:ext cx="203911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Архив проведенных вебинаров</a:t>
              </a:r>
              <a:endParaRPr lang="en-US" sz="1000" dirty="0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FC98AF71-4DAA-C2C4-1273-79B0C83BF5D3}"/>
              </a:ext>
            </a:extLst>
          </p:cNvPr>
          <p:cNvGrpSpPr/>
          <p:nvPr/>
        </p:nvGrpSpPr>
        <p:grpSpPr>
          <a:xfrm>
            <a:off x="8649310" y="5435026"/>
            <a:ext cx="2495398" cy="476402"/>
            <a:chOff x="8635594" y="5695798"/>
            <a:chExt cx="2495398" cy="476402"/>
          </a:xfrm>
        </p:grpSpPr>
        <p:sp>
          <p:nvSpPr>
            <p:cNvPr id="36" name="Shape 22"/>
            <p:cNvSpPr/>
            <p:nvPr/>
          </p:nvSpPr>
          <p:spPr>
            <a:xfrm>
              <a:off x="8635594" y="5695798"/>
              <a:ext cx="2495398" cy="476402"/>
            </a:xfrm>
            <a:prstGeom prst="roundRect">
              <a:avLst>
                <a:gd name="adj" fmla="val 30710"/>
              </a:avLst>
            </a:prstGeom>
            <a:solidFill>
              <a:srgbClr val="ECFDF5"/>
            </a:solidFill>
            <a:ln w="12700">
              <a:solidFill>
                <a:srgbClr val="D1FAE5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7" name="Text 23"/>
            <p:cNvSpPr txBox="1"/>
            <p:nvPr/>
          </p:nvSpPr>
          <p:spPr>
            <a:xfrm>
              <a:off x="9108339" y="5815417"/>
              <a:ext cx="17730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Доступны для всех </a:t>
              </a:r>
              <a:endParaRPr lang="en-US" sz="1200" dirty="0"/>
            </a:p>
          </p:txBody>
        </p:sp>
        <p:pic>
          <p:nvPicPr>
            <p:cNvPr id="38" name="Image 12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945850" y="5852907"/>
              <a:ext cx="191110" cy="191110"/>
            </a:xfrm>
            <a:prstGeom prst="rect">
              <a:avLst/>
            </a:prstGeom>
          </p:spPr>
        </p:pic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D32AD085-DC42-601B-4B8C-E66C11DE36AD}"/>
              </a:ext>
            </a:extLst>
          </p:cNvPr>
          <p:cNvGrpSpPr/>
          <p:nvPr/>
        </p:nvGrpSpPr>
        <p:grpSpPr>
          <a:xfrm>
            <a:off x="1063447" y="3472891"/>
            <a:ext cx="2495398" cy="476402"/>
            <a:chOff x="1063447" y="3472891"/>
            <a:chExt cx="2495398" cy="476402"/>
          </a:xfrm>
        </p:grpSpPr>
        <p:sp>
          <p:nvSpPr>
            <p:cNvPr id="56" name="Shape 22">
              <a:extLst>
                <a:ext uri="{FF2B5EF4-FFF2-40B4-BE49-F238E27FC236}">
                  <a16:creationId xmlns:a16="http://schemas.microsoft.com/office/drawing/2014/main" id="{D072CF04-5DCA-93D4-7EA6-1DDE3229A728}"/>
                </a:ext>
              </a:extLst>
            </p:cNvPr>
            <p:cNvSpPr/>
            <p:nvPr/>
          </p:nvSpPr>
          <p:spPr>
            <a:xfrm>
              <a:off x="1063447" y="3472891"/>
              <a:ext cx="2495398" cy="476402"/>
            </a:xfrm>
            <a:prstGeom prst="roundRect">
              <a:avLst>
                <a:gd name="adj" fmla="val 30710"/>
              </a:avLst>
            </a:prstGeom>
            <a:solidFill>
              <a:srgbClr val="ECFDF5"/>
            </a:solidFill>
            <a:ln w="12700">
              <a:solidFill>
                <a:srgbClr val="D1FAE5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14"/>
            <a:srcRect t="-43" b="-43"/>
            <a:stretch/>
          </p:blipFill>
          <p:spPr>
            <a:xfrm>
              <a:off x="1676652" y="3623134"/>
              <a:ext cx="198036" cy="175580"/>
            </a:xfrm>
            <a:prstGeom prst="rect">
              <a:avLst/>
            </a:prstGeom>
          </p:spPr>
        </p:pic>
        <p:sp>
          <p:nvSpPr>
            <p:cNvPr id="11" name="Text 5"/>
            <p:cNvSpPr txBox="1"/>
            <p:nvPr/>
          </p:nvSpPr>
          <p:spPr>
            <a:xfrm>
              <a:off x="1837392" y="3520272"/>
              <a:ext cx="100864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Обучено</a:t>
              </a:r>
              <a:endParaRPr lang="en-US" sz="1600" dirty="0"/>
            </a:p>
          </p:txBody>
        </p:sp>
      </p:grpSp>
      <p:sp>
        <p:nvSpPr>
          <p:cNvPr id="58" name="Text 4">
            <a:extLst>
              <a:ext uri="{FF2B5EF4-FFF2-40B4-BE49-F238E27FC236}">
                <a16:creationId xmlns:a16="http://schemas.microsoft.com/office/drawing/2014/main" id="{288606BA-3B48-CF04-35FC-27F8AAACF17D}"/>
              </a:ext>
            </a:extLst>
          </p:cNvPr>
          <p:cNvSpPr txBox="1"/>
          <p:nvPr/>
        </p:nvSpPr>
        <p:spPr>
          <a:xfrm>
            <a:off x="5652262" y="3085427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305" y="1095451"/>
            <a:ext cx="12191695" cy="57726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09905" y="1395374"/>
            <a:ext cx="3562502" cy="4076395"/>
          </a:xfrm>
          <a:custGeom>
            <a:avLst/>
            <a:gdLst/>
            <a:ahLst/>
            <a:cxnLst/>
            <a:rect l="l" t="t" r="r" b="b"/>
            <a:pathLst>
              <a:path w="3562502" h="4076395">
                <a:moveTo>
                  <a:pt x="0" y="0"/>
                </a:moveTo>
                <a:lnTo>
                  <a:pt x="3206252" y="0"/>
                </a:lnTo>
                <a:lnTo>
                  <a:pt x="3562502" y="2038198"/>
                </a:lnTo>
                <a:lnTo>
                  <a:pt x="3206252" y="4076395"/>
                </a:lnTo>
                <a:lnTo>
                  <a:pt x="0" y="407639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 txBox="1"/>
          <p:nvPr/>
        </p:nvSpPr>
        <p:spPr>
          <a:xfrm>
            <a:off x="990295" y="1623974"/>
            <a:ext cx="8101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90295" y="2345436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1175918" y="2517343"/>
            <a:ext cx="237744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295" y="3183941"/>
            <a:ext cx="3029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Корпоративные данные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90295" y="3526841"/>
            <a:ext cx="3029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Входные данные</a:t>
            </a:r>
            <a:endParaRPr lang="en-US" sz="1000" b="1" dirty="0"/>
          </a:p>
        </p:txBody>
      </p:sp>
      <p:sp>
        <p:nvSpPr>
          <p:cNvPr id="11" name="Text 8"/>
          <p:cNvSpPr txBox="1"/>
          <p:nvPr/>
        </p:nvSpPr>
        <p:spPr>
          <a:xfrm>
            <a:off x="1171346" y="3792931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QVD файлов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0295" y="3831336"/>
            <a:ext cx="105156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71346" y="4059936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ODS слой хранилища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0295" y="4098341"/>
            <a:ext cx="105156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1346" y="4326941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DDS витрины данных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0295" y="4364431"/>
            <a:ext cx="105156" cy="1143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261104" y="1395374"/>
            <a:ext cx="3638398" cy="4076395"/>
          </a:xfrm>
          <a:custGeom>
            <a:avLst/>
            <a:gdLst/>
            <a:ahLst/>
            <a:cxnLst/>
            <a:rect l="l" t="t" r="r" b="b"/>
            <a:pathLst>
              <a:path w="3638398" h="4076395">
                <a:moveTo>
                  <a:pt x="0" y="0"/>
                </a:moveTo>
                <a:lnTo>
                  <a:pt x="3274558" y="0"/>
                </a:lnTo>
                <a:lnTo>
                  <a:pt x="3638398" y="2038198"/>
                </a:lnTo>
                <a:lnTo>
                  <a:pt x="3274558" y="4076395"/>
                </a:lnTo>
                <a:lnTo>
                  <a:pt x="0" y="4076395"/>
                </a:lnTo>
                <a:lnTo>
                  <a:pt x="363840" y="20381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2"/>
          <p:cNvSpPr txBox="1"/>
          <p:nvPr/>
        </p:nvSpPr>
        <p:spPr>
          <a:xfrm>
            <a:off x="4641494" y="1623974"/>
            <a:ext cx="857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4718304" y="3183941"/>
            <a:ext cx="3029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Конструктор Qlik Sense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4718304" y="3526841"/>
            <a:ext cx="3029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 сборки</a:t>
            </a:r>
            <a:endParaRPr lang="en-US" sz="1000" b="1" dirty="0"/>
          </a:p>
        </p:txBody>
      </p:sp>
      <p:sp>
        <p:nvSpPr>
          <p:cNvPr id="24" name="Text 15"/>
          <p:cNvSpPr txBox="1"/>
          <p:nvPr/>
        </p:nvSpPr>
        <p:spPr>
          <a:xfrm>
            <a:off x="4908499" y="3792931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Визуальная сборка витрин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4908499" y="4059936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фильтров и мер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18304" y="4098341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908499" y="4326941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KPI и дашбордов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18304" y="4364431"/>
            <a:ext cx="114300" cy="11430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10074" y="3823106"/>
            <a:ext cx="133502" cy="133502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7988198" y="1395374"/>
            <a:ext cx="3600907" cy="4076395"/>
          </a:xfrm>
          <a:custGeom>
            <a:avLst/>
            <a:gdLst/>
            <a:ahLst/>
            <a:cxnLst/>
            <a:rect l="l" t="t" r="r" b="b"/>
            <a:pathLst>
              <a:path w="3600907" h="4076395">
                <a:moveTo>
                  <a:pt x="0" y="0"/>
                </a:moveTo>
                <a:lnTo>
                  <a:pt x="3240816" y="0"/>
                </a:lnTo>
                <a:lnTo>
                  <a:pt x="3600907" y="2038198"/>
                </a:lnTo>
                <a:lnTo>
                  <a:pt x="3240816" y="4076395"/>
                </a:lnTo>
                <a:lnTo>
                  <a:pt x="0" y="4076395"/>
                </a:lnTo>
                <a:lnTo>
                  <a:pt x="360091" y="20381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19"/>
          <p:cNvSpPr txBox="1"/>
          <p:nvPr/>
        </p:nvSpPr>
        <p:spPr>
          <a:xfrm>
            <a:off x="8369503" y="1623974"/>
            <a:ext cx="857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Shape 20"/>
          <p:cNvSpPr/>
          <p:nvPr/>
        </p:nvSpPr>
        <p:spPr>
          <a:xfrm>
            <a:off x="8575243" y="2347637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80068" y="2498140"/>
            <a:ext cx="249631" cy="332841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545525" y="3165653"/>
            <a:ext cx="287304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Ad-hoc отчеты</a:t>
            </a:r>
            <a:endParaRPr lang="en-US" sz="1500" dirty="0"/>
          </a:p>
        </p:txBody>
      </p:sp>
      <p:sp>
        <p:nvSpPr>
          <p:cNvPr id="35" name="Text 22"/>
          <p:cNvSpPr txBox="1"/>
          <p:nvPr/>
        </p:nvSpPr>
        <p:spPr>
          <a:xfrm>
            <a:off x="8545525" y="3526841"/>
            <a:ext cx="28730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00" b="1" dirty="0"/>
          </a:p>
        </p:txBody>
      </p:sp>
      <p:sp>
        <p:nvSpPr>
          <p:cNvPr id="36" name="Text 23"/>
          <p:cNvSpPr txBox="1"/>
          <p:nvPr/>
        </p:nvSpPr>
        <p:spPr>
          <a:xfrm>
            <a:off x="8545525" y="3743221"/>
            <a:ext cx="283921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Отчеты, которые можно быстро создать для решения текущей задачи анализа без привлечения разработчиков.</a:t>
            </a:r>
            <a:endParaRPr lang="en-US" sz="1000" dirty="0"/>
          </a:p>
        </p:txBody>
      </p:sp>
      <p:sp>
        <p:nvSpPr>
          <p:cNvPr id="38" name="Shape 24"/>
          <p:cNvSpPr/>
          <p:nvPr/>
        </p:nvSpPr>
        <p:spPr>
          <a:xfrm>
            <a:off x="9665597" y="4338871"/>
            <a:ext cx="1591056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25"/>
          <p:cNvSpPr txBox="1"/>
          <p:nvPr/>
        </p:nvSpPr>
        <p:spPr>
          <a:xfrm>
            <a:off x="9903357" y="4338871"/>
            <a:ext cx="139811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Быстрый результат </a:t>
            </a:r>
            <a:endParaRPr lang="en-US" sz="900" dirty="0"/>
          </a:p>
        </p:txBody>
      </p:sp>
      <p:sp>
        <p:nvSpPr>
          <p:cNvPr id="40" name="Shape 26"/>
          <p:cNvSpPr/>
          <p:nvPr/>
        </p:nvSpPr>
        <p:spPr>
          <a:xfrm>
            <a:off x="609905" y="5772607"/>
            <a:ext cx="3409797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Shape 27"/>
          <p:cNvSpPr/>
          <p:nvPr/>
        </p:nvSpPr>
        <p:spPr>
          <a:xfrm>
            <a:off x="809244" y="5971946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23544" y="6086246"/>
            <a:ext cx="152705" cy="15270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1343254" y="5971946"/>
            <a:ext cx="2071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скорость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1343254" y="6200546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Мгновенное построение отчетов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4261104" y="5772150"/>
            <a:ext cx="3486607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31"/>
          <p:cNvSpPr/>
          <p:nvPr/>
        </p:nvSpPr>
        <p:spPr>
          <a:xfrm>
            <a:off x="4543654" y="5971946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4638751" y="6086246"/>
            <a:ext cx="190195" cy="152705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5076749" y="5971946"/>
            <a:ext cx="24871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Самообслуживание</a:t>
            </a:r>
            <a:endParaRPr lang="en-US" sz="1000" dirty="0"/>
          </a:p>
        </p:txBody>
      </p:sp>
      <p:sp>
        <p:nvSpPr>
          <p:cNvPr id="49" name="Text 33"/>
          <p:cNvSpPr txBox="1"/>
          <p:nvPr/>
        </p:nvSpPr>
        <p:spPr>
          <a:xfrm>
            <a:off x="5076749" y="6200546"/>
            <a:ext cx="2839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 сам строить отчеты (Self-Service)</a:t>
            </a:r>
            <a:endParaRPr lang="en-US" sz="900" dirty="0"/>
          </a:p>
        </p:txBody>
      </p:sp>
      <p:sp>
        <p:nvSpPr>
          <p:cNvPr id="50" name="Shape 34"/>
          <p:cNvSpPr/>
          <p:nvPr/>
        </p:nvSpPr>
        <p:spPr>
          <a:xfrm>
            <a:off x="7987305" y="5762549"/>
            <a:ext cx="343126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Shape 35"/>
          <p:cNvSpPr/>
          <p:nvPr/>
        </p:nvSpPr>
        <p:spPr>
          <a:xfrm>
            <a:off x="8277149" y="5971946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8401507" y="6086246"/>
            <a:ext cx="133502" cy="152705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8810244" y="5971946"/>
            <a:ext cx="2268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источник</a:t>
            </a:r>
            <a:endParaRPr lang="en-US" sz="1000" dirty="0"/>
          </a:p>
        </p:txBody>
      </p:sp>
      <p:sp>
        <p:nvSpPr>
          <p:cNvPr id="54" name="Text 37"/>
          <p:cNvSpPr txBox="1"/>
          <p:nvPr/>
        </p:nvSpPr>
        <p:spPr>
          <a:xfrm>
            <a:off x="8810244" y="6200546"/>
            <a:ext cx="2268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Достоверные данные из хранилища</a:t>
            </a:r>
            <a:endParaRPr lang="en-US" sz="90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2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6" name="Shape 38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7" name="Shape 39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3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1028700" y="304495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SSBI</a:t>
            </a:r>
            <a:endParaRPr lang="en-US" sz="1000" dirty="0"/>
          </a:p>
        </p:txBody>
      </p:sp>
      <p:sp>
        <p:nvSpPr>
          <p:cNvPr id="60" name="Text 41"/>
          <p:cNvSpPr txBox="1"/>
          <p:nvPr/>
        </p:nvSpPr>
        <p:spPr>
          <a:xfrm>
            <a:off x="457200" y="571500"/>
            <a:ext cx="826434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SSBI решение: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Конструктор витрин на Qlik Sense</a:t>
            </a:r>
            <a:endParaRPr lang="en-US" sz="2200" dirty="0"/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F6EB2D66-DD82-8BC8-2CE9-661FF2C5E651}"/>
              </a:ext>
            </a:extLst>
          </p:cNvPr>
          <p:cNvSpPr/>
          <p:nvPr/>
        </p:nvSpPr>
        <p:spPr>
          <a:xfrm>
            <a:off x="4776825" y="2345436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Shape 42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43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3" name="Text 44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4"/>
          <a:srcRect l="-685" r="-685"/>
          <a:stretch/>
        </p:blipFill>
        <p:spPr>
          <a:xfrm>
            <a:off x="4934933" y="2517343"/>
            <a:ext cx="304495" cy="267005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9753853" y="4396021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305" y="1095451"/>
            <a:ext cx="12191695" cy="5772607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395374"/>
            <a:ext cx="7448702" cy="194310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657454" y="1986077"/>
            <a:ext cx="761695" cy="7616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7" r="-27"/>
          <a:stretch/>
        </p:blipFill>
        <p:spPr>
          <a:xfrm>
            <a:off x="823874" y="2195474"/>
            <a:ext cx="428854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7749" y="1758391"/>
            <a:ext cx="6172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это такое?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47749" y="2139696"/>
            <a:ext cx="61347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AI-ассистент, который понимает бизнес-вопросы и автоматически формирует корректные SQL-запросы по корпоративной базе данных.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28102" y="1395374"/>
            <a:ext cx="3610051" cy="194310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11001146" y="1557223"/>
            <a:ext cx="571500" cy="5715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0" y="1595628"/>
            <a:ext cx="3057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Текущий фокус 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73160" y="1649577"/>
            <a:ext cx="190196" cy="190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61197" y="1848496"/>
            <a:ext cx="29919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 и точность данных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333768" y="2260098"/>
            <a:ext cx="3209544" cy="819302"/>
          </a:xfrm>
          <a:prstGeom prst="roundRect">
            <a:avLst>
              <a:gd name="adj" fmla="val 10382"/>
            </a:avLst>
          </a:prstGeom>
          <a:solidFill>
            <a:srgbClr val="ECFEF6"/>
          </a:solidFill>
          <a:ln w="1270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1"/>
          <p:cNvSpPr txBox="1"/>
          <p:nvPr/>
        </p:nvSpPr>
        <p:spPr>
          <a:xfrm>
            <a:off x="8661197" y="2349041"/>
            <a:ext cx="28291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только с разрешёнными таблицами и полями, строго в рамках бизнес-логики. </a:t>
            </a:r>
            <a:endParaRPr lang="en-US" sz="1000" b="1" dirty="0">
              <a:solidFill>
                <a:srgbClr val="05A651"/>
              </a:solidFill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67125" y="2417165"/>
            <a:ext cx="133502" cy="1335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567074"/>
            <a:ext cx="5524805" cy="2991002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3"/>
          <p:cNvSpPr/>
          <p:nvPr/>
        </p:nvSpPr>
        <p:spPr>
          <a:xfrm>
            <a:off x="466344" y="3576218"/>
            <a:ext cx="5505602" cy="790956"/>
          </a:xfrm>
          <a:prstGeom prst="roundRect">
            <a:avLst>
              <a:gd name="adj" fmla="val 22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4"/>
          <p:cNvSpPr/>
          <p:nvPr/>
        </p:nvSpPr>
        <p:spPr>
          <a:xfrm>
            <a:off x="466344" y="4358030"/>
            <a:ext cx="5505602" cy="9144"/>
          </a:xfrm>
          <a:prstGeom prst="roundRect">
            <a:avLst>
              <a:gd name="adj" fmla="val 1927711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657454" y="3767328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7921" y="3871570"/>
            <a:ext cx="237744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09751" y="3834079"/>
            <a:ext cx="19604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это работает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424" r="-424"/>
          <a:stretch/>
        </p:blipFill>
        <p:spPr>
          <a:xfrm>
            <a:off x="800100" y="4922215"/>
            <a:ext cx="19202" cy="3236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14654" y="4674413"/>
            <a:ext cx="3248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 пользователя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1114654" y="4903013"/>
            <a:ext cx="33375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 задаёт вопрос обычным языком (NLP)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424" r="-424"/>
          <a:stretch/>
        </p:blipFill>
        <p:spPr>
          <a:xfrm>
            <a:off x="800100" y="5531206"/>
            <a:ext cx="19202" cy="32369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114654" y="5284318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структуры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114654" y="5512918"/>
            <a:ext cx="3474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анализирует структуру БД и связи таблиц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1114654" y="5893308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результата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114654" y="6121908"/>
            <a:ext cx="36804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Генерирует точный SQL и возвращает готовый результат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210605" y="3567074"/>
            <a:ext cx="5524805" cy="2991002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24"/>
          <p:cNvSpPr/>
          <p:nvPr/>
        </p:nvSpPr>
        <p:spPr>
          <a:xfrm>
            <a:off x="6219749" y="3576218"/>
            <a:ext cx="5505602" cy="790956"/>
          </a:xfrm>
          <a:prstGeom prst="roundRect">
            <a:avLst>
              <a:gd name="adj" fmla="val 22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Shape 25"/>
          <p:cNvSpPr/>
          <p:nvPr/>
        </p:nvSpPr>
        <p:spPr>
          <a:xfrm>
            <a:off x="6219749" y="4358030"/>
            <a:ext cx="5505602" cy="9144"/>
          </a:xfrm>
          <a:prstGeom prst="roundRect">
            <a:avLst>
              <a:gd name="adj" fmla="val 1927711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26"/>
          <p:cNvSpPr/>
          <p:nvPr/>
        </p:nvSpPr>
        <p:spPr>
          <a:xfrm>
            <a:off x="6409944" y="3767328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15100" y="3871570"/>
            <a:ext cx="19019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963156" y="3834079"/>
            <a:ext cx="24560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Ценность для бизнеса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6409944" y="4693615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24244" y="4883810"/>
            <a:ext cx="190195" cy="1901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829654" y="48079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6829654" y="4998110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аналитики и отчётов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9048902" y="4693615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63202" y="4883810"/>
            <a:ext cx="237744" cy="19019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515246" y="4807915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Разгрузка IT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9515246" y="499811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нагрузки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6409944" y="5531206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6524244" y="5722315"/>
            <a:ext cx="171907" cy="19019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810451" y="5645506"/>
            <a:ext cx="1696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</a:t>
            </a:r>
            <a:endParaRPr lang="en-US" sz="1000" dirty="0"/>
          </a:p>
        </p:txBody>
      </p:sp>
      <p:sp>
        <p:nvSpPr>
          <p:cNvPr id="49" name="Text 36"/>
          <p:cNvSpPr txBox="1"/>
          <p:nvPr/>
        </p:nvSpPr>
        <p:spPr>
          <a:xfrm>
            <a:off x="6810451" y="5836615"/>
            <a:ext cx="1696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 ошибок SQL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9048902" y="5531206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9163202" y="5722315"/>
            <a:ext cx="171907" cy="190195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448495" y="5645506"/>
            <a:ext cx="1648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Доступность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9448495" y="5836615"/>
            <a:ext cx="1648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быстрый доступ к данным</a:t>
            </a:r>
            <a:endParaRPr lang="en-US" sz="9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4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6" name="Shape 41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/>
          <a:srcRect t="-400" b="-400"/>
          <a:stretch/>
        </p:blipFill>
        <p:spPr>
          <a:xfrm>
            <a:off x="457200" y="381305"/>
            <a:ext cx="457200" cy="38405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1028700" y="304495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SSBI</a:t>
            </a:r>
            <a:endParaRPr lang="en-US" sz="1000" dirty="0"/>
          </a:p>
        </p:txBody>
      </p:sp>
      <p:sp>
        <p:nvSpPr>
          <p:cNvPr id="59" name="Text 43"/>
          <p:cNvSpPr txBox="1"/>
          <p:nvPr/>
        </p:nvSpPr>
        <p:spPr>
          <a:xfrm>
            <a:off x="457200" y="571500"/>
            <a:ext cx="383499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Assistant</a:t>
            </a:r>
            <a:endParaRPr lang="en-US" sz="2200" dirty="0"/>
          </a:p>
        </p:txBody>
      </p:sp>
      <p:sp>
        <p:nvSpPr>
          <p:cNvPr id="60" name="Shape 44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45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2" name="Text 46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63" name="Shape 47"/>
          <p:cNvSpPr/>
          <p:nvPr/>
        </p:nvSpPr>
        <p:spPr>
          <a:xfrm>
            <a:off x="657454" y="4636008"/>
            <a:ext cx="304495" cy="304495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4" name="Text 48"/>
          <p:cNvSpPr txBox="1"/>
          <p:nvPr/>
        </p:nvSpPr>
        <p:spPr>
          <a:xfrm>
            <a:off x="629107" y="4636008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Shape 49"/>
          <p:cNvSpPr/>
          <p:nvPr/>
        </p:nvSpPr>
        <p:spPr>
          <a:xfrm>
            <a:off x="657454" y="5245913"/>
            <a:ext cx="304495" cy="304495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6" name="Text 50"/>
          <p:cNvSpPr txBox="1"/>
          <p:nvPr/>
        </p:nvSpPr>
        <p:spPr>
          <a:xfrm>
            <a:off x="629107" y="5245913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57454" y="5855818"/>
            <a:ext cx="304495" cy="304495"/>
          </a:xfrm>
          <a:prstGeom prst="rect">
            <a:avLst/>
          </a:prstGeom>
        </p:spPr>
      </p:pic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7"/>
          <a:srcRect t="-80" b="-80"/>
          <a:stretch/>
        </p:blipFill>
        <p:spPr>
          <a:xfrm>
            <a:off x="737921" y="5950915"/>
            <a:ext cx="142646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641</Words>
  <Application>Microsoft Macintosh PowerPoint</Application>
  <PresentationFormat>Широкоэкранный</PresentationFormat>
  <Paragraphs>167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10</cp:revision>
  <dcterms:created xsi:type="dcterms:W3CDTF">2026-01-29T15:29:14Z</dcterms:created>
  <dcterms:modified xsi:type="dcterms:W3CDTF">2026-01-30T10:15:21Z</dcterms:modified>
</cp:coreProperties>
</file>