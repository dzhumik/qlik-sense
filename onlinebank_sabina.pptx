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B3B"/>
    <a:srgbClr val="94DE17"/>
    <a:srgbClr val="63DE18"/>
    <a:srgbClr val="58DA47"/>
    <a:srgbClr val="3CD358"/>
    <a:srgbClr val="3ACE65"/>
    <a:srgbClr val="31C853"/>
    <a:srgbClr val="C01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47"/>
    <p:restoredTop sz="94610"/>
  </p:normalViewPr>
  <p:slideViewPr>
    <p:cSldViewPr snapToGrid="0" snapToObjects="1">
      <p:cViewPr>
        <p:scale>
          <a:sx n="87" d="100"/>
          <a:sy n="87" d="100"/>
        </p:scale>
        <p:origin x="4712" y="3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4483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3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11.png"/><Relationship Id="rId3" Type="http://schemas.openxmlformats.org/officeDocument/2006/relationships/image" Target="../media/image42.png"/><Relationship Id="rId7" Type="http://schemas.openxmlformats.org/officeDocument/2006/relationships/image" Target="../media/image19.png"/><Relationship Id="rId12" Type="http://schemas.openxmlformats.org/officeDocument/2006/relationships/image" Target="../media/image49.png"/><Relationship Id="rId1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9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8.png"/><Relationship Id="rId5" Type="http://schemas.openxmlformats.org/officeDocument/2006/relationships/image" Target="../media/image16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12.png"/><Relationship Id="rId4" Type="http://schemas.openxmlformats.org/officeDocument/2006/relationships/image" Target="../media/image43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>
          <a:gsLst>
            <a:gs pos="0">
              <a:srgbClr val="94DE17"/>
            </a:gs>
            <a:gs pos="32000">
              <a:srgbClr val="58DA47"/>
            </a:gs>
            <a:gs pos="83000">
              <a:srgbClr val="3CD358"/>
            </a:gs>
            <a:gs pos="100000">
              <a:srgbClr val="3ACE65"/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1333195" y="727862"/>
            <a:ext cx="9525305" cy="540319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2092874" y="1518170"/>
            <a:ext cx="8540713" cy="2019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kern="0" spc="-112" dirty="0" err="1">
                <a:solidFill>
                  <a:schemeClr val="bg1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Интеграция</a:t>
            </a:r>
            <a:r>
              <a:rPr lang="en-US" sz="4800" b="1" kern="0" spc="-112" dirty="0">
                <a:solidFill>
                  <a:schemeClr val="bg1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4800" b="1" kern="0" spc="-112" dirty="0" err="1">
                <a:solidFill>
                  <a:schemeClr val="bg1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из</a:t>
            </a:r>
            <a:r>
              <a:rPr lang="ru-RU" sz="4800" b="1" kern="0" spc="-112" dirty="0">
                <a:solidFill>
                  <a:schemeClr val="bg1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4800" b="1" kern="0" spc="-112" dirty="0" err="1">
                <a:solidFill>
                  <a:schemeClr val="bg1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источника</a:t>
            </a:r>
            <a:r>
              <a:rPr lang="en-US" sz="4800" b="1" kern="0" spc="-112" dirty="0">
                <a:solidFill>
                  <a:schemeClr val="bg1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4800" b="1" kern="0" spc="-112" dirty="0">
                <a:solidFill>
                  <a:srgbClr val="FDEB3B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Onlinebank</a:t>
            </a:r>
            <a:r>
              <a:rPr lang="en-US" sz="4800" b="1" kern="0" spc="-112" dirty="0">
                <a:solidFill>
                  <a:schemeClr val="bg1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 в Хранилище данных</a:t>
            </a:r>
            <a:endParaRPr lang="en-US" sz="480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8" name="Text 2"/>
          <p:cNvSpPr txBox="1"/>
          <p:nvPr/>
        </p:nvSpPr>
        <p:spPr>
          <a:xfrm>
            <a:off x="2104949" y="3901745"/>
            <a:ext cx="80970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kern="0" spc="38" dirty="0">
                <a:solidFill>
                  <a:schemeClr val="bg1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Департамент технологичных платформ данных</a:t>
            </a:r>
            <a:endParaRPr lang="en-US" sz="210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9" name="Shape 3"/>
          <p:cNvSpPr/>
          <p:nvPr/>
        </p:nvSpPr>
        <p:spPr>
          <a:xfrm>
            <a:off x="2104949" y="4872838"/>
            <a:ext cx="7981798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2104949" y="5168189"/>
            <a:ext cx="381305" cy="381305"/>
          </a:xfrm>
          <a:prstGeom prst="roundRect">
            <a:avLst>
              <a:gd name="adj" fmla="val 71942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884BC5D0-9B6D-A990-0ECB-8EEEEE1F3D4E}"/>
              </a:ext>
            </a:extLst>
          </p:cNvPr>
          <p:cNvGrpSpPr/>
          <p:nvPr/>
        </p:nvGrpSpPr>
        <p:grpSpPr>
          <a:xfrm>
            <a:off x="2219249" y="5230368"/>
            <a:ext cx="2230221" cy="257861"/>
            <a:chOff x="2219249" y="5230368"/>
            <a:chExt cx="2230221" cy="257861"/>
          </a:xfrm>
        </p:grpSpPr>
        <p:pic>
          <p:nvPicPr>
            <p:cNvPr id="11" name="Image 4" descr="preencoded.png"/>
            <p:cNvPicPr>
              <a:picLocks noChangeAspect="1"/>
            </p:cNvPicPr>
            <p:nvPr/>
          </p:nvPicPr>
          <p:blipFill>
            <a:blip r:embed="rId4"/>
            <a:srcRect l="-760" r="-760"/>
            <a:stretch/>
          </p:blipFill>
          <p:spPr>
            <a:xfrm>
              <a:off x="2219249" y="5273345"/>
              <a:ext cx="152705" cy="171907"/>
            </a:xfrm>
            <a:prstGeom prst="rect">
              <a:avLst/>
            </a:prstGeom>
          </p:spPr>
        </p:pic>
        <p:sp>
          <p:nvSpPr>
            <p:cNvPr id="12" name="Text 5"/>
            <p:cNvSpPr txBox="1"/>
            <p:nvPr/>
          </p:nvSpPr>
          <p:spPr>
            <a:xfrm>
              <a:off x="2638044" y="5230368"/>
              <a:ext cx="1811426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chemeClr val="bg1"/>
                  </a:solidFill>
                  <a:latin typeface="Montserrat" pitchFamily="2" charset="0"/>
                  <a:ea typeface="Poppins" pitchFamily="34" charset="-122"/>
                  <a:cs typeface="Poppins" pitchFamily="34" charset="-120"/>
                </a:rPr>
                <a:t>Февраль 2026 года</a:t>
              </a:r>
              <a:endParaRPr lang="en-US" sz="1300" dirty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284B7547-7A73-442D-6727-6A338505CD09}"/>
              </a:ext>
            </a:extLst>
          </p:cNvPr>
          <p:cNvGrpSpPr/>
          <p:nvPr/>
        </p:nvGrpSpPr>
        <p:grpSpPr>
          <a:xfrm>
            <a:off x="5651906" y="5168189"/>
            <a:ext cx="1812341" cy="381305"/>
            <a:chOff x="5651906" y="5168189"/>
            <a:chExt cx="1812341" cy="381305"/>
          </a:xfrm>
        </p:grpSpPr>
        <p:sp>
          <p:nvSpPr>
            <p:cNvPr id="13" name="Shape 6"/>
            <p:cNvSpPr/>
            <p:nvPr/>
          </p:nvSpPr>
          <p:spPr>
            <a:xfrm>
              <a:off x="5651906" y="5168189"/>
              <a:ext cx="381305" cy="381305"/>
            </a:xfrm>
            <a:prstGeom prst="roundRect">
              <a:avLst>
                <a:gd name="adj" fmla="val 71942"/>
              </a:avLst>
            </a:pr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14" name="Image 5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757062" y="5273345"/>
              <a:ext cx="171907" cy="171907"/>
            </a:xfrm>
            <a:prstGeom prst="rect">
              <a:avLst/>
            </a:prstGeom>
          </p:spPr>
        </p:pic>
        <p:sp>
          <p:nvSpPr>
            <p:cNvPr id="15" name="Text 7"/>
            <p:cNvSpPr txBox="1"/>
            <p:nvPr/>
          </p:nvSpPr>
          <p:spPr>
            <a:xfrm>
              <a:off x="6185916" y="5230368"/>
              <a:ext cx="1278331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chemeClr val="bg1"/>
                  </a:solidFill>
                  <a:latin typeface="Montserrat" pitchFamily="2" charset="0"/>
                  <a:ea typeface="Poppins" pitchFamily="34" charset="-122"/>
                  <a:cs typeface="Poppins" pitchFamily="34" charset="-120"/>
                </a:rPr>
                <a:t>Нартбаева С.</a:t>
              </a:r>
              <a:endParaRPr lang="en-US" sz="1300" dirty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  <p:sp>
        <p:nvSpPr>
          <p:cNvPr id="19" name="Shape 10"/>
          <p:cNvSpPr/>
          <p:nvPr/>
        </p:nvSpPr>
        <p:spPr>
          <a:xfrm>
            <a:off x="1012723" y="381305"/>
            <a:ext cx="1635379" cy="533095"/>
          </a:xfrm>
          <a:prstGeom prst="roundRect">
            <a:avLst>
              <a:gd name="adj" fmla="val 153149"/>
            </a:avLst>
          </a:prstGeom>
          <a:solidFill>
            <a:srgbClr val="0000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1"/>
          <p:cNvSpPr txBox="1"/>
          <p:nvPr/>
        </p:nvSpPr>
        <p:spPr>
          <a:xfrm>
            <a:off x="1143000" y="381305"/>
            <a:ext cx="150510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Halyk Bank</a:t>
            </a:r>
            <a:endParaRPr lang="en-US" sz="180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F42601-6B00-EF76-0DF1-25A60D0A5F81}"/>
              </a:ext>
            </a:extLst>
          </p:cNvPr>
          <p:cNvSpPr txBox="1"/>
          <p:nvPr/>
        </p:nvSpPr>
        <p:spPr>
          <a:xfrm>
            <a:off x="11248103" y="41787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KZ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008898D9-70A7-1CB5-5059-2EFF133A44AA}"/>
              </a:ext>
            </a:extLst>
          </p:cNvPr>
          <p:cNvGrpSpPr/>
          <p:nvPr/>
        </p:nvGrpSpPr>
        <p:grpSpPr>
          <a:xfrm>
            <a:off x="10491019" y="352044"/>
            <a:ext cx="1132834" cy="381305"/>
            <a:chOff x="10491019" y="352044"/>
            <a:chExt cx="1132834" cy="381305"/>
          </a:xfrm>
        </p:grpSpPr>
        <p:sp>
          <p:nvSpPr>
            <p:cNvPr id="5" name="Shape 3"/>
            <p:cNvSpPr/>
            <p:nvPr/>
          </p:nvSpPr>
          <p:spPr>
            <a:xfrm>
              <a:off x="10491019" y="352044"/>
              <a:ext cx="1132834" cy="381305"/>
            </a:xfrm>
            <a:prstGeom prst="roundRect">
              <a:avLst>
                <a:gd name="adj" fmla="val 119904"/>
              </a:avLst>
            </a:prstGeom>
            <a:solidFill>
              <a:srgbClr val="00C853">
                <a:alpha val="5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 dirty="0"/>
            </a:p>
          </p:txBody>
        </p:sp>
        <p:sp>
          <p:nvSpPr>
            <p:cNvPr id="7" name="Text 4"/>
            <p:cNvSpPr txBox="1"/>
            <p:nvPr/>
          </p:nvSpPr>
          <p:spPr>
            <a:xfrm>
              <a:off x="10604297" y="352044"/>
              <a:ext cx="924458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E7D32"/>
                  </a:solidFill>
                  <a:latin typeface="Montserrat" pitchFamily="2" charset="0"/>
                  <a:ea typeface="Poppins" pitchFamily="34" charset="-122"/>
                  <a:cs typeface="Poppins" pitchFamily="34" charset="-120"/>
                </a:rPr>
                <a:t>Halyk Bank</a:t>
              </a:r>
              <a:endParaRPr lang="en-US" sz="1200" dirty="0">
                <a:latin typeface="Montserrat" pitchFamily="2" charset="0"/>
              </a:endParaRPr>
            </a:p>
          </p:txBody>
        </p:sp>
      </p:grpSp>
      <p:sp>
        <p:nvSpPr>
          <p:cNvPr id="8" name="Text 5"/>
          <p:cNvSpPr txBox="1"/>
          <p:nvPr/>
        </p:nvSpPr>
        <p:spPr>
          <a:xfrm>
            <a:off x="571500" y="286207"/>
            <a:ext cx="593079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latin typeface="Montserrat" pitchFamily="2" charset="0"/>
                <a:ea typeface="Poppins" pitchFamily="34" charset="-122"/>
                <a:cs typeface="Poppins" pitchFamily="34" charset="-120"/>
              </a:rPr>
              <a:t>Проблема и текущая ситуация</a:t>
            </a:r>
            <a:endParaRPr lang="en-US" sz="2700" dirty="0">
              <a:latin typeface="Montserrat" pitchFamily="2" charset="0"/>
            </a:endParaRPr>
          </a:p>
        </p:txBody>
      </p: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1439CEA8-C053-7FA5-3F8D-263E27BE57B4}"/>
              </a:ext>
            </a:extLst>
          </p:cNvPr>
          <p:cNvGrpSpPr/>
          <p:nvPr/>
        </p:nvGrpSpPr>
        <p:grpSpPr>
          <a:xfrm>
            <a:off x="571500" y="1248156"/>
            <a:ext cx="6572707" cy="2210105"/>
            <a:chOff x="571500" y="1248156"/>
            <a:chExt cx="6572707" cy="2210105"/>
          </a:xfrm>
        </p:grpSpPr>
        <p:pic>
          <p:nvPicPr>
            <p:cNvPr id="10" name="Image 1" descr="preencoded.png"/>
            <p:cNvPicPr>
              <a:picLocks noChangeAspect="1"/>
            </p:cNvPicPr>
            <p:nvPr/>
          </p:nvPicPr>
          <p:blipFill>
            <a:blip r:embed="rId3"/>
            <a:srcRect t="-3" b="-3"/>
            <a:stretch/>
          </p:blipFill>
          <p:spPr>
            <a:xfrm>
              <a:off x="571500" y="1248156"/>
              <a:ext cx="6572707" cy="2210105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3536"/>
                </a:srgbClr>
              </a:outerShdw>
            </a:effectLst>
          </p:spPr>
        </p:pic>
        <p:sp>
          <p:nvSpPr>
            <p:cNvPr id="11" name="Shape 7"/>
            <p:cNvSpPr/>
            <p:nvPr/>
          </p:nvSpPr>
          <p:spPr>
            <a:xfrm>
              <a:off x="838505" y="1476756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00C853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12" name="Image 2" descr="preencoded.png"/>
            <p:cNvPicPr>
              <a:picLocks noChangeAspect="1"/>
            </p:cNvPicPr>
            <p:nvPr/>
          </p:nvPicPr>
          <p:blipFill>
            <a:blip r:embed="rId4"/>
            <a:srcRect l="-2512" r="-2512"/>
            <a:stretch/>
          </p:blipFill>
          <p:spPr>
            <a:xfrm>
              <a:off x="938174" y="1561795"/>
              <a:ext cx="105156" cy="133502"/>
            </a:xfrm>
            <a:prstGeom prst="rect">
              <a:avLst/>
            </a:prstGeom>
          </p:spPr>
        </p:pic>
        <p:sp>
          <p:nvSpPr>
            <p:cNvPr id="13" name="Text 8"/>
            <p:cNvSpPr txBox="1"/>
            <p:nvPr/>
          </p:nvSpPr>
          <p:spPr>
            <a:xfrm>
              <a:off x="1257300" y="1500530"/>
              <a:ext cx="3088843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2E7D32"/>
                  </a:solidFill>
                  <a:latin typeface="Montserrat" pitchFamily="2" charset="0"/>
                  <a:ea typeface="Poppins" pitchFamily="34" charset="-122"/>
                  <a:cs typeface="Poppins" pitchFamily="34" charset="-120"/>
                </a:rPr>
                <a:t>Полученные бизнес-требования</a:t>
              </a:r>
              <a:endParaRPr lang="en-US" sz="1300" dirty="0">
                <a:latin typeface="Montserrat" pitchFamily="2" charset="0"/>
              </a:endParaRPr>
            </a:p>
          </p:txBody>
        </p:sp>
        <p:sp>
          <p:nvSpPr>
            <p:cNvPr id="14" name="Text 9"/>
            <p:cNvSpPr txBox="1"/>
            <p:nvPr/>
          </p:nvSpPr>
          <p:spPr>
            <a:xfrm>
              <a:off x="838505" y="1895551"/>
              <a:ext cx="61914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555555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На текущий момент получены запросы от ключевых департаментов:</a:t>
              </a:r>
              <a:endParaRPr lang="en-US" sz="1100" dirty="0">
                <a:latin typeface="Montserrat" pitchFamily="2" charset="0"/>
              </a:endParaRPr>
            </a:p>
          </p:txBody>
        </p:sp>
        <p:sp>
          <p:nvSpPr>
            <p:cNvPr id="15" name="Shape 10"/>
            <p:cNvSpPr/>
            <p:nvPr/>
          </p:nvSpPr>
          <p:spPr>
            <a:xfrm>
              <a:off x="838505" y="2276856"/>
              <a:ext cx="57607" cy="57607"/>
            </a:xfrm>
            <a:prstGeom prst="ellipse">
              <a:avLst/>
            </a:prstGeom>
            <a:solidFill>
              <a:srgbClr val="00C85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6" name="Text 11"/>
            <p:cNvSpPr txBox="1"/>
            <p:nvPr/>
          </p:nvSpPr>
          <p:spPr>
            <a:xfrm>
              <a:off x="990295" y="2200046"/>
              <a:ext cx="36292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555555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ДКЦ ЮЛ (Департамент цифровых кредитов ЮЛ)</a:t>
              </a:r>
              <a:endParaRPr lang="en-US" sz="1100" dirty="0">
                <a:latin typeface="Montserrat" pitchFamily="2" charset="0"/>
              </a:endParaRPr>
            </a:p>
          </p:txBody>
        </p:sp>
        <p:sp>
          <p:nvSpPr>
            <p:cNvPr id="17" name="Shape 12"/>
            <p:cNvSpPr/>
            <p:nvPr/>
          </p:nvSpPr>
          <p:spPr>
            <a:xfrm>
              <a:off x="838505" y="2619756"/>
              <a:ext cx="57607" cy="57607"/>
            </a:xfrm>
            <a:prstGeom prst="ellipse">
              <a:avLst/>
            </a:prstGeom>
            <a:solidFill>
              <a:srgbClr val="00C85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8" name="Text 13"/>
            <p:cNvSpPr txBox="1"/>
            <p:nvPr/>
          </p:nvSpPr>
          <p:spPr>
            <a:xfrm>
              <a:off x="990295" y="2542946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555555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OCDS (Офис Chief Data Scientist)</a:t>
              </a:r>
              <a:endParaRPr lang="en-US" sz="1100" dirty="0">
                <a:latin typeface="Montserrat" pitchFamily="2" charset="0"/>
              </a:endParaRPr>
            </a:p>
          </p:txBody>
        </p:sp>
        <p:sp>
          <p:nvSpPr>
            <p:cNvPr id="19" name="Shape 14"/>
            <p:cNvSpPr/>
            <p:nvPr/>
          </p:nvSpPr>
          <p:spPr>
            <a:xfrm>
              <a:off x="838505" y="2962656"/>
              <a:ext cx="57607" cy="57607"/>
            </a:xfrm>
            <a:prstGeom prst="ellipse">
              <a:avLst/>
            </a:prstGeom>
            <a:solidFill>
              <a:srgbClr val="00C85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0" name="Text 15"/>
            <p:cNvSpPr txBox="1"/>
            <p:nvPr/>
          </p:nvSpPr>
          <p:spPr>
            <a:xfrm>
              <a:off x="990295" y="2885846"/>
              <a:ext cx="362925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555555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Департамент рисков цифрового кредитования</a:t>
              </a:r>
              <a:endParaRPr lang="en-US" sz="1100" dirty="0">
                <a:latin typeface="Montserrat" pitchFamily="2" charset="0"/>
              </a:endParaRPr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9D835E8D-EF25-C288-68E3-5DB8DFFE1884}"/>
              </a:ext>
            </a:extLst>
          </p:cNvPr>
          <p:cNvGrpSpPr/>
          <p:nvPr/>
        </p:nvGrpSpPr>
        <p:grpSpPr>
          <a:xfrm>
            <a:off x="571500" y="3867455"/>
            <a:ext cx="6572707" cy="2133295"/>
            <a:chOff x="571500" y="3685946"/>
            <a:chExt cx="6572707" cy="2133295"/>
          </a:xfrm>
        </p:grpSpPr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 r:embed="rId5"/>
            <a:srcRect l="-11" r="-11"/>
            <a:stretch/>
          </p:blipFill>
          <p:spPr>
            <a:xfrm>
              <a:off x="571500" y="3685946"/>
              <a:ext cx="6572707" cy="2133295"/>
            </a:xfrm>
            <a:prstGeom prst="rect">
              <a:avLst/>
            </a:prstGeom>
          </p:spPr>
        </p:pic>
        <p:sp>
          <p:nvSpPr>
            <p:cNvPr id="22" name="Shape 16"/>
            <p:cNvSpPr/>
            <p:nvPr/>
          </p:nvSpPr>
          <p:spPr>
            <a:xfrm>
              <a:off x="838505" y="3914546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FF5252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23" name="Image 4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923544" y="4000500"/>
              <a:ext cx="133502" cy="133502"/>
            </a:xfrm>
            <a:prstGeom prst="rect">
              <a:avLst/>
            </a:prstGeom>
          </p:spPr>
        </p:pic>
        <p:sp>
          <p:nvSpPr>
            <p:cNvPr id="24" name="Text 17"/>
            <p:cNvSpPr txBox="1"/>
            <p:nvPr/>
          </p:nvSpPr>
          <p:spPr>
            <a:xfrm>
              <a:off x="1257300" y="3938321"/>
              <a:ext cx="1895551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D32F2F"/>
                  </a:solidFill>
                  <a:latin typeface="Montserrat" pitchFamily="2" charset="0"/>
                  <a:ea typeface="Poppins" pitchFamily="34" charset="-122"/>
                  <a:cs typeface="Poppins" pitchFamily="34" charset="-120"/>
                </a:rPr>
                <a:t>Основные проблемы</a:t>
              </a:r>
              <a:endParaRPr lang="en-US" sz="1300" dirty="0">
                <a:latin typeface="Montserrat" pitchFamily="2" charset="0"/>
              </a:endParaRPr>
            </a:p>
          </p:txBody>
        </p:sp>
        <p:sp>
          <p:nvSpPr>
            <p:cNvPr id="25" name="Shape 18"/>
            <p:cNvSpPr/>
            <p:nvPr/>
          </p:nvSpPr>
          <p:spPr>
            <a:xfrm>
              <a:off x="838505" y="4410151"/>
              <a:ext cx="57607" cy="57607"/>
            </a:xfrm>
            <a:prstGeom prst="ellipse">
              <a:avLst/>
            </a:prstGeom>
            <a:solidFill>
              <a:srgbClr val="FF5252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6" name="Text 19"/>
            <p:cNvSpPr txBox="1"/>
            <p:nvPr/>
          </p:nvSpPr>
          <p:spPr>
            <a:xfrm>
              <a:off x="990295" y="4334256"/>
              <a:ext cx="553486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555555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Отсутствует обратная связь и консультации от владельца источника</a:t>
              </a:r>
              <a:endParaRPr lang="en-US" sz="1100" dirty="0">
                <a:latin typeface="Montserrat" pitchFamily="2" charset="0"/>
              </a:endParaRPr>
            </a:p>
          </p:txBody>
        </p:sp>
        <p:sp>
          <p:nvSpPr>
            <p:cNvPr id="27" name="Shape 20"/>
            <p:cNvSpPr/>
            <p:nvPr/>
          </p:nvSpPr>
          <p:spPr>
            <a:xfrm>
              <a:off x="838505" y="4753051"/>
              <a:ext cx="57607" cy="57607"/>
            </a:xfrm>
            <a:prstGeom prst="ellipse">
              <a:avLst/>
            </a:prstGeom>
            <a:solidFill>
              <a:srgbClr val="FF5252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8" name="Text 21"/>
            <p:cNvSpPr txBox="1"/>
            <p:nvPr/>
          </p:nvSpPr>
          <p:spPr>
            <a:xfrm>
              <a:off x="990295" y="4677156"/>
              <a:ext cx="4572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555555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У источника несколько БД и большое количество таблиц</a:t>
              </a:r>
              <a:endParaRPr lang="en-US" sz="1100" dirty="0">
                <a:latin typeface="Montserrat" pitchFamily="2" charset="0"/>
              </a:endParaRPr>
            </a:p>
          </p:txBody>
        </p:sp>
        <p:sp>
          <p:nvSpPr>
            <p:cNvPr id="29" name="Shape 22"/>
            <p:cNvSpPr/>
            <p:nvPr/>
          </p:nvSpPr>
          <p:spPr>
            <a:xfrm>
              <a:off x="838505" y="5095951"/>
              <a:ext cx="57607" cy="57607"/>
            </a:xfrm>
            <a:prstGeom prst="ellipse">
              <a:avLst/>
            </a:prstGeom>
            <a:solidFill>
              <a:srgbClr val="FF5252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30" name="Text 23"/>
            <p:cNvSpPr txBox="1"/>
            <p:nvPr/>
          </p:nvSpPr>
          <p:spPr>
            <a:xfrm>
              <a:off x="990295" y="5020056"/>
              <a:ext cx="600120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555555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Отсутствует ER-диаграмма и описания таблиц, ввиду частых доработок существующих таблиц либо расширения новыми сервисами и продуктами</a:t>
              </a:r>
              <a:endParaRPr lang="en-US" sz="1100" dirty="0">
                <a:latin typeface="Montserrat" pitchFamily="2" charset="0"/>
              </a:endParaRPr>
            </a:p>
          </p:txBody>
        </p:sp>
        <p:pic>
          <p:nvPicPr>
            <p:cNvPr id="32" name="Image 6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6170974" y="3813520"/>
              <a:ext cx="804069" cy="804069"/>
            </a:xfrm>
            <a:prstGeom prst="rect">
              <a:avLst/>
            </a:prstGeom>
          </p:spPr>
        </p:pic>
      </p:grpSp>
      <p:sp>
        <p:nvSpPr>
          <p:cNvPr id="46" name="Text 34"/>
          <p:cNvSpPr txBox="1"/>
          <p:nvPr/>
        </p:nvSpPr>
        <p:spPr>
          <a:xfrm>
            <a:off x="571500" y="6495898"/>
            <a:ext cx="24149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E9E9E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Интеграция из источника Onlinebank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7" name="Text 35"/>
          <p:cNvSpPr txBox="1"/>
          <p:nvPr/>
        </p:nvSpPr>
        <p:spPr>
          <a:xfrm>
            <a:off x="11550701" y="6495898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E9E9E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>
              <a:latin typeface="Montserrat" pitchFamily="2" charset="0"/>
            </a:endParaRPr>
          </a:p>
        </p:txBody>
      </p: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6AD7977D-1105-4845-56BB-8B74F5C0444E}"/>
              </a:ext>
            </a:extLst>
          </p:cNvPr>
          <p:cNvGrpSpPr/>
          <p:nvPr/>
        </p:nvGrpSpPr>
        <p:grpSpPr>
          <a:xfrm>
            <a:off x="7448702" y="1738997"/>
            <a:ext cx="4282135" cy="3743554"/>
            <a:chOff x="7338060" y="1738274"/>
            <a:chExt cx="4282135" cy="3743554"/>
          </a:xfrm>
        </p:grpSpPr>
        <p:pic>
          <p:nvPicPr>
            <p:cNvPr id="51" name="Image 14" descr="preencoded.png">
              <a:extLst>
                <a:ext uri="{FF2B5EF4-FFF2-40B4-BE49-F238E27FC236}">
                  <a16:creationId xmlns:a16="http://schemas.microsoft.com/office/drawing/2014/main" id="{392EE20A-2BC6-DEB7-AE43-5DBDFFE7F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-6" b="-6"/>
            <a:stretch/>
          </p:blipFill>
          <p:spPr>
            <a:xfrm>
              <a:off x="7338060" y="1738274"/>
              <a:ext cx="4282135" cy="3743554"/>
            </a:xfrm>
            <a:prstGeom prst="rect">
              <a:avLst/>
            </a:prstGeom>
          </p:spPr>
        </p:pic>
        <p:sp>
          <p:nvSpPr>
            <p:cNvPr id="52" name="Shape 59">
              <a:extLst>
                <a:ext uri="{FF2B5EF4-FFF2-40B4-BE49-F238E27FC236}">
                  <a16:creationId xmlns:a16="http://schemas.microsoft.com/office/drawing/2014/main" id="{683FCFDA-5780-7824-6D0F-2D9D1B52EB3C}"/>
                </a:ext>
              </a:extLst>
            </p:cNvPr>
            <p:cNvSpPr/>
            <p:nvPr/>
          </p:nvSpPr>
          <p:spPr>
            <a:xfrm>
              <a:off x="7652614" y="2052828"/>
              <a:ext cx="476402" cy="476402"/>
            </a:xfrm>
            <a:prstGeom prst="roundRect">
              <a:avLst>
                <a:gd name="adj" fmla="val 46065"/>
              </a:avLst>
            </a:prstGeom>
            <a:solidFill>
              <a:srgbClr val="FFEBE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53" name="Image 15" descr="preencoded.png">
              <a:extLst>
                <a:ext uri="{FF2B5EF4-FFF2-40B4-BE49-F238E27FC236}">
                  <a16:creationId xmlns:a16="http://schemas.microsoft.com/office/drawing/2014/main" id="{E92D2996-D636-3F9E-821D-8F480971A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7776058" y="2176272"/>
              <a:ext cx="228600" cy="228600"/>
            </a:xfrm>
            <a:prstGeom prst="rect">
              <a:avLst/>
            </a:prstGeom>
          </p:spPr>
        </p:pic>
        <p:sp>
          <p:nvSpPr>
            <p:cNvPr id="54" name="Text 60">
              <a:extLst>
                <a:ext uri="{FF2B5EF4-FFF2-40B4-BE49-F238E27FC236}">
                  <a16:creationId xmlns:a16="http://schemas.microsoft.com/office/drawing/2014/main" id="{1A227ACE-F63C-266B-B219-F04389641031}"/>
                </a:ext>
              </a:extLst>
            </p:cNvPr>
            <p:cNvSpPr txBox="1"/>
            <p:nvPr/>
          </p:nvSpPr>
          <p:spPr>
            <a:xfrm>
              <a:off x="8280806" y="2052828"/>
              <a:ext cx="3105302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424242"/>
                  </a:solidFill>
                  <a:latin typeface="Montserrat" pitchFamily="2" charset="0"/>
                  <a:ea typeface="Poppins" pitchFamily="34" charset="-122"/>
                  <a:cs typeface="Poppins" pitchFamily="34" charset="-120"/>
                </a:rPr>
                <a:t>Затраченные ресурсы команды на анализ и разработку ТЗ в 2025 году</a:t>
              </a:r>
              <a:endParaRPr lang="en-US" sz="1300" dirty="0">
                <a:latin typeface="Montserrat" pitchFamily="2" charset="0"/>
              </a:endParaRPr>
            </a:p>
          </p:txBody>
        </p:sp>
        <p:sp>
          <p:nvSpPr>
            <p:cNvPr id="55" name="Text 61">
              <a:extLst>
                <a:ext uri="{FF2B5EF4-FFF2-40B4-BE49-F238E27FC236}">
                  <a16:creationId xmlns:a16="http://schemas.microsoft.com/office/drawing/2014/main" id="{93AA2ED4-7756-457C-9522-D26BC2CDF07D}"/>
                </a:ext>
              </a:extLst>
            </p:cNvPr>
            <p:cNvSpPr txBox="1"/>
            <p:nvPr/>
          </p:nvSpPr>
          <p:spPr>
            <a:xfrm>
              <a:off x="8567014" y="2757830"/>
              <a:ext cx="2036369" cy="762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000" b="1" dirty="0">
                  <a:solidFill>
                    <a:srgbClr val="D32F2F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2232</a:t>
              </a:r>
              <a:endParaRPr lang="en-US" sz="6000" dirty="0">
                <a:latin typeface="Montserrat" pitchFamily="2" charset="0"/>
              </a:endParaRPr>
            </a:p>
          </p:txBody>
        </p:sp>
        <p:sp>
          <p:nvSpPr>
            <p:cNvPr id="56" name="Text 62">
              <a:extLst>
                <a:ext uri="{FF2B5EF4-FFF2-40B4-BE49-F238E27FC236}">
                  <a16:creationId xmlns:a16="http://schemas.microsoft.com/office/drawing/2014/main" id="{D77F0AE8-2146-D4D3-8578-3EDC095F6971}"/>
                </a:ext>
              </a:extLst>
            </p:cNvPr>
            <p:cNvSpPr txBox="1"/>
            <p:nvPr/>
          </p:nvSpPr>
          <p:spPr>
            <a:xfrm>
              <a:off x="8989466" y="3547872"/>
              <a:ext cx="1079906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E9E9E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человеко-часа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57" name="Text 63">
              <a:extLst>
                <a:ext uri="{FF2B5EF4-FFF2-40B4-BE49-F238E27FC236}">
                  <a16:creationId xmlns:a16="http://schemas.microsoft.com/office/drawing/2014/main" id="{A42671FE-FA72-9810-957C-6FDB79E06F9E}"/>
                </a:ext>
              </a:extLst>
            </p:cNvPr>
            <p:cNvSpPr/>
            <p:nvPr/>
          </p:nvSpPr>
          <p:spPr>
            <a:xfrm>
              <a:off x="7652613" y="3891500"/>
              <a:ext cx="3653941" cy="523952"/>
            </a:xfrm>
            <a:prstGeom prst="roundRect">
              <a:avLst>
                <a:gd name="adj" fmla="val 20420"/>
              </a:avLst>
            </a:prstGeom>
            <a:solidFill>
              <a:srgbClr val="FFFDE7"/>
            </a:solidFill>
            <a:ln w="12700">
              <a:solidFill>
                <a:srgbClr val="FFF59D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9A825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279 дней</a:t>
              </a:r>
              <a:endParaRPr lang="en-US" sz="2000" dirty="0">
                <a:latin typeface="Montserrat" pitchFamily="2" charset="0"/>
              </a:endParaRPr>
            </a:p>
          </p:txBody>
        </p:sp>
        <p:pic>
          <p:nvPicPr>
            <p:cNvPr id="58" name="Image 16" descr="preencoded.png">
              <a:extLst>
                <a:ext uri="{FF2B5EF4-FFF2-40B4-BE49-F238E27FC236}">
                  <a16:creationId xmlns:a16="http://schemas.microsoft.com/office/drawing/2014/main" id="{873E5395-A13F-9641-9331-BB833EF8E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-204" r="-204"/>
            <a:stretch/>
          </p:blipFill>
          <p:spPr>
            <a:xfrm>
              <a:off x="7652614" y="4776826"/>
              <a:ext cx="3653942" cy="75895"/>
            </a:xfrm>
            <a:prstGeom prst="rect">
              <a:avLst/>
            </a:prstGeom>
          </p:spPr>
        </p:pic>
        <p:pic>
          <p:nvPicPr>
            <p:cNvPr id="59" name="Image 17" descr="preencoded.png">
              <a:extLst>
                <a:ext uri="{FF2B5EF4-FFF2-40B4-BE49-F238E27FC236}">
                  <a16:creationId xmlns:a16="http://schemas.microsoft.com/office/drawing/2014/main" id="{55AFB192-FB17-09CB-A0A0-E998F32F0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-196" r="-196"/>
            <a:stretch/>
          </p:blipFill>
          <p:spPr>
            <a:xfrm>
              <a:off x="7652614" y="4776826"/>
              <a:ext cx="3105302" cy="75895"/>
            </a:xfrm>
            <a:prstGeom prst="rect">
              <a:avLst/>
            </a:prstGeom>
          </p:spPr>
        </p:pic>
        <p:sp>
          <p:nvSpPr>
            <p:cNvPr id="60" name="Text 64">
              <a:extLst>
                <a:ext uri="{FF2B5EF4-FFF2-40B4-BE49-F238E27FC236}">
                  <a16:creationId xmlns:a16="http://schemas.microsoft.com/office/drawing/2014/main" id="{52F14D03-7CAC-2F64-5A43-AB6AF8EDEEE7}"/>
                </a:ext>
              </a:extLst>
            </p:cNvPr>
            <p:cNvSpPr txBox="1"/>
            <p:nvPr/>
          </p:nvSpPr>
          <p:spPr>
            <a:xfrm>
              <a:off x="8538667" y="4967021"/>
              <a:ext cx="2885846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D32F2F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 Высокая нагрузка на команду </a:t>
              </a:r>
              <a:endParaRPr lang="en-US" sz="1000" dirty="0">
                <a:latin typeface="Montserrat" pitchFamily="2" charset="0"/>
              </a:endParaRPr>
            </a:p>
          </p:txBody>
        </p:sp>
        <p:pic>
          <p:nvPicPr>
            <p:cNvPr id="61" name="Image 18" descr="preencoded.png">
              <a:extLst>
                <a:ext uri="{FF2B5EF4-FFF2-40B4-BE49-F238E27FC236}">
                  <a16:creationId xmlns:a16="http://schemas.microsoft.com/office/drawing/2014/main" id="{ECF0A44C-FCED-DC8E-0FE9-928CD2691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8405165" y="5000854"/>
              <a:ext cx="133502" cy="1335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 txBox="1"/>
          <p:nvPr/>
        </p:nvSpPr>
        <p:spPr>
          <a:xfrm>
            <a:off x="571500" y="286207"/>
            <a:ext cx="593079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latin typeface="Montserrat" pitchFamily="2" charset="0"/>
                <a:ea typeface="Poppins" pitchFamily="34" charset="-122"/>
                <a:cs typeface="Poppins" pitchFamily="34" charset="-120"/>
              </a:rPr>
              <a:t>План интеграции на 2026 год</a:t>
            </a:r>
            <a:endParaRPr lang="en-US" sz="2700" dirty="0">
              <a:latin typeface="Montserrat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71500" y="916229"/>
            <a:ext cx="2962656" cy="828446"/>
          </a:xfrm>
          <a:prstGeom prst="roundRect">
            <a:avLst>
              <a:gd name="adj" fmla="val 15224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1754" y="1127456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862279" y="1232612"/>
            <a:ext cx="219456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24051" y="1132028"/>
            <a:ext cx="20903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Halyk Market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1324051" y="1352398"/>
            <a:ext cx="20903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Подключение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685946" y="916229"/>
            <a:ext cx="2962656" cy="828446"/>
          </a:xfrm>
          <a:prstGeom prst="roundRect">
            <a:avLst>
              <a:gd name="adj" fmla="val 15224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886200" y="1127456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15130" y="1232612"/>
            <a:ext cx="142646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438498" y="1132028"/>
            <a:ext cx="20903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Halyk Рассрочка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4438498" y="1352398"/>
            <a:ext cx="20903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Сервис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71500" y="1891894"/>
            <a:ext cx="2962656" cy="828446"/>
          </a:xfrm>
          <a:prstGeom prst="roundRect">
            <a:avLst>
              <a:gd name="adj" fmla="val 15224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1754" y="2103120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862279" y="2207362"/>
            <a:ext cx="219456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24051" y="2106778"/>
            <a:ext cx="20903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B2B кредиты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1324051" y="2327148"/>
            <a:ext cx="20903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Заявки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3685946" y="1891894"/>
            <a:ext cx="2962656" cy="828446"/>
          </a:xfrm>
          <a:prstGeom prst="roundRect">
            <a:avLst>
              <a:gd name="adj" fmla="val 15224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886200" y="2103120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3976726" y="2207362"/>
            <a:ext cx="219456" cy="19019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438498" y="2106778"/>
            <a:ext cx="20903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Over 3.0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4438498" y="2327148"/>
            <a:ext cx="20903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Продукт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571500" y="2866644"/>
            <a:ext cx="2962656" cy="828446"/>
          </a:xfrm>
          <a:prstGeom prst="roundRect">
            <a:avLst>
              <a:gd name="adj" fmla="val 15224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71754" y="3077871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52221" y="3182112"/>
            <a:ext cx="237744" cy="19019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324051" y="3081528"/>
            <a:ext cx="20903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Лизинг для ТОО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34" name="Text 26"/>
          <p:cNvSpPr txBox="1"/>
          <p:nvPr/>
        </p:nvSpPr>
        <p:spPr>
          <a:xfrm>
            <a:off x="1324051" y="3302813"/>
            <a:ext cx="20903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Заявки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3685946" y="2866644"/>
            <a:ext cx="2962656" cy="828446"/>
          </a:xfrm>
          <a:prstGeom prst="roundRect">
            <a:avLst>
              <a:gd name="adj" fmla="val 15224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3886200" y="3077871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015130" y="3182112"/>
            <a:ext cx="142646" cy="19019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4438498" y="3081528"/>
            <a:ext cx="20903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Цифровой факторинг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39" name="Text 30"/>
          <p:cNvSpPr txBox="1"/>
          <p:nvPr/>
        </p:nvSpPr>
        <p:spPr>
          <a:xfrm>
            <a:off x="4438498" y="3302813"/>
            <a:ext cx="20903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Для ТОО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571500" y="3841395"/>
            <a:ext cx="2962656" cy="828446"/>
          </a:xfrm>
          <a:prstGeom prst="roundRect">
            <a:avLst>
              <a:gd name="adj" fmla="val 15224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771754" y="4052621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99770" y="4157777"/>
            <a:ext cx="142646" cy="19019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324051" y="4056279"/>
            <a:ext cx="20903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Выдача справок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44" name="Text 34"/>
          <p:cNvSpPr txBox="1"/>
          <p:nvPr/>
        </p:nvSpPr>
        <p:spPr>
          <a:xfrm>
            <a:off x="1324051" y="4277564"/>
            <a:ext cx="20903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Документы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5" name="Shape 35"/>
          <p:cNvSpPr/>
          <p:nvPr/>
        </p:nvSpPr>
        <p:spPr>
          <a:xfrm>
            <a:off x="3685946" y="3841395"/>
            <a:ext cx="2962656" cy="828446"/>
          </a:xfrm>
          <a:prstGeom prst="roundRect">
            <a:avLst>
              <a:gd name="adj" fmla="val 15224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3886200" y="4052621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0"/>
          <a:srcRect l="-1282" r="-1282"/>
          <a:stretch/>
        </p:blipFill>
        <p:spPr>
          <a:xfrm>
            <a:off x="3976726" y="4157777"/>
            <a:ext cx="219456" cy="190195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4438498" y="4056279"/>
            <a:ext cx="21598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Данные по поступлениям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49" name="Text 38"/>
          <p:cNvSpPr txBox="1"/>
          <p:nvPr/>
        </p:nvSpPr>
        <p:spPr>
          <a:xfrm>
            <a:off x="4438498" y="4277564"/>
            <a:ext cx="20903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Счет предоплаты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0" name="Shape 39"/>
          <p:cNvSpPr/>
          <p:nvPr/>
        </p:nvSpPr>
        <p:spPr>
          <a:xfrm>
            <a:off x="571500" y="4816145"/>
            <a:ext cx="6077102" cy="828446"/>
          </a:xfrm>
          <a:prstGeom prst="roundRect">
            <a:avLst>
              <a:gd name="adj" fmla="val 15224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1" name="Shape 40"/>
          <p:cNvSpPr/>
          <p:nvPr/>
        </p:nvSpPr>
        <p:spPr>
          <a:xfrm>
            <a:off x="771754" y="5027372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75995" y="5132528"/>
            <a:ext cx="190195" cy="190195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1324051" y="5031029"/>
            <a:ext cx="5239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Длительные поручения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54" name="Text 42"/>
          <p:cNvSpPr txBox="1"/>
          <p:nvPr/>
        </p:nvSpPr>
        <p:spPr>
          <a:xfrm>
            <a:off x="1324051" y="5252314"/>
            <a:ext cx="5239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Процесс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2"/>
          <a:srcRect l="-4" r="-4"/>
          <a:stretch/>
        </p:blipFill>
        <p:spPr>
          <a:xfrm>
            <a:off x="6877202" y="916228"/>
            <a:ext cx="4972507" cy="4662525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7200900" y="1240841"/>
            <a:ext cx="44394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800" b="1" dirty="0">
                <a:solidFill>
                  <a:srgbClr val="D32F2F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Проблемные</a:t>
            </a:r>
            <a:r>
              <a:rPr lang="en-US" sz="1800" b="1" dirty="0">
                <a:solidFill>
                  <a:srgbClr val="D32F2F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 интеграции</a:t>
            </a:r>
            <a:endParaRPr lang="en-US" sz="1800" dirty="0">
              <a:latin typeface="Montserrat" pitchFamily="2" charset="0"/>
            </a:endParaRPr>
          </a:p>
        </p:txBody>
      </p:sp>
      <p:grpSp>
        <p:nvGrpSpPr>
          <p:cNvPr id="89" name="Группа 88">
            <a:extLst>
              <a:ext uri="{FF2B5EF4-FFF2-40B4-BE49-F238E27FC236}">
                <a16:creationId xmlns:a16="http://schemas.microsoft.com/office/drawing/2014/main" id="{A825B90B-0946-DC22-6FB2-A18C9686AB66}"/>
              </a:ext>
            </a:extLst>
          </p:cNvPr>
          <p:cNvGrpSpPr/>
          <p:nvPr/>
        </p:nvGrpSpPr>
        <p:grpSpPr>
          <a:xfrm>
            <a:off x="7200900" y="1705356"/>
            <a:ext cx="4324198" cy="875995"/>
            <a:chOff x="7200900" y="1779422"/>
            <a:chExt cx="4324198" cy="875995"/>
          </a:xfrm>
        </p:grpSpPr>
        <p:sp>
          <p:nvSpPr>
            <p:cNvPr id="57" name="Shape 44"/>
            <p:cNvSpPr/>
            <p:nvPr/>
          </p:nvSpPr>
          <p:spPr>
            <a:xfrm>
              <a:off x="7200900" y="1779422"/>
              <a:ext cx="4324198" cy="875995"/>
            </a:xfrm>
            <a:prstGeom prst="roundRect">
              <a:avLst>
                <a:gd name="adj" fmla="val 13615"/>
              </a:avLst>
            </a:prstGeom>
            <a:solidFill>
              <a:srgbClr val="FFFFFF"/>
            </a:solidFill>
            <a:ln w="12700">
              <a:solidFill>
                <a:srgbClr val="F0F0F0"/>
              </a:solidFill>
              <a:prstDash val="solid"/>
            </a:ln>
            <a:effectLst>
              <a:outerShdw blurRad="76200" dist="25400" dir="16200000" algn="bl" rotWithShape="0">
                <a:srgbClr val="000000">
                  <a:alpha val="4000"/>
                </a:srgbClr>
              </a:outerShdw>
            </a:effectLst>
          </p:spPr>
        </p:sp>
        <p:sp>
          <p:nvSpPr>
            <p:cNvPr id="58" name="Shape 45"/>
            <p:cNvSpPr/>
            <p:nvPr/>
          </p:nvSpPr>
          <p:spPr>
            <a:xfrm>
              <a:off x="7200900" y="1779422"/>
              <a:ext cx="38405" cy="875995"/>
            </a:xfrm>
            <a:prstGeom prst="roundRect">
              <a:avLst>
                <a:gd name="adj" fmla="val 310557"/>
              </a:avLst>
            </a:prstGeom>
            <a:solidFill>
              <a:srgbClr val="D32F2F"/>
            </a:solidFill>
            <a:ln w="12700">
              <a:solidFill>
                <a:srgbClr val="D32F2F">
                  <a:alpha val="0"/>
                </a:srgbClr>
              </a:solidFill>
              <a:prstDash val="solid"/>
            </a:ln>
          </p:spPr>
        </p:sp>
        <p:sp>
          <p:nvSpPr>
            <p:cNvPr id="59" name="Shape 46"/>
            <p:cNvSpPr/>
            <p:nvPr/>
          </p:nvSpPr>
          <p:spPr>
            <a:xfrm>
              <a:off x="7429500" y="1979676"/>
              <a:ext cx="476402" cy="476402"/>
            </a:xfrm>
            <a:prstGeom prst="roundRect">
              <a:avLst>
                <a:gd name="adj" fmla="val 38388"/>
              </a:avLst>
            </a:prstGeom>
            <a:solidFill>
              <a:srgbClr val="D32F2F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60" name="Image 11" descr="preencoded.png"/>
            <p:cNvPicPr>
              <a:picLocks noChangeAspect="1"/>
            </p:cNvPicPr>
            <p:nvPr/>
          </p:nvPicPr>
          <p:blipFill>
            <a:blip r:embed="rId13"/>
            <a:srcRect l="-1004" r="-1004"/>
            <a:stretch/>
          </p:blipFill>
          <p:spPr>
            <a:xfrm>
              <a:off x="7534656" y="2112264"/>
              <a:ext cx="267005" cy="209398"/>
            </a:xfrm>
            <a:prstGeom prst="rect">
              <a:avLst/>
            </a:prstGeom>
          </p:spPr>
        </p:pic>
        <p:sp>
          <p:nvSpPr>
            <p:cNvPr id="61" name="Text 47"/>
            <p:cNvSpPr txBox="1"/>
            <p:nvPr/>
          </p:nvSpPr>
          <p:spPr>
            <a:xfrm>
              <a:off x="8058607" y="2013509"/>
              <a:ext cx="258592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D32F2F"/>
                  </a:solidFill>
                  <a:latin typeface="Montserrat" pitchFamily="2" charset="0"/>
                  <a:ea typeface="Poppins" pitchFamily="34" charset="-122"/>
                  <a:cs typeface="Poppins" pitchFamily="34" charset="-120"/>
                </a:rPr>
                <a:t>Онбординг ИП/ТОО</a:t>
              </a:r>
              <a:endParaRPr lang="en-US" sz="1200" dirty="0">
                <a:latin typeface="Montserrat" pitchFamily="2" charset="0"/>
              </a:endParaRPr>
            </a:p>
          </p:txBody>
        </p:sp>
        <p:sp>
          <p:nvSpPr>
            <p:cNvPr id="62" name="Text 48"/>
            <p:cNvSpPr txBox="1"/>
            <p:nvPr/>
          </p:nvSpPr>
          <p:spPr>
            <a:xfrm>
              <a:off x="8058607" y="2234794"/>
              <a:ext cx="258592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E57373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таблицы</a:t>
              </a:r>
              <a:endParaRPr lang="en-US" sz="900" dirty="0">
                <a:latin typeface="Montserrat" pitchFamily="2" charset="0"/>
              </a:endParaRPr>
            </a:p>
          </p:txBody>
        </p:sp>
        <p:sp>
          <p:nvSpPr>
            <p:cNvPr id="63" name="Text 49"/>
            <p:cNvSpPr txBox="1"/>
            <p:nvPr/>
          </p:nvSpPr>
          <p:spPr>
            <a:xfrm>
              <a:off x="10733227" y="1988820"/>
              <a:ext cx="6766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D32F2F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24</a:t>
              </a:r>
              <a:endParaRPr lang="en-US" sz="3600" dirty="0">
                <a:latin typeface="Montserrat" pitchFamily="2" charset="0"/>
              </a:endParaRPr>
            </a:p>
          </p:txBody>
        </p:sp>
      </p:grpSp>
      <p:grpSp>
        <p:nvGrpSpPr>
          <p:cNvPr id="88" name="Группа 87">
            <a:extLst>
              <a:ext uri="{FF2B5EF4-FFF2-40B4-BE49-F238E27FC236}">
                <a16:creationId xmlns:a16="http://schemas.microsoft.com/office/drawing/2014/main" id="{8F448848-9CC0-F160-1668-D49E1F71F7CE}"/>
              </a:ext>
            </a:extLst>
          </p:cNvPr>
          <p:cNvGrpSpPr/>
          <p:nvPr/>
        </p:nvGrpSpPr>
        <p:grpSpPr>
          <a:xfrm>
            <a:off x="7200900" y="2860701"/>
            <a:ext cx="4324198" cy="875995"/>
            <a:chOff x="7200900" y="2808122"/>
            <a:chExt cx="4324198" cy="875995"/>
          </a:xfrm>
        </p:grpSpPr>
        <p:sp>
          <p:nvSpPr>
            <p:cNvPr id="64" name="Shape 50"/>
            <p:cNvSpPr/>
            <p:nvPr/>
          </p:nvSpPr>
          <p:spPr>
            <a:xfrm>
              <a:off x="7200900" y="2808122"/>
              <a:ext cx="4324198" cy="875995"/>
            </a:xfrm>
            <a:prstGeom prst="roundRect">
              <a:avLst>
                <a:gd name="adj" fmla="val 13615"/>
              </a:avLst>
            </a:prstGeom>
            <a:solidFill>
              <a:srgbClr val="FFFFFF"/>
            </a:solidFill>
            <a:ln w="12700">
              <a:solidFill>
                <a:srgbClr val="F0F0F0"/>
              </a:solidFill>
              <a:prstDash val="solid"/>
            </a:ln>
            <a:effectLst>
              <a:outerShdw blurRad="76200" dist="25400" dir="16200000" algn="bl" rotWithShape="0">
                <a:srgbClr val="000000">
                  <a:alpha val="4000"/>
                </a:srgbClr>
              </a:outerShdw>
            </a:effectLst>
          </p:spPr>
        </p:sp>
        <p:sp>
          <p:nvSpPr>
            <p:cNvPr id="65" name="Shape 51"/>
            <p:cNvSpPr/>
            <p:nvPr/>
          </p:nvSpPr>
          <p:spPr>
            <a:xfrm>
              <a:off x="7200900" y="2808122"/>
              <a:ext cx="38405" cy="875995"/>
            </a:xfrm>
            <a:prstGeom prst="roundRect">
              <a:avLst>
                <a:gd name="adj" fmla="val 310557"/>
              </a:avLst>
            </a:prstGeom>
            <a:solidFill>
              <a:srgbClr val="D32F2F"/>
            </a:solidFill>
            <a:ln w="12700">
              <a:solidFill>
                <a:srgbClr val="D32F2F">
                  <a:alpha val="0"/>
                </a:srgbClr>
              </a:solidFill>
              <a:prstDash val="solid"/>
            </a:ln>
          </p:spPr>
        </p:sp>
        <p:sp>
          <p:nvSpPr>
            <p:cNvPr id="66" name="Shape 52"/>
            <p:cNvSpPr/>
            <p:nvPr/>
          </p:nvSpPr>
          <p:spPr>
            <a:xfrm>
              <a:off x="7429500" y="3008376"/>
              <a:ext cx="476402" cy="476402"/>
            </a:xfrm>
            <a:prstGeom prst="roundRect">
              <a:avLst>
                <a:gd name="adj" fmla="val 38388"/>
              </a:avLst>
            </a:prstGeom>
            <a:solidFill>
              <a:srgbClr val="D32F2F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67" name="Image 12" descr="preencoded.png"/>
            <p:cNvPicPr>
              <a:picLocks noChangeAspect="1"/>
            </p:cNvPicPr>
            <p:nvPr/>
          </p:nvPicPr>
          <p:blipFill>
            <a:blip r:embed="rId14"/>
            <a:srcRect l="-461" r="-461"/>
            <a:stretch/>
          </p:blipFill>
          <p:spPr>
            <a:xfrm>
              <a:off x="7548372" y="3140964"/>
              <a:ext cx="237744" cy="209398"/>
            </a:xfrm>
            <a:prstGeom prst="rect">
              <a:avLst/>
            </a:prstGeom>
          </p:spPr>
        </p:pic>
        <p:sp>
          <p:nvSpPr>
            <p:cNvPr id="68" name="Text 53"/>
            <p:cNvSpPr txBox="1"/>
            <p:nvPr/>
          </p:nvSpPr>
          <p:spPr>
            <a:xfrm>
              <a:off x="8058607" y="3042209"/>
              <a:ext cx="275051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D32F2F"/>
                  </a:solidFill>
                  <a:latin typeface="Montserrat" pitchFamily="2" charset="0"/>
                  <a:ea typeface="Poppins" pitchFamily="34" charset="-122"/>
                  <a:cs typeface="Poppins" pitchFamily="34" charset="-120"/>
                </a:rPr>
                <a:t>Интеграция B2B (ОнлайнДүкен)</a:t>
              </a:r>
              <a:endParaRPr lang="en-US" sz="1200" dirty="0">
                <a:latin typeface="Montserrat" pitchFamily="2" charset="0"/>
              </a:endParaRPr>
            </a:p>
          </p:txBody>
        </p:sp>
        <p:sp>
          <p:nvSpPr>
            <p:cNvPr id="69" name="Text 54"/>
            <p:cNvSpPr txBox="1"/>
            <p:nvPr/>
          </p:nvSpPr>
          <p:spPr>
            <a:xfrm>
              <a:off x="8058607" y="3263494"/>
              <a:ext cx="272491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E57373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таблиц</a:t>
              </a:r>
              <a:endParaRPr lang="en-US" sz="900" dirty="0">
                <a:latin typeface="Montserrat" pitchFamily="2" charset="0"/>
              </a:endParaRPr>
            </a:p>
          </p:txBody>
        </p:sp>
        <p:sp>
          <p:nvSpPr>
            <p:cNvPr id="70" name="Text 55"/>
            <p:cNvSpPr txBox="1"/>
            <p:nvPr/>
          </p:nvSpPr>
          <p:spPr>
            <a:xfrm>
              <a:off x="10863986" y="3017520"/>
              <a:ext cx="60441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D32F2F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13</a:t>
              </a:r>
              <a:endParaRPr lang="en-US" sz="3600" dirty="0">
                <a:latin typeface="Montserrat" pitchFamily="2" charset="0"/>
              </a:endParaRPr>
            </a:p>
          </p:txBody>
        </p:sp>
      </p:grpSp>
      <p:grpSp>
        <p:nvGrpSpPr>
          <p:cNvPr id="86" name="Группа 85">
            <a:extLst>
              <a:ext uri="{FF2B5EF4-FFF2-40B4-BE49-F238E27FC236}">
                <a16:creationId xmlns:a16="http://schemas.microsoft.com/office/drawing/2014/main" id="{029C1684-9B40-9499-582F-9775C959D4C9}"/>
              </a:ext>
            </a:extLst>
          </p:cNvPr>
          <p:cNvGrpSpPr/>
          <p:nvPr/>
        </p:nvGrpSpPr>
        <p:grpSpPr>
          <a:xfrm>
            <a:off x="7200900" y="4016046"/>
            <a:ext cx="4324198" cy="875995"/>
            <a:chOff x="7200900" y="3836822"/>
            <a:chExt cx="4324198" cy="875995"/>
          </a:xfrm>
        </p:grpSpPr>
        <p:sp>
          <p:nvSpPr>
            <p:cNvPr id="71" name="Shape 56"/>
            <p:cNvSpPr/>
            <p:nvPr/>
          </p:nvSpPr>
          <p:spPr>
            <a:xfrm>
              <a:off x="7200900" y="3836822"/>
              <a:ext cx="4324198" cy="875995"/>
            </a:xfrm>
            <a:prstGeom prst="roundRect">
              <a:avLst>
                <a:gd name="adj" fmla="val 13615"/>
              </a:avLst>
            </a:prstGeom>
            <a:solidFill>
              <a:srgbClr val="FFFFFF"/>
            </a:solidFill>
            <a:ln w="12700">
              <a:solidFill>
                <a:srgbClr val="F0F0F0"/>
              </a:solidFill>
              <a:prstDash val="solid"/>
            </a:ln>
            <a:effectLst>
              <a:outerShdw blurRad="76200" dist="25400" dir="16200000" algn="bl" rotWithShape="0">
                <a:srgbClr val="000000">
                  <a:alpha val="4000"/>
                </a:srgbClr>
              </a:outerShdw>
            </a:effectLst>
          </p:spPr>
        </p:sp>
        <p:sp>
          <p:nvSpPr>
            <p:cNvPr id="72" name="Shape 57"/>
            <p:cNvSpPr/>
            <p:nvPr/>
          </p:nvSpPr>
          <p:spPr>
            <a:xfrm>
              <a:off x="7200900" y="3836822"/>
              <a:ext cx="38405" cy="875995"/>
            </a:xfrm>
            <a:prstGeom prst="roundRect">
              <a:avLst>
                <a:gd name="adj" fmla="val 310557"/>
              </a:avLst>
            </a:prstGeom>
            <a:solidFill>
              <a:srgbClr val="D32F2F"/>
            </a:solidFill>
            <a:ln w="12700">
              <a:solidFill>
                <a:srgbClr val="D32F2F">
                  <a:alpha val="0"/>
                </a:srgbClr>
              </a:solidFill>
              <a:prstDash val="solid"/>
            </a:ln>
          </p:spPr>
        </p:sp>
        <p:sp>
          <p:nvSpPr>
            <p:cNvPr id="73" name="Shape 58"/>
            <p:cNvSpPr/>
            <p:nvPr/>
          </p:nvSpPr>
          <p:spPr>
            <a:xfrm>
              <a:off x="7429500" y="4037076"/>
              <a:ext cx="476402" cy="476402"/>
            </a:xfrm>
            <a:prstGeom prst="roundRect">
              <a:avLst>
                <a:gd name="adj" fmla="val 38388"/>
              </a:avLst>
            </a:prstGeom>
            <a:solidFill>
              <a:srgbClr val="D32F2F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74" name="Image 13" descr="preencoded.png"/>
            <p:cNvPicPr>
              <a:picLocks noChangeAspect="1"/>
            </p:cNvPicPr>
            <p:nvPr/>
          </p:nvPicPr>
          <p:blipFill>
            <a:blip r:embed="rId15"/>
            <a:srcRect l="-461" r="-461"/>
            <a:stretch/>
          </p:blipFill>
          <p:spPr>
            <a:xfrm>
              <a:off x="7548372" y="4169664"/>
              <a:ext cx="237744" cy="209398"/>
            </a:xfrm>
            <a:prstGeom prst="rect">
              <a:avLst/>
            </a:prstGeom>
          </p:spPr>
        </p:pic>
        <p:sp>
          <p:nvSpPr>
            <p:cNvPr id="75" name="Text 59"/>
            <p:cNvSpPr txBox="1"/>
            <p:nvPr/>
          </p:nvSpPr>
          <p:spPr>
            <a:xfrm>
              <a:off x="8058607" y="4070909"/>
              <a:ext cx="288310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D32F2F"/>
                  </a:solidFill>
                  <a:latin typeface="Montserrat" pitchFamily="2" charset="0"/>
                  <a:ea typeface="Poppins" pitchFamily="34" charset="-122"/>
                  <a:cs typeface="Poppins" pitchFamily="34" charset="-120"/>
                </a:rPr>
                <a:t>Выписки кэшбэк (БД risk)</a:t>
              </a:r>
              <a:endParaRPr lang="en-US" sz="1200" dirty="0">
                <a:latin typeface="Montserrat" pitchFamily="2" charset="0"/>
              </a:endParaRPr>
            </a:p>
          </p:txBody>
        </p:sp>
        <p:sp>
          <p:nvSpPr>
            <p:cNvPr id="76" name="Text 60"/>
            <p:cNvSpPr txBox="1"/>
            <p:nvPr/>
          </p:nvSpPr>
          <p:spPr>
            <a:xfrm>
              <a:off x="8058607" y="4292194"/>
              <a:ext cx="288310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E57373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таблиц</a:t>
              </a:r>
              <a:endParaRPr lang="en-US" sz="900" dirty="0">
                <a:latin typeface="Montserrat" pitchFamily="2" charset="0"/>
              </a:endParaRPr>
            </a:p>
          </p:txBody>
        </p:sp>
        <p:sp>
          <p:nvSpPr>
            <p:cNvPr id="77" name="Text 61"/>
            <p:cNvSpPr txBox="1"/>
            <p:nvPr/>
          </p:nvSpPr>
          <p:spPr>
            <a:xfrm>
              <a:off x="11019434" y="4046220"/>
              <a:ext cx="391363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D32F2F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8</a:t>
              </a:r>
              <a:endParaRPr lang="en-US" sz="3600" dirty="0">
                <a:latin typeface="Montserrat" pitchFamily="2" charset="0"/>
              </a:endParaRPr>
            </a:p>
          </p:txBody>
        </p:sp>
      </p:grpSp>
      <p:sp>
        <p:nvSpPr>
          <p:cNvPr id="79" name="Shape 63"/>
          <p:cNvSpPr/>
          <p:nvPr/>
        </p:nvSpPr>
        <p:spPr>
          <a:xfrm>
            <a:off x="571499" y="5790895"/>
            <a:ext cx="11278210" cy="780898"/>
          </a:xfrm>
          <a:prstGeom prst="roundRect">
            <a:avLst>
              <a:gd name="adj" fmla="val 22848"/>
            </a:avLst>
          </a:prstGeom>
          <a:solidFill>
            <a:schemeClr val="bg1"/>
          </a:solidFill>
          <a:ln/>
          <a:effectLst>
            <a:outerShdw blurRad="50800" dist="50800" dir="5400000" algn="ctr" rotWithShape="0">
              <a:srgbClr val="000000">
                <a:alpha val="8744"/>
              </a:srgbClr>
            </a:outerShdw>
          </a:effectLst>
        </p:spPr>
      </p:sp>
      <p:pic>
        <p:nvPicPr>
          <p:cNvPr id="81" name="Image 14" descr="preencoded.png"/>
          <p:cNvPicPr>
            <a:picLocks noChangeAspect="1"/>
          </p:cNvPicPr>
          <p:nvPr/>
        </p:nvPicPr>
        <p:blipFill>
          <a:blip r:embed="rId16"/>
          <a:srcRect l="-881" r="-881"/>
          <a:stretch/>
        </p:blipFill>
        <p:spPr>
          <a:xfrm>
            <a:off x="1009496" y="6047841"/>
            <a:ext cx="242683" cy="267005"/>
          </a:xfrm>
          <a:prstGeom prst="rect">
            <a:avLst/>
          </a:prstGeom>
        </p:spPr>
      </p:pic>
      <p:sp>
        <p:nvSpPr>
          <p:cNvPr id="82" name="Text 65"/>
          <p:cNvSpPr txBox="1"/>
          <p:nvPr/>
        </p:nvSpPr>
        <p:spPr>
          <a:xfrm>
            <a:off x="1399945" y="6037783"/>
            <a:ext cx="421614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Общий объем интеграции на 2026 год</a:t>
            </a:r>
            <a:endParaRPr lang="en-US" sz="1500" dirty="0">
              <a:latin typeface="Montserrat" pitchFamily="2" charset="0"/>
            </a:endParaRPr>
          </a:p>
        </p:txBody>
      </p:sp>
      <p:sp>
        <p:nvSpPr>
          <p:cNvPr id="83" name="Text 66"/>
          <p:cNvSpPr txBox="1"/>
          <p:nvPr/>
        </p:nvSpPr>
        <p:spPr>
          <a:xfrm>
            <a:off x="7991856" y="5994732"/>
            <a:ext cx="360663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32F2F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~ 45+ таблиц источника</a:t>
            </a:r>
            <a:endParaRPr lang="en-US" sz="2100" dirty="0">
              <a:latin typeface="Montserrat" pitchFamily="2" charset="0"/>
            </a:endParaRPr>
          </a:p>
        </p:txBody>
      </p:sp>
      <p:sp>
        <p:nvSpPr>
          <p:cNvPr id="84" name="Text 67"/>
          <p:cNvSpPr txBox="1"/>
          <p:nvPr/>
        </p:nvSpPr>
        <p:spPr>
          <a:xfrm>
            <a:off x="571499" y="6646637"/>
            <a:ext cx="246509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E9E9E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Интеграция из источника Onlinebank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85" name="Text 68"/>
          <p:cNvSpPr txBox="1"/>
          <p:nvPr/>
        </p:nvSpPr>
        <p:spPr>
          <a:xfrm>
            <a:off x="11549786" y="6646637"/>
            <a:ext cx="1558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E9E9E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3B338A7-5CC1-5376-49C6-A93CFC525BBD}"/>
              </a:ext>
            </a:extLst>
          </p:cNvPr>
          <p:cNvSpPr txBox="1"/>
          <p:nvPr/>
        </p:nvSpPr>
        <p:spPr>
          <a:xfrm>
            <a:off x="7186269" y="5030236"/>
            <a:ext cx="44010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buNone/>
            </a:pPr>
            <a:r>
              <a:rPr lang="ru-RU" sz="1200" b="1" i="0" dirty="0">
                <a:solidFill>
                  <a:srgbClr val="D32F2F"/>
                </a:solidFill>
                <a:effectLst/>
                <a:latin typeface="Montserrat" pitchFamily="2" charset="0"/>
              </a:rPr>
              <a:t>Итого из этих трёх направлений: 45 таблиц источника</a:t>
            </a:r>
          </a:p>
        </p:txBody>
      </p: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D1D11FAD-583A-1EEA-19E8-4CA03A362011}"/>
              </a:ext>
            </a:extLst>
          </p:cNvPr>
          <p:cNvGrpSpPr/>
          <p:nvPr/>
        </p:nvGrpSpPr>
        <p:grpSpPr>
          <a:xfrm>
            <a:off x="10491019" y="352044"/>
            <a:ext cx="1132834" cy="381305"/>
            <a:chOff x="10491019" y="352044"/>
            <a:chExt cx="1132834" cy="381305"/>
          </a:xfrm>
        </p:grpSpPr>
        <p:sp>
          <p:nvSpPr>
            <p:cNvPr id="94" name="Shape 3">
              <a:extLst>
                <a:ext uri="{FF2B5EF4-FFF2-40B4-BE49-F238E27FC236}">
                  <a16:creationId xmlns:a16="http://schemas.microsoft.com/office/drawing/2014/main" id="{17B2C27D-942A-C2DA-4C6A-92B80EC99428}"/>
                </a:ext>
              </a:extLst>
            </p:cNvPr>
            <p:cNvSpPr/>
            <p:nvPr/>
          </p:nvSpPr>
          <p:spPr>
            <a:xfrm>
              <a:off x="10491019" y="352044"/>
              <a:ext cx="1132834" cy="381305"/>
            </a:xfrm>
            <a:prstGeom prst="roundRect">
              <a:avLst>
                <a:gd name="adj" fmla="val 119904"/>
              </a:avLst>
            </a:prstGeom>
            <a:solidFill>
              <a:srgbClr val="00C853">
                <a:alpha val="5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 dirty="0"/>
            </a:p>
          </p:txBody>
        </p:sp>
        <p:sp>
          <p:nvSpPr>
            <p:cNvPr id="95" name="Text 4">
              <a:extLst>
                <a:ext uri="{FF2B5EF4-FFF2-40B4-BE49-F238E27FC236}">
                  <a16:creationId xmlns:a16="http://schemas.microsoft.com/office/drawing/2014/main" id="{328694C4-4464-A180-54F6-AA85A842D1EF}"/>
                </a:ext>
              </a:extLst>
            </p:cNvPr>
            <p:cNvSpPr txBox="1"/>
            <p:nvPr/>
          </p:nvSpPr>
          <p:spPr>
            <a:xfrm>
              <a:off x="10604297" y="352044"/>
              <a:ext cx="924458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E7D32"/>
                  </a:solidFill>
                  <a:latin typeface="Montserrat" pitchFamily="2" charset="0"/>
                  <a:ea typeface="Poppins" pitchFamily="34" charset="-122"/>
                  <a:cs typeface="Poppins" pitchFamily="34" charset="-120"/>
                </a:rPr>
                <a:t>Halyk Bank</a:t>
              </a:r>
              <a:endParaRPr lang="en-US" sz="120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 txBox="1"/>
          <p:nvPr/>
        </p:nvSpPr>
        <p:spPr>
          <a:xfrm>
            <a:off x="571500" y="286207"/>
            <a:ext cx="614385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latin typeface="Montserrat" pitchFamily="2" charset="0"/>
                <a:ea typeface="Poppins" pitchFamily="34" charset="-122"/>
                <a:cs typeface="Poppins" pitchFamily="34" charset="-120"/>
              </a:rPr>
              <a:t>Текущая схема взаимодействия</a:t>
            </a:r>
            <a:endParaRPr lang="en-US" sz="2700" dirty="0">
              <a:latin typeface="Montserrat" pitchFamily="2" charset="0"/>
            </a:endParaRPr>
          </a:p>
        </p:txBody>
      </p:sp>
      <p:pic>
        <p:nvPicPr>
          <p:cNvPr id="119" name="Image 10" descr="preencoded.png">
            <a:extLst>
              <a:ext uri="{FF2B5EF4-FFF2-40B4-BE49-F238E27FC236}">
                <a16:creationId xmlns:a16="http://schemas.microsoft.com/office/drawing/2014/main" id="{8515BD38-73BD-B6F8-34B6-62AC7194D4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7842769" y="1114338"/>
            <a:ext cx="4081009" cy="498072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51511" y="1280303"/>
            <a:ext cx="3562502" cy="457200"/>
          </a:xfrm>
          <a:prstGeom prst="roundRect">
            <a:avLst>
              <a:gd name="adj" fmla="val 33333"/>
            </a:avLst>
          </a:prstGeom>
          <a:solidFill>
            <a:srgbClr val="FFEB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71220" y="1394603"/>
            <a:ext cx="3105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32F2F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 Проблемные зоны</a:t>
            </a:r>
            <a:endParaRPr lang="en-US" sz="1200" dirty="0">
              <a:latin typeface="Montserrat" pitchFamily="2" charset="0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42620" y="1432094"/>
            <a:ext cx="152705" cy="152705"/>
          </a:xfrm>
          <a:prstGeom prst="rect">
            <a:avLst/>
          </a:prstGeom>
        </p:spPr>
      </p:pic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1717443" y="1684103"/>
            <a:ext cx="114300" cy="152705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61847" y="2698649"/>
            <a:ext cx="307013" cy="307013"/>
          </a:xfrm>
          <a:prstGeom prst="rect">
            <a:avLst/>
          </a:prstGeom>
        </p:spPr>
      </p:pic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1721815" y="5178217"/>
            <a:ext cx="114300" cy="15270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 rot="18900000">
            <a:off x="1497788" y="4360265"/>
            <a:ext cx="590702" cy="534010"/>
          </a:xfrm>
          <a:prstGeom prst="rect">
            <a:avLst/>
          </a:prstGeom>
          <a:noFill/>
          <a:ln/>
        </p:spPr>
        <p:txBody>
          <a:bodyPr vert="vert" wrap="square" lIns="0" tIns="0" rIns="0" bIns="0" rtlCol="0" anchor="t"/>
          <a:lstStyle/>
          <a:p>
            <a:pPr marL="0" indent="0" algn="ctr">
              <a:buNone/>
            </a:pPr>
            <a:endParaRPr lang="en-US" sz="800" dirty="0">
              <a:latin typeface="Montserrat" pitchFamily="2" charset="0"/>
            </a:endParaRPr>
          </a:p>
        </p:txBody>
      </p:sp>
      <p:sp>
        <p:nvSpPr>
          <p:cNvPr id="24" name="Text 15"/>
          <p:cNvSpPr txBox="1"/>
          <p:nvPr/>
        </p:nvSpPr>
        <p:spPr>
          <a:xfrm>
            <a:off x="2870273" y="3518746"/>
            <a:ext cx="43241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0000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Нет</a:t>
            </a:r>
            <a:endParaRPr lang="en-US" sz="1000" dirty="0">
              <a:solidFill>
                <a:srgbClr val="C00000"/>
              </a:solidFill>
              <a:latin typeface="Montserrat" pitchFamily="2" charset="0"/>
            </a:endParaRPr>
          </a:p>
        </p:txBody>
      </p:sp>
      <p:sp>
        <p:nvSpPr>
          <p:cNvPr id="25" name="Text 16"/>
          <p:cNvSpPr txBox="1"/>
          <p:nvPr/>
        </p:nvSpPr>
        <p:spPr>
          <a:xfrm>
            <a:off x="1395493" y="4258485"/>
            <a:ext cx="273981" cy="169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1C853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Да</a:t>
            </a:r>
            <a:endParaRPr lang="en-US" sz="1000" dirty="0">
              <a:solidFill>
                <a:srgbClr val="31C853"/>
              </a:solidFill>
              <a:latin typeface="Montserrat" pitchFamily="2" charset="0"/>
            </a:endParaRPr>
          </a:p>
        </p:txBody>
      </p:sp>
      <p:grpSp>
        <p:nvGrpSpPr>
          <p:cNvPr id="111" name="Группа 110">
            <a:extLst>
              <a:ext uri="{FF2B5EF4-FFF2-40B4-BE49-F238E27FC236}">
                <a16:creationId xmlns:a16="http://schemas.microsoft.com/office/drawing/2014/main" id="{31A4C043-D0DD-187E-1D02-10E905B32FED}"/>
              </a:ext>
            </a:extLst>
          </p:cNvPr>
          <p:cNvGrpSpPr/>
          <p:nvPr/>
        </p:nvGrpSpPr>
        <p:grpSpPr>
          <a:xfrm>
            <a:off x="8051511" y="1966103"/>
            <a:ext cx="3562502" cy="1094537"/>
            <a:chOff x="8064094" y="1772107"/>
            <a:chExt cx="3562502" cy="1094537"/>
          </a:xfrm>
        </p:grpSpPr>
        <p:sp>
          <p:nvSpPr>
            <p:cNvPr id="26" name="Shape 17"/>
            <p:cNvSpPr/>
            <p:nvPr/>
          </p:nvSpPr>
          <p:spPr>
            <a:xfrm>
              <a:off x="8064094" y="1772107"/>
              <a:ext cx="3562502" cy="1094537"/>
            </a:xfrm>
            <a:prstGeom prst="roundRect">
              <a:avLst>
                <a:gd name="adj" fmla="val 5189"/>
              </a:avLst>
            </a:prstGeom>
            <a:solidFill>
              <a:srgbClr val="FFFFFF"/>
            </a:solidFill>
            <a:ln w="12700">
              <a:solidFill>
                <a:srgbClr val="FFEBEE"/>
              </a:solidFill>
              <a:prstDash val="solid"/>
            </a:ln>
            <a:effectLst>
              <a:outerShdw blurRad="139700" dist="38100" dir="16200000" algn="bl" rotWithShape="0">
                <a:srgbClr val="FF5252">
                  <a:alpha val="8000"/>
                </a:srgbClr>
              </a:outerShdw>
            </a:effectLst>
          </p:spPr>
        </p:sp>
        <p:sp>
          <p:nvSpPr>
            <p:cNvPr id="27" name="Shape 18"/>
            <p:cNvSpPr/>
            <p:nvPr/>
          </p:nvSpPr>
          <p:spPr>
            <a:xfrm>
              <a:off x="11563502" y="1772107"/>
              <a:ext cx="45719" cy="1094537"/>
            </a:xfrm>
            <a:prstGeom prst="rect">
              <a:avLst/>
            </a:prstGeom>
            <a:solidFill>
              <a:srgbClr val="FF5252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8" name="Shape 19"/>
            <p:cNvSpPr/>
            <p:nvPr/>
          </p:nvSpPr>
          <p:spPr>
            <a:xfrm>
              <a:off x="8226857" y="1933956"/>
              <a:ext cx="381305" cy="381305"/>
            </a:xfrm>
            <a:prstGeom prst="ellipse">
              <a:avLst/>
            </a:prstGeom>
            <a:solidFill>
              <a:srgbClr val="FFEBE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29" name="Image 7" descr="preencoded.png"/>
            <p:cNvPicPr>
              <a:picLocks noChangeAspect="1"/>
            </p:cNvPicPr>
            <p:nvPr/>
          </p:nvPicPr>
          <p:blipFill>
            <a:blip r:embed="rId7"/>
            <a:srcRect l="-80" r="-80"/>
            <a:stretch/>
          </p:blipFill>
          <p:spPr>
            <a:xfrm>
              <a:off x="8274406" y="2009851"/>
              <a:ext cx="286207" cy="228600"/>
            </a:xfrm>
            <a:prstGeom prst="rect">
              <a:avLst/>
            </a:prstGeom>
          </p:spPr>
        </p:pic>
        <p:sp>
          <p:nvSpPr>
            <p:cNvPr id="30" name="Text 20"/>
            <p:cNvSpPr txBox="1"/>
            <p:nvPr/>
          </p:nvSpPr>
          <p:spPr>
            <a:xfrm>
              <a:off x="8770925" y="2019145"/>
              <a:ext cx="148833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C62828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Нет консультантов</a:t>
              </a:r>
              <a:endParaRPr lang="en-US" sz="1100" dirty="0">
                <a:latin typeface="Montserrat" pitchFamily="2" charset="0"/>
              </a:endParaRPr>
            </a:p>
          </p:txBody>
        </p:sp>
        <p:sp>
          <p:nvSpPr>
            <p:cNvPr id="31" name="Text 21"/>
            <p:cNvSpPr txBox="1"/>
            <p:nvPr/>
          </p:nvSpPr>
          <p:spPr>
            <a:xfrm>
              <a:off x="8246059" y="2406320"/>
              <a:ext cx="3314700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555555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Отсутствие выделенных экспертов (архитектор, data steward) от источника.</a:t>
              </a:r>
              <a:endParaRPr lang="en-US" sz="900" dirty="0">
                <a:latin typeface="Montserrat" pitchFamily="2" charset="0"/>
              </a:endParaRPr>
            </a:p>
          </p:txBody>
        </p:sp>
      </p:grpSp>
      <p:grpSp>
        <p:nvGrpSpPr>
          <p:cNvPr id="110" name="Группа 109">
            <a:extLst>
              <a:ext uri="{FF2B5EF4-FFF2-40B4-BE49-F238E27FC236}">
                <a16:creationId xmlns:a16="http://schemas.microsoft.com/office/drawing/2014/main" id="{0842B2E8-682D-A6F1-1B1B-9CCADBD665B6}"/>
              </a:ext>
            </a:extLst>
          </p:cNvPr>
          <p:cNvGrpSpPr/>
          <p:nvPr/>
        </p:nvGrpSpPr>
        <p:grpSpPr>
          <a:xfrm>
            <a:off x="8051511" y="3245806"/>
            <a:ext cx="3562502" cy="1094537"/>
            <a:chOff x="8064094" y="3342132"/>
            <a:chExt cx="3562502" cy="1094537"/>
          </a:xfrm>
        </p:grpSpPr>
        <p:sp>
          <p:nvSpPr>
            <p:cNvPr id="32" name="Shape 22"/>
            <p:cNvSpPr/>
            <p:nvPr/>
          </p:nvSpPr>
          <p:spPr>
            <a:xfrm>
              <a:off x="8064094" y="3342132"/>
              <a:ext cx="3562502" cy="1094537"/>
            </a:xfrm>
            <a:prstGeom prst="roundRect">
              <a:avLst>
                <a:gd name="adj" fmla="val 5189"/>
              </a:avLst>
            </a:prstGeom>
            <a:solidFill>
              <a:srgbClr val="FFFFFF"/>
            </a:solidFill>
            <a:ln w="12700">
              <a:solidFill>
                <a:srgbClr val="FFEBEE"/>
              </a:solidFill>
              <a:prstDash val="solid"/>
            </a:ln>
            <a:effectLst>
              <a:outerShdw blurRad="139700" dist="38100" dir="16200000" algn="bl" rotWithShape="0">
                <a:srgbClr val="FF5252">
                  <a:alpha val="8000"/>
                </a:srgbClr>
              </a:outerShdw>
            </a:effectLst>
          </p:spPr>
        </p:sp>
        <p:sp>
          <p:nvSpPr>
            <p:cNvPr id="33" name="Shape 23"/>
            <p:cNvSpPr/>
            <p:nvPr/>
          </p:nvSpPr>
          <p:spPr>
            <a:xfrm>
              <a:off x="11563502" y="3342132"/>
              <a:ext cx="45719" cy="1086307"/>
            </a:xfrm>
            <a:prstGeom prst="rect">
              <a:avLst/>
            </a:prstGeom>
            <a:solidFill>
              <a:srgbClr val="FF5252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34" name="Shape 24"/>
            <p:cNvSpPr/>
            <p:nvPr/>
          </p:nvSpPr>
          <p:spPr>
            <a:xfrm>
              <a:off x="8226857" y="3503981"/>
              <a:ext cx="381305" cy="381305"/>
            </a:xfrm>
            <a:prstGeom prst="ellipse">
              <a:avLst/>
            </a:prstGeom>
            <a:solidFill>
              <a:srgbClr val="FFEBE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35" name="Image 8" descr="preencoded.png"/>
            <p:cNvPicPr>
              <a:picLocks noChangeAspect="1"/>
            </p:cNvPicPr>
            <p:nvPr/>
          </p:nvPicPr>
          <p:blipFill>
            <a:blip r:embed="rId8"/>
            <a:srcRect t="-45" b="-45"/>
            <a:stretch/>
          </p:blipFill>
          <p:spPr>
            <a:xfrm>
              <a:off x="8288122" y="3580790"/>
              <a:ext cx="256946" cy="228600"/>
            </a:xfrm>
            <a:prstGeom prst="rect">
              <a:avLst/>
            </a:prstGeom>
          </p:spPr>
        </p:pic>
        <p:sp>
          <p:nvSpPr>
            <p:cNvPr id="36" name="Text 25"/>
            <p:cNvSpPr txBox="1"/>
            <p:nvPr/>
          </p:nvSpPr>
          <p:spPr>
            <a:xfrm>
              <a:off x="8770925" y="3589934"/>
              <a:ext cx="1610355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C62828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Сложная структура</a:t>
              </a:r>
              <a:endParaRPr lang="en-US" sz="1100" dirty="0">
                <a:latin typeface="Montserrat" pitchFamily="2" charset="0"/>
              </a:endParaRPr>
            </a:p>
          </p:txBody>
        </p:sp>
        <p:sp>
          <p:nvSpPr>
            <p:cNvPr id="37" name="Text 26"/>
            <p:cNvSpPr txBox="1"/>
            <p:nvPr/>
          </p:nvSpPr>
          <p:spPr>
            <a:xfrm>
              <a:off x="8246059" y="3979926"/>
              <a:ext cx="3314700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555555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Множество БД, непонятные названия таблиц, отсутствие связей.</a:t>
              </a:r>
              <a:endParaRPr lang="en-US" sz="900" dirty="0">
                <a:latin typeface="Montserrat" pitchFamily="2" charset="0"/>
              </a:endParaRPr>
            </a:p>
          </p:txBody>
        </p:sp>
      </p:grpSp>
      <p:grpSp>
        <p:nvGrpSpPr>
          <p:cNvPr id="112" name="Группа 111">
            <a:extLst>
              <a:ext uri="{FF2B5EF4-FFF2-40B4-BE49-F238E27FC236}">
                <a16:creationId xmlns:a16="http://schemas.microsoft.com/office/drawing/2014/main" id="{C0B11595-633C-8B95-4939-1AC0FD83ECA6}"/>
              </a:ext>
            </a:extLst>
          </p:cNvPr>
          <p:cNvGrpSpPr/>
          <p:nvPr/>
        </p:nvGrpSpPr>
        <p:grpSpPr>
          <a:xfrm>
            <a:off x="8051511" y="4573827"/>
            <a:ext cx="3562502" cy="1094539"/>
            <a:chOff x="8064094" y="4913071"/>
            <a:chExt cx="3562502" cy="1094539"/>
          </a:xfrm>
        </p:grpSpPr>
        <p:sp>
          <p:nvSpPr>
            <p:cNvPr id="38" name="Shape 27"/>
            <p:cNvSpPr/>
            <p:nvPr/>
          </p:nvSpPr>
          <p:spPr>
            <a:xfrm>
              <a:off x="8064094" y="4913072"/>
              <a:ext cx="3562502" cy="1094538"/>
            </a:xfrm>
            <a:prstGeom prst="roundRect">
              <a:avLst>
                <a:gd name="adj" fmla="val 5189"/>
              </a:avLst>
            </a:prstGeom>
            <a:solidFill>
              <a:srgbClr val="FFFFFF"/>
            </a:solidFill>
            <a:ln w="12700">
              <a:solidFill>
                <a:srgbClr val="FFEBEE"/>
              </a:solidFill>
              <a:prstDash val="solid"/>
            </a:ln>
            <a:effectLst>
              <a:outerShdw blurRad="139700" dist="38100" dir="16200000" algn="bl" rotWithShape="0">
                <a:srgbClr val="FF5252">
                  <a:alpha val="8000"/>
                </a:srgbClr>
              </a:outerShdw>
            </a:effectLst>
          </p:spPr>
        </p:sp>
        <p:sp>
          <p:nvSpPr>
            <p:cNvPr id="39" name="Shape 28"/>
            <p:cNvSpPr/>
            <p:nvPr/>
          </p:nvSpPr>
          <p:spPr>
            <a:xfrm>
              <a:off x="11563502" y="4913071"/>
              <a:ext cx="45719" cy="1064895"/>
            </a:xfrm>
            <a:prstGeom prst="rect">
              <a:avLst/>
            </a:prstGeom>
            <a:solidFill>
              <a:srgbClr val="FF5252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40" name="Shape 29"/>
            <p:cNvSpPr/>
            <p:nvPr/>
          </p:nvSpPr>
          <p:spPr>
            <a:xfrm>
              <a:off x="8226857" y="5074920"/>
              <a:ext cx="381305" cy="381305"/>
            </a:xfrm>
            <a:prstGeom prst="ellipse">
              <a:avLst/>
            </a:prstGeom>
            <a:solidFill>
              <a:srgbClr val="FFEBE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41" name="Image 9" descr="preencoded.png"/>
            <p:cNvPicPr>
              <a:picLocks noChangeAspect="1"/>
            </p:cNvPicPr>
            <p:nvPr/>
          </p:nvPicPr>
          <p:blipFill>
            <a:blip r:embed="rId9"/>
            <a:srcRect l="-57" r="-57"/>
            <a:stretch/>
          </p:blipFill>
          <p:spPr>
            <a:xfrm>
              <a:off x="8317382" y="5150815"/>
              <a:ext cx="200254" cy="228600"/>
            </a:xfrm>
            <a:prstGeom prst="rect">
              <a:avLst/>
            </a:prstGeom>
          </p:spPr>
        </p:pic>
        <p:sp>
          <p:nvSpPr>
            <p:cNvPr id="42" name="Text 30"/>
            <p:cNvSpPr txBox="1"/>
            <p:nvPr/>
          </p:nvSpPr>
          <p:spPr>
            <a:xfrm>
              <a:off x="8770926" y="5137352"/>
              <a:ext cx="148833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C62828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Нет документации</a:t>
              </a:r>
              <a:endParaRPr lang="en-US" sz="1100" dirty="0">
                <a:latin typeface="Montserrat" pitchFamily="2" charset="0"/>
              </a:endParaRPr>
            </a:p>
          </p:txBody>
        </p:sp>
        <p:sp>
          <p:nvSpPr>
            <p:cNvPr id="43" name="Text 31"/>
            <p:cNvSpPr txBox="1"/>
            <p:nvPr/>
          </p:nvSpPr>
          <p:spPr>
            <a:xfrm>
              <a:off x="8226857" y="5554137"/>
              <a:ext cx="3314700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555555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Отсутствие актуальных ER-диаграмм и описания маршрутов.</a:t>
              </a:r>
              <a:endParaRPr lang="en-US" sz="900" dirty="0">
                <a:latin typeface="Montserrat" pitchFamily="2" charset="0"/>
              </a:endParaRPr>
            </a:p>
          </p:txBody>
        </p:sp>
      </p:grpSp>
      <p:grpSp>
        <p:nvGrpSpPr>
          <p:cNvPr id="113" name="Группа 112">
            <a:extLst>
              <a:ext uri="{FF2B5EF4-FFF2-40B4-BE49-F238E27FC236}">
                <a16:creationId xmlns:a16="http://schemas.microsoft.com/office/drawing/2014/main" id="{834A108A-E750-F273-C15B-279BEB99001C}"/>
              </a:ext>
            </a:extLst>
          </p:cNvPr>
          <p:cNvGrpSpPr/>
          <p:nvPr/>
        </p:nvGrpSpPr>
        <p:grpSpPr>
          <a:xfrm>
            <a:off x="3881102" y="5042625"/>
            <a:ext cx="3178967" cy="886054"/>
            <a:chOff x="8064094" y="6484010"/>
            <a:chExt cx="3178967" cy="886054"/>
          </a:xfrm>
        </p:grpSpPr>
        <p:sp>
          <p:nvSpPr>
            <p:cNvPr id="14" name="Shape 10"/>
            <p:cNvSpPr/>
            <p:nvPr/>
          </p:nvSpPr>
          <p:spPr>
            <a:xfrm>
              <a:off x="8064094" y="6484010"/>
              <a:ext cx="3178967" cy="886054"/>
            </a:xfrm>
            <a:prstGeom prst="roundRect">
              <a:avLst>
                <a:gd name="adj" fmla="val 13316"/>
              </a:avLst>
            </a:prstGeom>
            <a:solidFill>
              <a:srgbClr val="263238">
                <a:alpha val="77181"/>
              </a:srgbClr>
            </a:solidFill>
            <a:ln w="19050">
              <a:solidFill>
                <a:srgbClr val="C00000"/>
              </a:solidFill>
              <a:prstDash val="sysDot"/>
            </a:ln>
          </p:spPr>
          <p:txBody>
            <a:bodyPr/>
            <a:lstStyle/>
            <a:p>
              <a:endParaRPr lang="ru-KZ" dirty="0"/>
            </a:p>
          </p:txBody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8216798" y="6655003"/>
              <a:ext cx="190195" cy="190195"/>
            </a:xfrm>
            <a:prstGeom prst="rect">
              <a:avLst/>
            </a:prstGeom>
            <a:ln w="19050">
              <a:noFill/>
              <a:prstDash val="sysDot"/>
            </a:ln>
          </p:spPr>
        </p:pic>
        <p:sp>
          <p:nvSpPr>
            <p:cNvPr id="16" name="Text 11"/>
            <p:cNvSpPr txBox="1"/>
            <p:nvPr/>
          </p:nvSpPr>
          <p:spPr>
            <a:xfrm>
              <a:off x="8521294" y="6635801"/>
              <a:ext cx="2295323" cy="200254"/>
            </a:xfrm>
            <a:prstGeom prst="rect">
              <a:avLst/>
            </a:prstGeom>
            <a:noFill/>
            <a:ln w="19050">
              <a:noFill/>
              <a:prstDash val="sysDot"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Последствия: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44" name="Text 32"/>
            <p:cNvSpPr txBox="1"/>
            <p:nvPr/>
          </p:nvSpPr>
          <p:spPr>
            <a:xfrm>
              <a:off x="8521295" y="6874459"/>
              <a:ext cx="2485678" cy="342900"/>
            </a:xfrm>
            <a:prstGeom prst="rect">
              <a:avLst/>
            </a:prstGeom>
            <a:noFill/>
            <a:ln w="19050">
              <a:noFill/>
              <a:prstDash val="sysDot"/>
            </a:ln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FFFFF">
                      <a:alpha val="90000"/>
                    </a:srgbClr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Анализ "вслепую", ошибки в ТЗ, переделки и срыв сроков интеграции.</a:t>
              </a:r>
              <a:endParaRPr lang="en-US" sz="900" dirty="0">
                <a:latin typeface="Montserrat" pitchFamily="2" charset="0"/>
              </a:endParaRPr>
            </a:p>
          </p:txBody>
        </p:sp>
      </p:grpSp>
      <p:sp>
        <p:nvSpPr>
          <p:cNvPr id="45" name="Shape 33"/>
          <p:cNvSpPr/>
          <p:nvPr/>
        </p:nvSpPr>
        <p:spPr>
          <a:xfrm>
            <a:off x="2178210" y="1108469"/>
            <a:ext cx="3914546" cy="562356"/>
          </a:xfrm>
          <a:prstGeom prst="roundRect">
            <a:avLst>
              <a:gd name="adj" fmla="val 3307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2340058" y="123557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1"/>
          <a:srcRect l="-2512" r="-2512"/>
          <a:stretch/>
        </p:blipFill>
        <p:spPr>
          <a:xfrm>
            <a:off x="2440642" y="1321524"/>
            <a:ext cx="105156" cy="133502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2759768" y="1232827"/>
            <a:ext cx="32863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1. Формирование БТ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9" name="Text 36"/>
          <p:cNvSpPr txBox="1"/>
          <p:nvPr/>
        </p:nvSpPr>
        <p:spPr>
          <a:xfrm>
            <a:off x="2759768" y="1400163"/>
            <a:ext cx="32863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57575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Запрос на данные для аналитики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50" name="Text 37"/>
          <p:cNvSpPr txBox="1"/>
          <p:nvPr/>
        </p:nvSpPr>
        <p:spPr>
          <a:xfrm>
            <a:off x="2378463" y="1036250"/>
            <a:ext cx="1057961" cy="13620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9"/>
            </a:solidFill>
          </a:ln>
        </p:spPr>
        <p:txBody>
          <a:bodyPr wrap="square" lIns="0" tIns="0" rIns="0" bIns="0" rtlCol="0" anchor="ctr" anchorCtr="1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7D32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Бизнес-заказчик</a:t>
            </a:r>
            <a:endParaRPr lang="en-US" sz="800" dirty="0">
              <a:latin typeface="Montserrat" pitchFamily="2" charset="0"/>
            </a:endParaRPr>
          </a:p>
        </p:txBody>
      </p: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FC371937-B777-24A1-3472-AC8915F405CE}"/>
              </a:ext>
            </a:extLst>
          </p:cNvPr>
          <p:cNvGrpSpPr/>
          <p:nvPr/>
        </p:nvGrpSpPr>
        <p:grpSpPr>
          <a:xfrm>
            <a:off x="244887" y="1822568"/>
            <a:ext cx="3133649" cy="635489"/>
            <a:chOff x="521208" y="2441922"/>
            <a:chExt cx="3133649" cy="635489"/>
          </a:xfrm>
        </p:grpSpPr>
        <p:sp>
          <p:nvSpPr>
            <p:cNvPr id="51" name="Shape 38"/>
            <p:cNvSpPr/>
            <p:nvPr/>
          </p:nvSpPr>
          <p:spPr>
            <a:xfrm>
              <a:off x="521208" y="2515055"/>
              <a:ext cx="3133649" cy="562356"/>
            </a:xfrm>
            <a:prstGeom prst="roundRect">
              <a:avLst>
                <a:gd name="adj" fmla="val 33072"/>
              </a:avLst>
            </a:prstGeom>
            <a:solidFill>
              <a:srgbClr val="FFFFFF"/>
            </a:solidFill>
            <a:ln w="12700">
              <a:solidFill>
                <a:srgbClr val="E0E0E0"/>
              </a:solidFill>
              <a:prstDash val="solid"/>
            </a:ln>
            <a:effectLst>
              <a:outerShdw blurRad="101600" dist="38100" dir="16200000" algn="bl" rotWithShape="0">
                <a:srgbClr val="000000">
                  <a:alpha val="3000"/>
                </a:srgbClr>
              </a:outerShdw>
            </a:effectLst>
          </p:spPr>
        </p:sp>
        <p:sp>
          <p:nvSpPr>
            <p:cNvPr id="52" name="Shape 39"/>
            <p:cNvSpPr/>
            <p:nvPr/>
          </p:nvSpPr>
          <p:spPr>
            <a:xfrm>
              <a:off x="683057" y="2641242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00C853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53" name="Image 11" descr="preencoded.png"/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769011" y="2727196"/>
              <a:ext cx="133502" cy="133502"/>
            </a:xfrm>
            <a:prstGeom prst="rect">
              <a:avLst/>
            </a:prstGeom>
          </p:spPr>
        </p:pic>
        <p:sp>
          <p:nvSpPr>
            <p:cNvPr id="54" name="Text 40"/>
            <p:cNvSpPr txBox="1"/>
            <p:nvPr/>
          </p:nvSpPr>
          <p:spPr>
            <a:xfrm>
              <a:off x="1101852" y="2638499"/>
              <a:ext cx="2487168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2E7D32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2. Анализ БТ</a:t>
              </a:r>
              <a:endParaRPr lang="en-US" sz="900" dirty="0">
                <a:latin typeface="Montserrat" pitchFamily="2" charset="0"/>
              </a:endParaRPr>
            </a:p>
          </p:txBody>
        </p:sp>
        <p:sp>
          <p:nvSpPr>
            <p:cNvPr id="55" name="Text 41"/>
            <p:cNvSpPr txBox="1"/>
            <p:nvPr/>
          </p:nvSpPr>
          <p:spPr>
            <a:xfrm>
              <a:off x="1101852" y="2805834"/>
              <a:ext cx="2487168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757575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Изучение требований</a:t>
              </a:r>
              <a:endParaRPr lang="en-US" sz="800" dirty="0">
                <a:latin typeface="Montserrat" pitchFamily="2" charset="0"/>
              </a:endParaRPr>
            </a:p>
          </p:txBody>
        </p:sp>
        <p:sp>
          <p:nvSpPr>
            <p:cNvPr id="56" name="Text 42"/>
            <p:cNvSpPr txBox="1"/>
            <p:nvPr/>
          </p:nvSpPr>
          <p:spPr>
            <a:xfrm>
              <a:off x="721462" y="2441922"/>
              <a:ext cx="981151" cy="136208"/>
            </a:xfrm>
            <a:prstGeom prst="roundRect">
              <a:avLst/>
            </a:prstGeom>
            <a:solidFill>
              <a:srgbClr val="E8F5E9"/>
            </a:solidFill>
            <a:ln w="12700">
              <a:solidFill>
                <a:srgbClr val="C8E6C9"/>
              </a:solidFill>
            </a:ln>
          </p:spPr>
          <p:txBody>
            <a:bodyPr wrap="square" lIns="0" tIns="0" rIns="0" bIns="0" rtlCol="0" anchor="ctr" anchorCtr="1">
              <a:spAutoFit/>
            </a:bodyPr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2E7D32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Команда ДТПД</a:t>
              </a:r>
              <a:endParaRPr lang="en-US" sz="800" dirty="0">
                <a:latin typeface="Montserrat" pitchFamily="2" charset="0"/>
              </a:endParaRPr>
            </a:p>
          </p:txBody>
        </p:sp>
      </p:grpSp>
      <p:grpSp>
        <p:nvGrpSpPr>
          <p:cNvPr id="83" name="Группа 82">
            <a:extLst>
              <a:ext uri="{FF2B5EF4-FFF2-40B4-BE49-F238E27FC236}">
                <a16:creationId xmlns:a16="http://schemas.microsoft.com/office/drawing/2014/main" id="{7E96EE4E-7997-C608-BD2D-4C4A54CD09CD}"/>
              </a:ext>
            </a:extLst>
          </p:cNvPr>
          <p:cNvGrpSpPr/>
          <p:nvPr/>
        </p:nvGrpSpPr>
        <p:grpSpPr>
          <a:xfrm>
            <a:off x="245517" y="2684365"/>
            <a:ext cx="3133649" cy="562356"/>
            <a:chOff x="699059" y="3588562"/>
            <a:chExt cx="3133649" cy="562356"/>
          </a:xfrm>
        </p:grpSpPr>
        <p:sp>
          <p:nvSpPr>
            <p:cNvPr id="57" name="Shape 43"/>
            <p:cNvSpPr/>
            <p:nvPr/>
          </p:nvSpPr>
          <p:spPr>
            <a:xfrm>
              <a:off x="699059" y="3588562"/>
              <a:ext cx="3133649" cy="562356"/>
            </a:xfrm>
            <a:prstGeom prst="roundRect">
              <a:avLst>
                <a:gd name="adj" fmla="val 33072"/>
              </a:avLst>
            </a:prstGeom>
            <a:solidFill>
              <a:srgbClr val="FFFFFF"/>
            </a:solidFill>
            <a:ln w="12700">
              <a:solidFill>
                <a:srgbClr val="E0E0E0"/>
              </a:solidFill>
              <a:prstDash val="solid"/>
            </a:ln>
            <a:effectLst>
              <a:outerShdw blurRad="101600" dist="38100" dir="16200000" algn="bl" rotWithShape="0">
                <a:srgbClr val="000000">
                  <a:alpha val="3000"/>
                </a:srgbClr>
              </a:outerShdw>
            </a:effectLst>
          </p:spPr>
        </p:sp>
        <p:sp>
          <p:nvSpPr>
            <p:cNvPr id="58" name="Shape 44"/>
            <p:cNvSpPr/>
            <p:nvPr/>
          </p:nvSpPr>
          <p:spPr>
            <a:xfrm>
              <a:off x="860908" y="3714749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00C853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59" name="Image 12" descr="preencoded.png"/>
            <p:cNvPicPr>
              <a:picLocks noChangeAspect="1"/>
            </p:cNvPicPr>
            <p:nvPr/>
          </p:nvPicPr>
          <p:blipFill>
            <a:blip r:embed="rId13"/>
            <a:srcRect t="-1100" b="-1100"/>
            <a:stretch/>
          </p:blipFill>
          <p:spPr>
            <a:xfrm>
              <a:off x="956006" y="3800703"/>
              <a:ext cx="114300" cy="133502"/>
            </a:xfrm>
            <a:prstGeom prst="rect">
              <a:avLst/>
            </a:prstGeom>
          </p:spPr>
        </p:pic>
        <p:sp>
          <p:nvSpPr>
            <p:cNvPr id="60" name="Text 45"/>
            <p:cNvSpPr txBox="1"/>
            <p:nvPr/>
          </p:nvSpPr>
          <p:spPr>
            <a:xfrm>
              <a:off x="1279703" y="3712006"/>
              <a:ext cx="2487168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2E7D32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3. Проверка в EDW/ODS</a:t>
              </a:r>
              <a:endParaRPr lang="en-US" sz="900" dirty="0">
                <a:latin typeface="Montserrat" pitchFamily="2" charset="0"/>
              </a:endParaRPr>
            </a:p>
          </p:txBody>
        </p:sp>
        <p:sp>
          <p:nvSpPr>
            <p:cNvPr id="61" name="Text 46"/>
            <p:cNvSpPr txBox="1"/>
            <p:nvPr/>
          </p:nvSpPr>
          <p:spPr>
            <a:xfrm>
              <a:off x="1279703" y="3880256"/>
              <a:ext cx="2487168" cy="143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757575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Есть ли данные в хранилище?</a:t>
              </a:r>
              <a:endParaRPr lang="en-US" sz="800" dirty="0">
                <a:latin typeface="Montserrat" pitchFamily="2" charset="0"/>
              </a:endParaRPr>
            </a:p>
          </p:txBody>
        </p:sp>
      </p:grpSp>
      <p:grpSp>
        <p:nvGrpSpPr>
          <p:cNvPr id="84" name="Группа 83">
            <a:extLst>
              <a:ext uri="{FF2B5EF4-FFF2-40B4-BE49-F238E27FC236}">
                <a16:creationId xmlns:a16="http://schemas.microsoft.com/office/drawing/2014/main" id="{4BE6B2D1-59DE-119D-5AC1-75DF8006D96B}"/>
              </a:ext>
            </a:extLst>
          </p:cNvPr>
          <p:cNvGrpSpPr/>
          <p:nvPr/>
        </p:nvGrpSpPr>
        <p:grpSpPr>
          <a:xfrm>
            <a:off x="3834177" y="3411590"/>
            <a:ext cx="3133649" cy="640116"/>
            <a:chOff x="4090569" y="2724875"/>
            <a:chExt cx="3133649" cy="640116"/>
          </a:xfrm>
        </p:grpSpPr>
        <p:sp>
          <p:nvSpPr>
            <p:cNvPr id="62" name="Shape 47"/>
            <p:cNvSpPr/>
            <p:nvPr/>
          </p:nvSpPr>
          <p:spPr>
            <a:xfrm>
              <a:off x="4090569" y="2812692"/>
              <a:ext cx="3133649" cy="552299"/>
            </a:xfrm>
            <a:prstGeom prst="roundRect">
              <a:avLst>
                <a:gd name="adj" fmla="val 17136"/>
              </a:avLst>
            </a:prstGeom>
            <a:solidFill>
              <a:srgbClr val="FFEBEE"/>
            </a:solidFill>
            <a:ln w="12700">
              <a:solidFill>
                <a:srgbClr val="FFCDD2"/>
              </a:solidFill>
              <a:prstDash val="solid"/>
            </a:ln>
            <a:effectLst>
              <a:outerShdw blurRad="101600" dist="38100" dir="16200000" algn="bl" rotWithShape="0">
                <a:srgbClr val="000000">
                  <a:alpha val="3000"/>
                </a:srgbClr>
              </a:outerShdw>
            </a:effectLst>
          </p:spPr>
        </p:sp>
        <p:sp>
          <p:nvSpPr>
            <p:cNvPr id="63" name="Shape 48"/>
            <p:cNvSpPr/>
            <p:nvPr/>
          </p:nvSpPr>
          <p:spPr>
            <a:xfrm>
              <a:off x="4252418" y="2887217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D32F2F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64" name="Image 13" descr="preencoded.png"/>
            <p:cNvPicPr>
              <a:picLocks noChangeAspect="1"/>
            </p:cNvPicPr>
            <p:nvPr/>
          </p:nvPicPr>
          <p:blipFill>
            <a:blip r:embed="rId14"/>
            <a:srcRect l="-1507" r="-1507"/>
            <a:stretch/>
          </p:blipFill>
          <p:spPr>
            <a:xfrm>
              <a:off x="4319169" y="2973171"/>
              <a:ext cx="171907" cy="133502"/>
            </a:xfrm>
            <a:prstGeom prst="rect">
              <a:avLst/>
            </a:prstGeom>
          </p:spPr>
        </p:pic>
        <p:sp>
          <p:nvSpPr>
            <p:cNvPr id="65" name="Text 49"/>
            <p:cNvSpPr txBox="1"/>
            <p:nvPr/>
          </p:nvSpPr>
          <p:spPr>
            <a:xfrm>
              <a:off x="4671213" y="2887217"/>
              <a:ext cx="2487168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D32F2F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4. Системный анализ источника</a:t>
              </a:r>
              <a:endParaRPr lang="en-US" sz="900" dirty="0">
                <a:latin typeface="Montserrat" pitchFamily="2" charset="0"/>
              </a:endParaRPr>
            </a:p>
          </p:txBody>
        </p:sp>
        <p:sp>
          <p:nvSpPr>
            <p:cNvPr id="66" name="Text 50"/>
            <p:cNvSpPr txBox="1"/>
            <p:nvPr/>
          </p:nvSpPr>
          <p:spPr>
            <a:xfrm>
              <a:off x="4671213" y="3055467"/>
              <a:ext cx="2467051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757575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При отсутствии данных в ХД. Требует изучения БД источника.</a:t>
              </a:r>
              <a:endParaRPr lang="en-US" sz="800" dirty="0">
                <a:latin typeface="Montserrat" pitchFamily="2" charset="0"/>
              </a:endParaRPr>
            </a:p>
          </p:txBody>
        </p:sp>
        <p:sp>
          <p:nvSpPr>
            <p:cNvPr id="67" name="Text 51"/>
            <p:cNvSpPr txBox="1"/>
            <p:nvPr/>
          </p:nvSpPr>
          <p:spPr>
            <a:xfrm>
              <a:off x="4227729" y="2724875"/>
              <a:ext cx="829361" cy="136208"/>
            </a:xfrm>
            <a:prstGeom prst="roundRect">
              <a:avLst/>
            </a:prstGeom>
            <a:solidFill>
              <a:srgbClr val="FFEBEE"/>
            </a:solidFill>
            <a:ln w="12700">
              <a:solidFill>
                <a:srgbClr val="FFCDD2"/>
              </a:solidFill>
            </a:ln>
          </p:spPr>
          <p:txBody>
            <a:bodyPr wrap="square" lIns="0" tIns="0" rIns="0" bIns="0" rtlCol="0" anchor="ctr" anchorCtr="1">
              <a:spAutoFit/>
            </a:bodyPr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D32F2F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Узкое место</a:t>
              </a:r>
              <a:endParaRPr lang="en-US" sz="800" dirty="0">
                <a:latin typeface="Montserrat" pitchFamily="2" charset="0"/>
              </a:endParaRPr>
            </a:p>
          </p:txBody>
        </p:sp>
      </p:grpSp>
      <p:grpSp>
        <p:nvGrpSpPr>
          <p:cNvPr id="89" name="Группа 88">
            <a:extLst>
              <a:ext uri="{FF2B5EF4-FFF2-40B4-BE49-F238E27FC236}">
                <a16:creationId xmlns:a16="http://schemas.microsoft.com/office/drawing/2014/main" id="{B551F369-8AE1-C0FE-6885-15FC8CE4CC0A}"/>
              </a:ext>
            </a:extLst>
          </p:cNvPr>
          <p:cNvGrpSpPr/>
          <p:nvPr/>
        </p:nvGrpSpPr>
        <p:grpSpPr>
          <a:xfrm>
            <a:off x="247047" y="4559269"/>
            <a:ext cx="3131489" cy="552298"/>
            <a:chOff x="3309443" y="7474930"/>
            <a:chExt cx="3131489" cy="552298"/>
          </a:xfrm>
        </p:grpSpPr>
        <p:sp>
          <p:nvSpPr>
            <p:cNvPr id="68" name="Shape 52"/>
            <p:cNvSpPr/>
            <p:nvPr/>
          </p:nvSpPr>
          <p:spPr>
            <a:xfrm>
              <a:off x="3309443" y="7474930"/>
              <a:ext cx="3131489" cy="552298"/>
            </a:xfrm>
            <a:prstGeom prst="roundRect">
              <a:avLst>
                <a:gd name="adj" fmla="val 34254"/>
              </a:avLst>
            </a:prstGeom>
            <a:solidFill>
              <a:srgbClr val="FFFFFF"/>
            </a:solidFill>
            <a:ln w="12700">
              <a:solidFill>
                <a:srgbClr val="E0E0E0"/>
              </a:solidFill>
              <a:prstDash val="solid"/>
            </a:ln>
            <a:effectLst>
              <a:outerShdw blurRad="101600" dist="38100" dir="16200000" algn="bl" rotWithShape="0">
                <a:srgbClr val="000000">
                  <a:alpha val="3000"/>
                </a:srgbClr>
              </a:outerShdw>
            </a:effectLst>
          </p:spPr>
          <p:txBody>
            <a:bodyPr/>
            <a:lstStyle/>
            <a:p>
              <a:endParaRPr lang="ru-KZ" dirty="0"/>
            </a:p>
          </p:txBody>
        </p:sp>
        <p:sp>
          <p:nvSpPr>
            <p:cNvPr id="69" name="Shape 53"/>
            <p:cNvSpPr/>
            <p:nvPr/>
          </p:nvSpPr>
          <p:spPr>
            <a:xfrm>
              <a:off x="3471292" y="7599288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00C853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70" name="Image 14" descr="preencoded.png"/>
            <p:cNvPicPr>
              <a:picLocks noChangeAspect="1"/>
            </p:cNvPicPr>
            <p:nvPr/>
          </p:nvPicPr>
          <p:blipFill>
            <a:blip r:embed="rId15"/>
            <a:srcRect l="-2512" r="-2512"/>
            <a:stretch/>
          </p:blipFill>
          <p:spPr>
            <a:xfrm>
              <a:off x="3570962" y="7684327"/>
              <a:ext cx="105156" cy="133502"/>
            </a:xfrm>
            <a:prstGeom prst="rect">
              <a:avLst/>
            </a:prstGeom>
          </p:spPr>
        </p:pic>
        <p:sp>
          <p:nvSpPr>
            <p:cNvPr id="71" name="Text 54"/>
            <p:cNvSpPr txBox="1"/>
            <p:nvPr/>
          </p:nvSpPr>
          <p:spPr>
            <a:xfrm>
              <a:off x="3890087" y="7677012"/>
              <a:ext cx="150487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2E7D32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5. Подготовка ТЗ</a:t>
              </a:r>
              <a:endParaRPr lang="en-US" sz="900" dirty="0">
                <a:latin typeface="Montserrat" pitchFamily="2" charset="0"/>
              </a:endParaRPr>
            </a:p>
          </p:txBody>
        </p:sp>
      </p:grp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723B7BC7-175F-EB2D-D375-ABC177DA1814}"/>
              </a:ext>
            </a:extLst>
          </p:cNvPr>
          <p:cNvGrpSpPr/>
          <p:nvPr/>
        </p:nvGrpSpPr>
        <p:grpSpPr>
          <a:xfrm>
            <a:off x="249027" y="5341221"/>
            <a:ext cx="3131997" cy="552298"/>
            <a:chOff x="3309443" y="8141527"/>
            <a:chExt cx="3131997" cy="552298"/>
          </a:xfrm>
        </p:grpSpPr>
        <p:sp>
          <p:nvSpPr>
            <p:cNvPr id="72" name="Shape 55"/>
            <p:cNvSpPr/>
            <p:nvPr/>
          </p:nvSpPr>
          <p:spPr>
            <a:xfrm>
              <a:off x="3309443" y="8141527"/>
              <a:ext cx="3131997" cy="552298"/>
            </a:xfrm>
            <a:prstGeom prst="roundRect">
              <a:avLst>
                <a:gd name="adj" fmla="val 34254"/>
              </a:avLst>
            </a:prstGeom>
            <a:solidFill>
              <a:srgbClr val="FFFFFF"/>
            </a:solidFill>
            <a:ln w="12700">
              <a:solidFill>
                <a:srgbClr val="E0E0E0"/>
              </a:solidFill>
              <a:prstDash val="solid"/>
            </a:ln>
            <a:effectLst>
              <a:outerShdw blurRad="101600" dist="38100" dir="16200000" algn="bl" rotWithShape="0">
                <a:srgbClr val="000000">
                  <a:alpha val="3000"/>
                </a:srgbClr>
              </a:outerShdw>
            </a:effectLst>
          </p:spPr>
          <p:txBody>
            <a:bodyPr/>
            <a:lstStyle/>
            <a:p>
              <a:endParaRPr lang="ru-KZ" dirty="0"/>
            </a:p>
          </p:txBody>
        </p:sp>
        <p:sp>
          <p:nvSpPr>
            <p:cNvPr id="73" name="Shape 56"/>
            <p:cNvSpPr/>
            <p:nvPr/>
          </p:nvSpPr>
          <p:spPr>
            <a:xfrm>
              <a:off x="3471292" y="8265886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00C853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74" name="Image 15" descr="preencoded.png"/>
            <p:cNvPicPr>
              <a:picLocks noChangeAspect="1"/>
            </p:cNvPicPr>
            <p:nvPr/>
          </p:nvPicPr>
          <p:blipFill>
            <a:blip r:embed="rId16"/>
            <a:srcRect t="-1100" b="-1100"/>
            <a:stretch/>
          </p:blipFill>
          <p:spPr>
            <a:xfrm>
              <a:off x="3566390" y="8350925"/>
              <a:ext cx="114300" cy="133502"/>
            </a:xfrm>
            <a:prstGeom prst="rect">
              <a:avLst/>
            </a:prstGeom>
          </p:spPr>
        </p:pic>
        <p:sp>
          <p:nvSpPr>
            <p:cNvPr id="75" name="Text 57"/>
            <p:cNvSpPr txBox="1"/>
            <p:nvPr/>
          </p:nvSpPr>
          <p:spPr>
            <a:xfrm>
              <a:off x="3890087" y="8343610"/>
              <a:ext cx="1840153" cy="160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2E7D32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6. Интеграция в ODS/DDS</a:t>
              </a:r>
              <a:endParaRPr lang="en-US" sz="900" dirty="0">
                <a:latin typeface="Montserrat" pitchFamily="2" charset="0"/>
              </a:endParaRPr>
            </a:p>
          </p:txBody>
        </p:sp>
      </p:grp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A09FEB37-7826-D2D9-5C20-8739615507B2}"/>
              </a:ext>
            </a:extLst>
          </p:cNvPr>
          <p:cNvGrpSpPr/>
          <p:nvPr/>
        </p:nvGrpSpPr>
        <p:grpSpPr>
          <a:xfrm>
            <a:off x="244887" y="6123173"/>
            <a:ext cx="3142157" cy="552298"/>
            <a:chOff x="3309443" y="8808125"/>
            <a:chExt cx="3142157" cy="552298"/>
          </a:xfrm>
        </p:grpSpPr>
        <p:sp>
          <p:nvSpPr>
            <p:cNvPr id="76" name="Shape 58"/>
            <p:cNvSpPr/>
            <p:nvPr/>
          </p:nvSpPr>
          <p:spPr>
            <a:xfrm>
              <a:off x="3309443" y="8808125"/>
              <a:ext cx="3142157" cy="552298"/>
            </a:xfrm>
            <a:prstGeom prst="roundRect">
              <a:avLst>
                <a:gd name="adj" fmla="val 34254"/>
              </a:avLst>
            </a:prstGeom>
            <a:solidFill>
              <a:srgbClr val="E8F5E9"/>
            </a:solidFill>
            <a:ln w="12700">
              <a:solidFill>
                <a:srgbClr val="C8E6C9"/>
              </a:solidFill>
              <a:prstDash val="solid"/>
            </a:ln>
            <a:effectLst>
              <a:outerShdw blurRad="101600" dist="38100" dir="16200000" algn="bl" rotWithShape="0">
                <a:srgbClr val="000000">
                  <a:alpha val="3000"/>
                </a:srgbClr>
              </a:outerShdw>
            </a:effectLst>
          </p:spPr>
          <p:txBody>
            <a:bodyPr/>
            <a:lstStyle/>
            <a:p>
              <a:endParaRPr lang="ru-KZ" dirty="0"/>
            </a:p>
          </p:txBody>
        </p:sp>
        <p:sp>
          <p:nvSpPr>
            <p:cNvPr id="77" name="Shape 59"/>
            <p:cNvSpPr/>
            <p:nvPr/>
          </p:nvSpPr>
          <p:spPr>
            <a:xfrm>
              <a:off x="3471292" y="8932483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00C853">
                <a:alpha val="1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78" name="Image 16" descr="preencoded.png"/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3557246" y="9018437"/>
              <a:ext cx="133502" cy="133502"/>
            </a:xfrm>
            <a:prstGeom prst="rect">
              <a:avLst/>
            </a:prstGeom>
          </p:spPr>
        </p:pic>
        <p:sp>
          <p:nvSpPr>
            <p:cNvPr id="79" name="Text 60"/>
            <p:cNvSpPr txBox="1"/>
            <p:nvPr/>
          </p:nvSpPr>
          <p:spPr>
            <a:xfrm>
              <a:off x="3890087" y="9010207"/>
              <a:ext cx="1870633" cy="1642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2E7D32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7. Тестирование и запуск</a:t>
              </a:r>
              <a:endParaRPr lang="en-US" sz="900" dirty="0">
                <a:latin typeface="Montserrat" pitchFamily="2" charset="0"/>
              </a:endParaRPr>
            </a:p>
          </p:txBody>
        </p:sp>
      </p:grpSp>
      <p:sp>
        <p:nvSpPr>
          <p:cNvPr id="81" name="Text 62"/>
          <p:cNvSpPr txBox="1"/>
          <p:nvPr/>
        </p:nvSpPr>
        <p:spPr>
          <a:xfrm>
            <a:off x="11368782" y="6866829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E9E9E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>
              <a:latin typeface="Montserrat" pitchFamily="2" charset="0"/>
            </a:endParaRPr>
          </a:p>
        </p:txBody>
      </p:sp>
      <p:pic>
        <p:nvPicPr>
          <p:cNvPr id="85" name="Image 4" descr="preencoded.png">
            <a:extLst>
              <a:ext uri="{FF2B5EF4-FFF2-40B4-BE49-F238E27FC236}">
                <a16:creationId xmlns:a16="http://schemas.microsoft.com/office/drawing/2014/main" id="{EE2AB30F-3148-01CA-B42D-C9697723DA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1717443" y="2507282"/>
            <a:ext cx="114300" cy="152705"/>
          </a:xfrm>
          <a:prstGeom prst="rect">
            <a:avLst/>
          </a:prstGeom>
        </p:spPr>
      </p:pic>
      <p:grpSp>
        <p:nvGrpSpPr>
          <p:cNvPr id="107" name="Группа 106">
            <a:extLst>
              <a:ext uri="{FF2B5EF4-FFF2-40B4-BE49-F238E27FC236}">
                <a16:creationId xmlns:a16="http://schemas.microsoft.com/office/drawing/2014/main" id="{3DB68650-7EA1-582C-534F-AFFB8742F217}"/>
              </a:ext>
            </a:extLst>
          </p:cNvPr>
          <p:cNvGrpSpPr/>
          <p:nvPr/>
        </p:nvGrpSpPr>
        <p:grpSpPr>
          <a:xfrm>
            <a:off x="1484828" y="3523640"/>
            <a:ext cx="579529" cy="571500"/>
            <a:chOff x="1488844" y="3489759"/>
            <a:chExt cx="579529" cy="571500"/>
          </a:xfrm>
        </p:grpSpPr>
        <p:sp>
          <p:nvSpPr>
            <p:cNvPr id="22" name="Shape 13"/>
            <p:cNvSpPr/>
            <p:nvPr/>
          </p:nvSpPr>
          <p:spPr>
            <a:xfrm rot="2700000">
              <a:off x="1488844" y="3489759"/>
              <a:ext cx="571500" cy="5715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C853"/>
              </a:solidFill>
              <a:prstDash val="solid"/>
            </a:ln>
            <a:effectLst>
              <a:outerShdw blurRad="101600" dist="38100" dir="162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88" name="Text 41">
              <a:extLst>
                <a:ext uri="{FF2B5EF4-FFF2-40B4-BE49-F238E27FC236}">
                  <a16:creationId xmlns:a16="http://schemas.microsoft.com/office/drawing/2014/main" id="{2784E78F-7516-F744-DEFF-7D7F88E916C1}"/>
                </a:ext>
              </a:extLst>
            </p:cNvPr>
            <p:cNvSpPr txBox="1"/>
            <p:nvPr/>
          </p:nvSpPr>
          <p:spPr>
            <a:xfrm>
              <a:off x="1517904" y="3591686"/>
              <a:ext cx="550469" cy="2924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800" dirty="0" err="1">
                  <a:solidFill>
                    <a:srgbClr val="757575"/>
                  </a:solidFill>
                  <a:latin typeface="Montserrat" pitchFamily="2" charset="0"/>
                  <a:ea typeface="Inter" pitchFamily="34" charset="-122"/>
                </a:rPr>
                <a:t>Данные</a:t>
              </a:r>
              <a:r>
                <a:rPr lang="en-US" sz="800" dirty="0">
                  <a:solidFill>
                    <a:srgbClr val="757575"/>
                  </a:solidFill>
                  <a:latin typeface="Montserrat" pitchFamily="2" charset="0"/>
                  <a:ea typeface="Inter" pitchFamily="34" charset="-122"/>
                </a:rPr>
                <a:t> </a:t>
              </a:r>
              <a:endParaRPr lang="ru-RU" sz="800" dirty="0">
                <a:solidFill>
                  <a:srgbClr val="757575"/>
                </a:solidFill>
                <a:latin typeface="Montserrat" pitchFamily="2" charset="0"/>
                <a:ea typeface="Inter" pitchFamily="34" charset="-122"/>
              </a:endParaRPr>
            </a:p>
            <a:p>
              <a:pPr algn="ctr"/>
              <a:r>
                <a:rPr lang="en-US" sz="800" dirty="0" err="1">
                  <a:solidFill>
                    <a:srgbClr val="757575"/>
                  </a:solidFill>
                  <a:latin typeface="Montserrat" pitchFamily="2" charset="0"/>
                  <a:ea typeface="Inter" pitchFamily="34" charset="-122"/>
                </a:rPr>
                <a:t>найдены</a:t>
              </a:r>
              <a:r>
                <a:rPr lang="en-US" sz="800" dirty="0">
                  <a:solidFill>
                    <a:srgbClr val="757575"/>
                  </a:solidFill>
                  <a:latin typeface="Montserrat" pitchFamily="2" charset="0"/>
                  <a:ea typeface="Inter" pitchFamily="34" charset="-122"/>
                </a:rPr>
                <a:t>?</a:t>
              </a:r>
            </a:p>
          </p:txBody>
        </p:sp>
      </p:grpSp>
      <p:cxnSp>
        <p:nvCxnSpPr>
          <p:cNvPr id="115" name="Соединительная линия уступом 114">
            <a:extLst>
              <a:ext uri="{FF2B5EF4-FFF2-40B4-BE49-F238E27FC236}">
                <a16:creationId xmlns:a16="http://schemas.microsoft.com/office/drawing/2014/main" id="{718849EA-CAA3-272C-3EB2-B856E0A2586F}"/>
              </a:ext>
            </a:extLst>
          </p:cNvPr>
          <p:cNvCxnSpPr>
            <a:stCxn id="62" idx="2"/>
            <a:endCxn id="68" idx="3"/>
          </p:cNvCxnSpPr>
          <p:nvPr/>
        </p:nvCxnSpPr>
        <p:spPr>
          <a:xfrm rot="5400000">
            <a:off x="3997913" y="3432329"/>
            <a:ext cx="783712" cy="2022466"/>
          </a:xfrm>
          <a:prstGeom prst="bentConnector2">
            <a:avLst/>
          </a:prstGeom>
          <a:ln w="3492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6" name="Стрелка вправо 115">
            <a:extLst>
              <a:ext uri="{FF2B5EF4-FFF2-40B4-BE49-F238E27FC236}">
                <a16:creationId xmlns:a16="http://schemas.microsoft.com/office/drawing/2014/main" id="{444E2F88-16B8-6359-580F-42D47924D7AB}"/>
              </a:ext>
            </a:extLst>
          </p:cNvPr>
          <p:cNvSpPr/>
          <p:nvPr/>
        </p:nvSpPr>
        <p:spPr>
          <a:xfrm>
            <a:off x="2910077" y="3716688"/>
            <a:ext cx="152706" cy="114301"/>
          </a:xfrm>
          <a:prstGeom prst="rightArrow">
            <a:avLst>
              <a:gd name="adj1" fmla="val 23640"/>
              <a:gd name="adj2" fmla="val 57121"/>
            </a:avLst>
          </a:prstGeom>
          <a:solidFill>
            <a:srgbClr val="C01A00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17" name="Стрелка вправо 116">
            <a:extLst>
              <a:ext uri="{FF2B5EF4-FFF2-40B4-BE49-F238E27FC236}">
                <a16:creationId xmlns:a16="http://schemas.microsoft.com/office/drawing/2014/main" id="{D6E82261-873E-C901-6D50-A52EA6C59A4B}"/>
              </a:ext>
            </a:extLst>
          </p:cNvPr>
          <p:cNvSpPr/>
          <p:nvPr/>
        </p:nvSpPr>
        <p:spPr>
          <a:xfrm rot="5400000">
            <a:off x="1698239" y="4310059"/>
            <a:ext cx="152706" cy="114301"/>
          </a:xfrm>
          <a:prstGeom prst="rightArrow">
            <a:avLst>
              <a:gd name="adj1" fmla="val 23640"/>
              <a:gd name="adj2" fmla="val 57121"/>
            </a:avLst>
          </a:prstGeom>
          <a:solidFill>
            <a:srgbClr val="31C853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pic>
        <p:nvPicPr>
          <p:cNvPr id="118" name="Image 6" descr="preencoded.png">
            <a:extLst>
              <a:ext uri="{FF2B5EF4-FFF2-40B4-BE49-F238E27FC236}">
                <a16:creationId xmlns:a16="http://schemas.microsoft.com/office/drawing/2014/main" id="{B75F5B15-932E-9AD0-E8F7-93988FB636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1717441" y="5901064"/>
            <a:ext cx="114300" cy="152705"/>
          </a:xfrm>
          <a:prstGeom prst="rect">
            <a:avLst/>
          </a:prstGeom>
        </p:spPr>
      </p:pic>
      <p:cxnSp>
        <p:nvCxnSpPr>
          <p:cNvPr id="121" name="Соединительная линия уступом 120">
            <a:extLst>
              <a:ext uri="{FF2B5EF4-FFF2-40B4-BE49-F238E27FC236}">
                <a16:creationId xmlns:a16="http://schemas.microsoft.com/office/drawing/2014/main" id="{451F8ECB-6FCF-7111-D897-76EF033EC9A6}"/>
              </a:ext>
            </a:extLst>
          </p:cNvPr>
          <p:cNvCxnSpPr>
            <a:cxnSpLocks/>
            <a:endCxn id="62" idx="0"/>
          </p:cNvCxnSpPr>
          <p:nvPr/>
        </p:nvCxnSpPr>
        <p:spPr>
          <a:xfrm rot="10800000" flipV="1">
            <a:off x="5401002" y="3197621"/>
            <a:ext cx="2434212" cy="301786"/>
          </a:xfrm>
          <a:prstGeom prst="bentConnector2">
            <a:avLst/>
          </a:prstGeom>
          <a:ln w="3492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23" name="Группа 122">
            <a:extLst>
              <a:ext uri="{FF2B5EF4-FFF2-40B4-BE49-F238E27FC236}">
                <a16:creationId xmlns:a16="http://schemas.microsoft.com/office/drawing/2014/main" id="{0D135E7C-5B70-4CFF-FDD6-4FD30AF976F1}"/>
              </a:ext>
            </a:extLst>
          </p:cNvPr>
          <p:cNvGrpSpPr/>
          <p:nvPr/>
        </p:nvGrpSpPr>
        <p:grpSpPr>
          <a:xfrm>
            <a:off x="10491019" y="352044"/>
            <a:ext cx="1132834" cy="381305"/>
            <a:chOff x="10491019" y="352044"/>
            <a:chExt cx="1132834" cy="381305"/>
          </a:xfrm>
        </p:grpSpPr>
        <p:sp>
          <p:nvSpPr>
            <p:cNvPr id="124" name="Shape 3">
              <a:extLst>
                <a:ext uri="{FF2B5EF4-FFF2-40B4-BE49-F238E27FC236}">
                  <a16:creationId xmlns:a16="http://schemas.microsoft.com/office/drawing/2014/main" id="{B83F4C70-9AAE-19EF-FA12-6FA411744C88}"/>
                </a:ext>
              </a:extLst>
            </p:cNvPr>
            <p:cNvSpPr/>
            <p:nvPr/>
          </p:nvSpPr>
          <p:spPr>
            <a:xfrm>
              <a:off x="10491019" y="352044"/>
              <a:ext cx="1132834" cy="381305"/>
            </a:xfrm>
            <a:prstGeom prst="roundRect">
              <a:avLst>
                <a:gd name="adj" fmla="val 119904"/>
              </a:avLst>
            </a:prstGeom>
            <a:solidFill>
              <a:srgbClr val="00C853">
                <a:alpha val="5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 dirty="0"/>
            </a:p>
          </p:txBody>
        </p:sp>
        <p:sp>
          <p:nvSpPr>
            <p:cNvPr id="125" name="Text 4">
              <a:extLst>
                <a:ext uri="{FF2B5EF4-FFF2-40B4-BE49-F238E27FC236}">
                  <a16:creationId xmlns:a16="http://schemas.microsoft.com/office/drawing/2014/main" id="{88B62C3D-7B7D-C429-EE23-42C6FD3C5590}"/>
                </a:ext>
              </a:extLst>
            </p:cNvPr>
            <p:cNvSpPr txBox="1"/>
            <p:nvPr/>
          </p:nvSpPr>
          <p:spPr>
            <a:xfrm>
              <a:off x="10604297" y="352044"/>
              <a:ext cx="924458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E7D32"/>
                  </a:solidFill>
                  <a:latin typeface="Montserrat" pitchFamily="2" charset="0"/>
                  <a:ea typeface="Poppins" pitchFamily="34" charset="-122"/>
                  <a:cs typeface="Poppins" pitchFamily="34" charset="-120"/>
                </a:rPr>
                <a:t>Halyk Bank</a:t>
              </a:r>
              <a:endParaRPr lang="en-US" sz="120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 txBox="1"/>
          <p:nvPr/>
        </p:nvSpPr>
        <p:spPr>
          <a:xfrm>
            <a:off x="571500" y="286207"/>
            <a:ext cx="8503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latin typeface="Montserrat" pitchFamily="2" charset="0"/>
                <a:ea typeface="Poppins" pitchFamily="34" charset="-122"/>
                <a:cs typeface="Poppins" pitchFamily="34" charset="-120"/>
              </a:rPr>
              <a:t>Продукты/сервисы интегрированные в 2025 году</a:t>
            </a:r>
            <a:endParaRPr lang="en-US" sz="2400" dirty="0">
              <a:latin typeface="Montserrat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71500" y="933602"/>
            <a:ext cx="3161995" cy="647395"/>
          </a:xfrm>
          <a:prstGeom prst="roundRect">
            <a:avLst>
              <a:gd name="adj" fmla="val 24925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3349" y="1057046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505" y="1162202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85646" y="1094537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Платежи и переводы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1285646" y="1262786"/>
            <a:ext cx="23774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17 таблиц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840480" y="933602"/>
            <a:ext cx="3161995" cy="647395"/>
          </a:xfrm>
          <a:prstGeom prst="roundRect">
            <a:avLst>
              <a:gd name="adj" fmla="val 24925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002329" y="1057046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4116629" y="1162202"/>
            <a:ext cx="171907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54626" y="1094537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Справочники и документы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4554626" y="1262786"/>
            <a:ext cx="23774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10 таблиц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71500" y="1695298"/>
            <a:ext cx="3161995" cy="647395"/>
          </a:xfrm>
          <a:prstGeom prst="roundRect">
            <a:avLst>
              <a:gd name="adj" fmla="val 24925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3349" y="1819656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823874" y="1923898"/>
            <a:ext cx="219456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85646" y="1857146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Операции по кредитам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1285646" y="2024482"/>
            <a:ext cx="23774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6 таблиц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3840480" y="1695298"/>
            <a:ext cx="3161995" cy="647395"/>
          </a:xfrm>
          <a:prstGeom prst="roundRect">
            <a:avLst>
              <a:gd name="adj" fmla="val 24925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002329" y="1819656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131259" y="1923898"/>
            <a:ext cx="142646" cy="19019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554626" y="1857146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Текущие счета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4554626" y="2024482"/>
            <a:ext cx="23774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4 таблицы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571500" y="2457907"/>
            <a:ext cx="3161995" cy="647395"/>
          </a:xfrm>
          <a:prstGeom prst="roundRect">
            <a:avLst>
              <a:gd name="adj" fmla="val 24925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33349" y="2581351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62279" y="2686507"/>
            <a:ext cx="142646" cy="19019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285646" y="2618842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Счет на оплату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4" name="Text 26"/>
          <p:cNvSpPr txBox="1"/>
          <p:nvPr/>
        </p:nvSpPr>
        <p:spPr>
          <a:xfrm>
            <a:off x="1285646" y="2786177"/>
            <a:ext cx="23774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4 таблицы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3840480" y="2457907"/>
            <a:ext cx="3161995" cy="647395"/>
          </a:xfrm>
          <a:prstGeom prst="roundRect">
            <a:avLst>
              <a:gd name="adj" fmla="val 24925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002329" y="2581351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8"/>
          <a:srcRect l="-1923" r="-1923"/>
          <a:stretch/>
        </p:blipFill>
        <p:spPr>
          <a:xfrm>
            <a:off x="4140403" y="2686507"/>
            <a:ext cx="123444" cy="19019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4554626" y="2618842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Валютные операции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9" name="Text 30"/>
          <p:cNvSpPr txBox="1"/>
          <p:nvPr/>
        </p:nvSpPr>
        <p:spPr>
          <a:xfrm>
            <a:off x="4554626" y="2786177"/>
            <a:ext cx="23774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4 таблицы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571500" y="3219602"/>
            <a:ext cx="3161995" cy="647395"/>
          </a:xfrm>
          <a:prstGeom prst="roundRect">
            <a:avLst>
              <a:gd name="adj" fmla="val 24925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733349" y="3343046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14730" y="3448202"/>
            <a:ext cx="237744" cy="19019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285646" y="3380537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Пользователи MOB/WEB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4" name="Text 34"/>
          <p:cNvSpPr txBox="1"/>
          <p:nvPr/>
        </p:nvSpPr>
        <p:spPr>
          <a:xfrm>
            <a:off x="1285646" y="3548786"/>
            <a:ext cx="23774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3 таблицы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45" name="Shape 35"/>
          <p:cNvSpPr/>
          <p:nvPr/>
        </p:nvSpPr>
        <p:spPr>
          <a:xfrm>
            <a:off x="3840480" y="3219602"/>
            <a:ext cx="3161995" cy="647395"/>
          </a:xfrm>
          <a:prstGeom prst="roundRect">
            <a:avLst>
              <a:gd name="adj" fmla="val 24925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4002329" y="3343046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0"/>
          <a:srcRect l="-1282" r="-1282"/>
          <a:stretch/>
        </p:blipFill>
        <p:spPr>
          <a:xfrm>
            <a:off x="4092854" y="3448202"/>
            <a:ext cx="219456" cy="190195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4554626" y="3380537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Операции по депозитам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9" name="Text 38"/>
          <p:cNvSpPr txBox="1"/>
          <p:nvPr/>
        </p:nvSpPr>
        <p:spPr>
          <a:xfrm>
            <a:off x="4554626" y="3548786"/>
            <a:ext cx="23774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3 таблицы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50" name="Shape 39"/>
          <p:cNvSpPr/>
          <p:nvPr/>
        </p:nvSpPr>
        <p:spPr>
          <a:xfrm>
            <a:off x="571500" y="3981298"/>
            <a:ext cx="3161995" cy="647395"/>
          </a:xfrm>
          <a:prstGeom prst="roundRect">
            <a:avLst>
              <a:gd name="adj" fmla="val 24925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1" name="Shape 40"/>
          <p:cNvSpPr/>
          <p:nvPr/>
        </p:nvSpPr>
        <p:spPr>
          <a:xfrm>
            <a:off x="733349" y="4105656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8505" y="4209898"/>
            <a:ext cx="190195" cy="190195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1285646" y="4143146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Платежи НПК и в бюджет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4" name="Text 42"/>
          <p:cNvSpPr txBox="1"/>
          <p:nvPr/>
        </p:nvSpPr>
        <p:spPr>
          <a:xfrm>
            <a:off x="1285646" y="4310482"/>
            <a:ext cx="23774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3 таблицы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55" name="Shape 43"/>
          <p:cNvSpPr/>
          <p:nvPr/>
        </p:nvSpPr>
        <p:spPr>
          <a:xfrm>
            <a:off x="3840480" y="3981298"/>
            <a:ext cx="3161995" cy="647395"/>
          </a:xfrm>
          <a:prstGeom prst="roundRect">
            <a:avLst>
              <a:gd name="adj" fmla="val 24925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6" name="Shape 44"/>
          <p:cNvSpPr/>
          <p:nvPr/>
        </p:nvSpPr>
        <p:spPr>
          <a:xfrm>
            <a:off x="4002329" y="4105656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2"/>
          <a:srcRect l="-1282" r="-1282"/>
          <a:stretch/>
        </p:blipFill>
        <p:spPr>
          <a:xfrm>
            <a:off x="4092854" y="4209898"/>
            <a:ext cx="219456" cy="190195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4554626" y="4143146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Карты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9" name="Text 46"/>
          <p:cNvSpPr txBox="1"/>
          <p:nvPr/>
        </p:nvSpPr>
        <p:spPr>
          <a:xfrm>
            <a:off x="4554626" y="4310482"/>
            <a:ext cx="23774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3 таблицы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60" name="Shape 47"/>
          <p:cNvSpPr/>
          <p:nvPr/>
        </p:nvSpPr>
        <p:spPr>
          <a:xfrm>
            <a:off x="571500" y="4743907"/>
            <a:ext cx="3161995" cy="647395"/>
          </a:xfrm>
          <a:prstGeom prst="roundRect">
            <a:avLst>
              <a:gd name="adj" fmla="val 24925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61" name="Shape 48"/>
          <p:cNvSpPr/>
          <p:nvPr/>
        </p:nvSpPr>
        <p:spPr>
          <a:xfrm>
            <a:off x="733349" y="4867351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2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8505" y="4972507"/>
            <a:ext cx="190195" cy="190195"/>
          </a:xfrm>
          <a:prstGeom prst="rect">
            <a:avLst/>
          </a:prstGeom>
        </p:spPr>
      </p:pic>
      <p:sp>
        <p:nvSpPr>
          <p:cNvPr id="63" name="Text 49"/>
          <p:cNvSpPr txBox="1"/>
          <p:nvPr/>
        </p:nvSpPr>
        <p:spPr>
          <a:xfrm>
            <a:off x="1285646" y="4904842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Кассовые операции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64" name="Text 50"/>
          <p:cNvSpPr txBox="1"/>
          <p:nvPr/>
        </p:nvSpPr>
        <p:spPr>
          <a:xfrm>
            <a:off x="1285646" y="5072177"/>
            <a:ext cx="23774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2 таблицы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65" name="Shape 51"/>
          <p:cNvSpPr/>
          <p:nvPr/>
        </p:nvSpPr>
        <p:spPr>
          <a:xfrm>
            <a:off x="3840480" y="4743907"/>
            <a:ext cx="3161995" cy="647395"/>
          </a:xfrm>
          <a:prstGeom prst="roundRect">
            <a:avLst>
              <a:gd name="adj" fmla="val 24925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66" name="Shape 52"/>
          <p:cNvSpPr/>
          <p:nvPr/>
        </p:nvSpPr>
        <p:spPr>
          <a:xfrm>
            <a:off x="4002329" y="4867351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7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107485" y="4972507"/>
            <a:ext cx="190195" cy="190195"/>
          </a:xfrm>
          <a:prstGeom prst="rect">
            <a:avLst/>
          </a:prstGeom>
        </p:spPr>
      </p:pic>
      <p:sp>
        <p:nvSpPr>
          <p:cNvPr id="68" name="Text 53"/>
          <p:cNvSpPr txBox="1"/>
          <p:nvPr/>
        </p:nvSpPr>
        <p:spPr>
          <a:xfrm>
            <a:off x="4554626" y="4904842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Гарантии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69" name="Text 54"/>
          <p:cNvSpPr txBox="1"/>
          <p:nvPr/>
        </p:nvSpPr>
        <p:spPr>
          <a:xfrm>
            <a:off x="4554626" y="5072177"/>
            <a:ext cx="23774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2 таблицы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70" name="Shape 55"/>
          <p:cNvSpPr/>
          <p:nvPr/>
        </p:nvSpPr>
        <p:spPr>
          <a:xfrm>
            <a:off x="571500" y="5505602"/>
            <a:ext cx="6429146" cy="647395"/>
          </a:xfrm>
          <a:prstGeom prst="roundRect">
            <a:avLst>
              <a:gd name="adj" fmla="val 24925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71" name="Shape 56"/>
          <p:cNvSpPr/>
          <p:nvPr/>
        </p:nvSpPr>
        <p:spPr>
          <a:xfrm>
            <a:off x="733349" y="5629046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00C85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2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8505" y="5734202"/>
            <a:ext cx="190195" cy="190195"/>
          </a:xfrm>
          <a:prstGeom prst="rect">
            <a:avLst/>
          </a:prstGeom>
        </p:spPr>
      </p:pic>
      <p:sp>
        <p:nvSpPr>
          <p:cNvPr id="73" name="Text 57"/>
          <p:cNvSpPr txBox="1"/>
          <p:nvPr/>
        </p:nvSpPr>
        <p:spPr>
          <a:xfrm>
            <a:off x="1285646" y="5666537"/>
            <a:ext cx="56674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D32"/>
                </a:solidFill>
                <a:latin typeface="Montserrat" pitchFamily="2" charset="0"/>
                <a:ea typeface="Poppins" pitchFamily="34" charset="-122"/>
                <a:cs typeface="Poppins" pitchFamily="34" charset="-120"/>
              </a:rPr>
              <a:t>Пополнение эквайрингового контракта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74" name="Text 58"/>
          <p:cNvSpPr txBox="1"/>
          <p:nvPr/>
        </p:nvSpPr>
        <p:spPr>
          <a:xfrm>
            <a:off x="1285646" y="5834786"/>
            <a:ext cx="56674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BB6A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2 таблицы</a:t>
            </a:r>
            <a:endParaRPr lang="en-US" sz="800" dirty="0">
              <a:latin typeface="Montserrat" pitchFamily="2" charset="0"/>
            </a:endParaRPr>
          </a:p>
        </p:txBody>
      </p:sp>
      <p:grpSp>
        <p:nvGrpSpPr>
          <p:cNvPr id="88" name="Группа 87">
            <a:extLst>
              <a:ext uri="{FF2B5EF4-FFF2-40B4-BE49-F238E27FC236}">
                <a16:creationId xmlns:a16="http://schemas.microsoft.com/office/drawing/2014/main" id="{F983E44C-5D92-71C4-DC89-581156035B6D}"/>
              </a:ext>
            </a:extLst>
          </p:cNvPr>
          <p:cNvGrpSpPr/>
          <p:nvPr/>
        </p:nvGrpSpPr>
        <p:grpSpPr>
          <a:xfrm>
            <a:off x="7338060" y="1738274"/>
            <a:ext cx="4282135" cy="3743554"/>
            <a:chOff x="7338060" y="1738274"/>
            <a:chExt cx="4282135" cy="3743554"/>
          </a:xfrm>
        </p:grpSpPr>
        <p:pic>
          <p:nvPicPr>
            <p:cNvPr id="75" name="Image 14" descr="preencoded.png"/>
            <p:cNvPicPr>
              <a:picLocks noChangeAspect="1"/>
            </p:cNvPicPr>
            <p:nvPr/>
          </p:nvPicPr>
          <p:blipFill>
            <a:blip r:embed="rId16"/>
            <a:srcRect t="-6" b="-6"/>
            <a:stretch/>
          </p:blipFill>
          <p:spPr>
            <a:xfrm>
              <a:off x="7338060" y="1738274"/>
              <a:ext cx="4282135" cy="3743554"/>
            </a:xfrm>
            <a:prstGeom prst="rect">
              <a:avLst/>
            </a:prstGeom>
          </p:spPr>
        </p:pic>
        <p:sp>
          <p:nvSpPr>
            <p:cNvPr id="76" name="Shape 59"/>
            <p:cNvSpPr/>
            <p:nvPr/>
          </p:nvSpPr>
          <p:spPr>
            <a:xfrm>
              <a:off x="7652614" y="2052828"/>
              <a:ext cx="476402" cy="476402"/>
            </a:xfrm>
            <a:prstGeom prst="roundRect">
              <a:avLst>
                <a:gd name="adj" fmla="val 46065"/>
              </a:avLst>
            </a:prstGeom>
            <a:solidFill>
              <a:srgbClr val="FFEBE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77" name="Image 15" descr="preencoded.png"/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7776058" y="2176272"/>
              <a:ext cx="228600" cy="228600"/>
            </a:xfrm>
            <a:prstGeom prst="rect">
              <a:avLst/>
            </a:prstGeom>
          </p:spPr>
        </p:pic>
        <p:sp>
          <p:nvSpPr>
            <p:cNvPr id="78" name="Text 60"/>
            <p:cNvSpPr txBox="1"/>
            <p:nvPr/>
          </p:nvSpPr>
          <p:spPr>
            <a:xfrm>
              <a:off x="8280806" y="2052828"/>
              <a:ext cx="3105302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424242"/>
                  </a:solidFill>
                  <a:latin typeface="Montserrat" pitchFamily="2" charset="0"/>
                  <a:ea typeface="Poppins" pitchFamily="34" charset="-122"/>
                  <a:cs typeface="Poppins" pitchFamily="34" charset="-120"/>
                </a:rPr>
                <a:t>Затраченные ресурсы команды на анализ и разработку ТЗ в 2025 году</a:t>
              </a:r>
              <a:endParaRPr lang="en-US" sz="1300" dirty="0">
                <a:latin typeface="Montserrat" pitchFamily="2" charset="0"/>
              </a:endParaRPr>
            </a:p>
          </p:txBody>
        </p:sp>
        <p:sp>
          <p:nvSpPr>
            <p:cNvPr id="79" name="Text 61"/>
            <p:cNvSpPr txBox="1"/>
            <p:nvPr/>
          </p:nvSpPr>
          <p:spPr>
            <a:xfrm>
              <a:off x="8567014" y="2757830"/>
              <a:ext cx="2036369" cy="762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000" b="1" dirty="0">
                  <a:solidFill>
                    <a:srgbClr val="D32F2F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2232</a:t>
              </a:r>
              <a:endParaRPr lang="en-US" sz="6000" dirty="0">
                <a:latin typeface="Montserrat" pitchFamily="2" charset="0"/>
              </a:endParaRPr>
            </a:p>
          </p:txBody>
        </p:sp>
        <p:sp>
          <p:nvSpPr>
            <p:cNvPr id="80" name="Text 62"/>
            <p:cNvSpPr txBox="1"/>
            <p:nvPr/>
          </p:nvSpPr>
          <p:spPr>
            <a:xfrm>
              <a:off x="8989466" y="3547872"/>
              <a:ext cx="1079906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E9E9E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человеко-часа</a:t>
              </a:r>
              <a:endParaRPr lang="en-US" sz="1000" dirty="0">
                <a:latin typeface="Montserrat" pitchFamily="2" charset="0"/>
              </a:endParaRPr>
            </a:p>
          </p:txBody>
        </p:sp>
        <p:sp>
          <p:nvSpPr>
            <p:cNvPr id="81" name="Text 63"/>
            <p:cNvSpPr/>
            <p:nvPr/>
          </p:nvSpPr>
          <p:spPr>
            <a:xfrm>
              <a:off x="7652613" y="3891500"/>
              <a:ext cx="3653941" cy="523952"/>
            </a:xfrm>
            <a:prstGeom prst="roundRect">
              <a:avLst>
                <a:gd name="adj" fmla="val 20420"/>
              </a:avLst>
            </a:prstGeom>
            <a:solidFill>
              <a:srgbClr val="FFFDE7"/>
            </a:solidFill>
            <a:ln w="12700">
              <a:solidFill>
                <a:srgbClr val="FFF59D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9A825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279 дней</a:t>
              </a:r>
              <a:endParaRPr lang="en-US" sz="2000" dirty="0">
                <a:latin typeface="Montserrat" pitchFamily="2" charset="0"/>
              </a:endParaRPr>
            </a:p>
          </p:txBody>
        </p:sp>
        <p:pic>
          <p:nvPicPr>
            <p:cNvPr id="82" name="Image 16" descr="preencoded.png"/>
            <p:cNvPicPr>
              <a:picLocks noChangeAspect="1"/>
            </p:cNvPicPr>
            <p:nvPr/>
          </p:nvPicPr>
          <p:blipFill>
            <a:blip r:embed="rId18"/>
            <a:srcRect l="-204" r="-204"/>
            <a:stretch/>
          </p:blipFill>
          <p:spPr>
            <a:xfrm>
              <a:off x="7652614" y="4776826"/>
              <a:ext cx="3653942" cy="75895"/>
            </a:xfrm>
            <a:prstGeom prst="rect">
              <a:avLst/>
            </a:prstGeom>
          </p:spPr>
        </p:pic>
        <p:pic>
          <p:nvPicPr>
            <p:cNvPr id="83" name="Image 17" descr="preencoded.png"/>
            <p:cNvPicPr>
              <a:picLocks noChangeAspect="1"/>
            </p:cNvPicPr>
            <p:nvPr/>
          </p:nvPicPr>
          <p:blipFill>
            <a:blip r:embed="rId19"/>
            <a:srcRect l="-196" r="-196"/>
            <a:stretch/>
          </p:blipFill>
          <p:spPr>
            <a:xfrm>
              <a:off x="7652614" y="4776826"/>
              <a:ext cx="3105302" cy="75895"/>
            </a:xfrm>
            <a:prstGeom prst="rect">
              <a:avLst/>
            </a:prstGeom>
          </p:spPr>
        </p:pic>
        <p:sp>
          <p:nvSpPr>
            <p:cNvPr id="84" name="Text 64"/>
            <p:cNvSpPr txBox="1"/>
            <p:nvPr/>
          </p:nvSpPr>
          <p:spPr>
            <a:xfrm>
              <a:off x="8538667" y="4967021"/>
              <a:ext cx="2885846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D32F2F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 Высокая нагрузка на команду </a:t>
              </a:r>
              <a:endParaRPr lang="en-US" sz="1000" dirty="0">
                <a:latin typeface="Montserrat" pitchFamily="2" charset="0"/>
              </a:endParaRPr>
            </a:p>
          </p:txBody>
        </p:sp>
        <p:pic>
          <p:nvPicPr>
            <p:cNvPr id="85" name="Image 18" descr="preencoded.png"/>
            <p:cNvPicPr>
              <a:picLocks noChangeAspect="1"/>
            </p:cNvPicPr>
            <p:nvPr/>
          </p:nvPicPr>
          <p:blipFill>
            <a:blip r:embed="rId20"/>
            <a:srcRect/>
            <a:stretch/>
          </p:blipFill>
          <p:spPr>
            <a:xfrm>
              <a:off x="8405165" y="5000854"/>
              <a:ext cx="133502" cy="133502"/>
            </a:xfrm>
            <a:prstGeom prst="rect">
              <a:avLst/>
            </a:prstGeom>
          </p:spPr>
        </p:pic>
      </p:grpSp>
      <p:sp>
        <p:nvSpPr>
          <p:cNvPr id="86" name="Text 65"/>
          <p:cNvSpPr txBox="1"/>
          <p:nvPr/>
        </p:nvSpPr>
        <p:spPr>
          <a:xfrm>
            <a:off x="571500" y="6495898"/>
            <a:ext cx="24149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E9E9E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Интеграция из источника Onlinebank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87" name="Text 66"/>
          <p:cNvSpPr txBox="1"/>
          <p:nvPr/>
        </p:nvSpPr>
        <p:spPr>
          <a:xfrm>
            <a:off x="11552530" y="6495898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E9E9E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>
              <a:latin typeface="Montserrat" pitchFamily="2" charset="0"/>
            </a:endParaRPr>
          </a:p>
        </p:txBody>
      </p:sp>
      <p:grpSp>
        <p:nvGrpSpPr>
          <p:cNvPr id="89" name="Группа 88">
            <a:extLst>
              <a:ext uri="{FF2B5EF4-FFF2-40B4-BE49-F238E27FC236}">
                <a16:creationId xmlns:a16="http://schemas.microsoft.com/office/drawing/2014/main" id="{522F01A5-721C-F6CF-1632-53192A4FA4A1}"/>
              </a:ext>
            </a:extLst>
          </p:cNvPr>
          <p:cNvGrpSpPr/>
          <p:nvPr/>
        </p:nvGrpSpPr>
        <p:grpSpPr>
          <a:xfrm>
            <a:off x="10491019" y="352044"/>
            <a:ext cx="1132834" cy="381305"/>
            <a:chOff x="10491019" y="352044"/>
            <a:chExt cx="1132834" cy="381305"/>
          </a:xfrm>
        </p:grpSpPr>
        <p:sp>
          <p:nvSpPr>
            <p:cNvPr id="90" name="Shape 3">
              <a:extLst>
                <a:ext uri="{FF2B5EF4-FFF2-40B4-BE49-F238E27FC236}">
                  <a16:creationId xmlns:a16="http://schemas.microsoft.com/office/drawing/2014/main" id="{76F7A9D1-DCAB-5836-D470-6583A73A5CB3}"/>
                </a:ext>
              </a:extLst>
            </p:cNvPr>
            <p:cNvSpPr/>
            <p:nvPr/>
          </p:nvSpPr>
          <p:spPr>
            <a:xfrm>
              <a:off x="10491019" y="352044"/>
              <a:ext cx="1132834" cy="381305"/>
            </a:xfrm>
            <a:prstGeom prst="roundRect">
              <a:avLst>
                <a:gd name="adj" fmla="val 119904"/>
              </a:avLst>
            </a:prstGeom>
            <a:solidFill>
              <a:srgbClr val="00C853">
                <a:alpha val="5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 dirty="0"/>
            </a:p>
          </p:txBody>
        </p:sp>
        <p:sp>
          <p:nvSpPr>
            <p:cNvPr id="91" name="Text 4">
              <a:extLst>
                <a:ext uri="{FF2B5EF4-FFF2-40B4-BE49-F238E27FC236}">
                  <a16:creationId xmlns:a16="http://schemas.microsoft.com/office/drawing/2014/main" id="{CB263428-C104-52E8-3B15-951BB298910D}"/>
                </a:ext>
              </a:extLst>
            </p:cNvPr>
            <p:cNvSpPr txBox="1"/>
            <p:nvPr/>
          </p:nvSpPr>
          <p:spPr>
            <a:xfrm>
              <a:off x="10604297" y="352044"/>
              <a:ext cx="924458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E7D32"/>
                  </a:solidFill>
                  <a:latin typeface="Montserrat" pitchFamily="2" charset="0"/>
                  <a:ea typeface="Poppins" pitchFamily="34" charset="-122"/>
                  <a:cs typeface="Poppins" pitchFamily="34" charset="-120"/>
                </a:rPr>
                <a:t>Halyk Bank</a:t>
              </a:r>
              <a:endParaRPr lang="en-US" sz="120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571499" y="381305"/>
            <a:ext cx="938857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latin typeface="Montserrat" pitchFamily="2" charset="0"/>
                <a:ea typeface="Poppins" pitchFamily="34" charset="-122"/>
                <a:cs typeface="Poppins" pitchFamily="34" charset="-120"/>
              </a:rPr>
              <a:t>Решение для эффективной и быстрой интеграции</a:t>
            </a:r>
            <a:endParaRPr lang="en-US" sz="2700" dirty="0">
              <a:latin typeface="Montserrat" pitchFamily="2" charset="0"/>
            </a:endParaRPr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9FC76386-1B1A-F7CE-E818-878A14BC0A47}"/>
              </a:ext>
            </a:extLst>
          </p:cNvPr>
          <p:cNvGrpSpPr/>
          <p:nvPr/>
        </p:nvGrpSpPr>
        <p:grpSpPr>
          <a:xfrm>
            <a:off x="6286499" y="1020863"/>
            <a:ext cx="5333695" cy="5333695"/>
            <a:chOff x="6286500" y="1276502"/>
            <a:chExt cx="5333695" cy="5333695"/>
          </a:xfrm>
        </p:grpSpPr>
        <p:pic>
          <p:nvPicPr>
            <p:cNvPr id="26" name="Image 6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286500" y="1276502"/>
              <a:ext cx="5333695" cy="5333695"/>
            </a:xfrm>
            <a:prstGeom prst="rect">
              <a:avLst/>
            </a:prstGeom>
          </p:spPr>
        </p:pic>
        <p:sp>
          <p:nvSpPr>
            <p:cNvPr id="30" name="Text 20"/>
            <p:cNvSpPr txBox="1"/>
            <p:nvPr/>
          </p:nvSpPr>
          <p:spPr>
            <a:xfrm>
              <a:off x="7848752" y="1644680"/>
              <a:ext cx="2209190" cy="6528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00C853"/>
                  </a:solidFill>
                  <a:latin typeface="Montserrat" pitchFamily="2" charset="0"/>
                  <a:ea typeface="Poppins" pitchFamily="34" charset="-122"/>
                  <a:cs typeface="Poppins" pitchFamily="34" charset="-120"/>
                </a:rPr>
                <a:t>Ожидаемый эффект</a:t>
              </a:r>
              <a:endParaRPr lang="en-US" sz="2400" dirty="0">
                <a:latin typeface="Montserrat" pitchFamily="2" charset="0"/>
              </a:endParaRPr>
            </a:p>
          </p:txBody>
        </p:sp>
        <p:sp>
          <p:nvSpPr>
            <p:cNvPr id="31" name="Text 21"/>
            <p:cNvSpPr txBox="1"/>
            <p:nvPr/>
          </p:nvSpPr>
          <p:spPr>
            <a:xfrm>
              <a:off x="7452135" y="2589941"/>
              <a:ext cx="302575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200" b="1" dirty="0">
                  <a:solidFill>
                    <a:srgbClr val="00C853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≥ 50%</a:t>
              </a:r>
              <a:endParaRPr lang="en-US" sz="7200" dirty="0">
                <a:latin typeface="Montserrat" pitchFamily="2" charset="0"/>
              </a:endParaRPr>
            </a:p>
          </p:txBody>
        </p:sp>
        <p:sp>
          <p:nvSpPr>
            <p:cNvPr id="32" name="Text 22"/>
            <p:cNvSpPr txBox="1"/>
            <p:nvPr/>
          </p:nvSpPr>
          <p:spPr>
            <a:xfrm>
              <a:off x="6688611" y="3693628"/>
              <a:ext cx="4552797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kern="0" spc="75" dirty="0">
                  <a:latin typeface="Montserrat" pitchFamily="2" charset="0"/>
                  <a:ea typeface="Poppins" pitchFamily="34" charset="-122"/>
                  <a:cs typeface="Poppins" pitchFamily="34" charset="-120"/>
                </a:rPr>
                <a:t>сокращение времени на анализ</a:t>
              </a:r>
              <a:endParaRPr lang="en-US" dirty="0">
                <a:latin typeface="Montserrat" pitchFamily="2" charset="0"/>
              </a:endParaRPr>
            </a:p>
          </p:txBody>
        </p:sp>
        <p:grpSp>
          <p:nvGrpSpPr>
            <p:cNvPr id="40" name="Группа 39">
              <a:extLst>
                <a:ext uri="{FF2B5EF4-FFF2-40B4-BE49-F238E27FC236}">
                  <a16:creationId xmlns:a16="http://schemas.microsoft.com/office/drawing/2014/main" id="{CA4900A8-CB37-2EC7-297A-F1DF4ED6AFB1}"/>
                </a:ext>
              </a:extLst>
            </p:cNvPr>
            <p:cNvGrpSpPr/>
            <p:nvPr/>
          </p:nvGrpSpPr>
          <p:grpSpPr>
            <a:xfrm>
              <a:off x="7629452" y="4180454"/>
              <a:ext cx="2808724" cy="398312"/>
              <a:chOff x="7657500" y="5269139"/>
              <a:chExt cx="2808724" cy="398312"/>
            </a:xfrm>
          </p:grpSpPr>
          <p:sp>
            <p:nvSpPr>
              <p:cNvPr id="33" name="Shape 23"/>
              <p:cNvSpPr/>
              <p:nvPr/>
            </p:nvSpPr>
            <p:spPr>
              <a:xfrm>
                <a:off x="7657500" y="5269139"/>
                <a:ext cx="2808724" cy="381305"/>
              </a:xfrm>
              <a:prstGeom prst="roundRect">
                <a:avLst>
                  <a:gd name="adj" fmla="val 50000"/>
                </a:avLst>
              </a:prstGeom>
              <a:solidFill>
                <a:srgbClr val="FFFDE7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 anchor="ctr" anchorCtr="1"/>
              <a:lstStyle/>
              <a:p>
                <a:endParaRPr lang="ru-KZ" dirty="0"/>
              </a:p>
            </p:txBody>
          </p:sp>
          <p:pic>
            <p:nvPicPr>
              <p:cNvPr id="34" name="Image 8" descr="preencoded.png"/>
              <p:cNvPicPr>
                <a:picLocks noChangeAspect="1"/>
              </p:cNvPicPr>
              <p:nvPr/>
            </p:nvPicPr>
            <p:blipFill>
              <a:blip r:embed="rId4"/>
              <a:srcRect l="-1648" r="-1648"/>
              <a:stretch/>
            </p:blipFill>
            <p:spPr>
              <a:xfrm>
                <a:off x="7848276" y="5362042"/>
                <a:ext cx="171907" cy="190195"/>
              </a:xfrm>
              <a:prstGeom prst="rect">
                <a:avLst/>
              </a:prstGeom>
            </p:spPr>
          </p:pic>
          <p:sp>
            <p:nvSpPr>
              <p:cNvPr id="35" name="Text 24"/>
              <p:cNvSpPr txBox="1"/>
              <p:nvPr/>
            </p:nvSpPr>
            <p:spPr>
              <a:xfrm>
                <a:off x="7833811" y="5269139"/>
                <a:ext cx="2435815" cy="3983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F57F17"/>
                    </a:solidFill>
                    <a:latin typeface="Montserrat" pitchFamily="2" charset="0"/>
                    <a:ea typeface="Poppins" pitchFamily="34" charset="-122"/>
                    <a:cs typeface="Poppins" pitchFamily="34" charset="-120"/>
                  </a:rPr>
                  <a:t>Экономия ~1100 чел/часов</a:t>
                </a:r>
                <a:endParaRPr lang="en-US" sz="1100" dirty="0">
                  <a:latin typeface="Montserrat" pitchFamily="2" charset="0"/>
                </a:endParaRPr>
              </a:p>
            </p:txBody>
          </p:sp>
        </p:grpSp>
        <p:sp>
          <p:nvSpPr>
            <p:cNvPr id="36" name="Text 25"/>
            <p:cNvSpPr txBox="1"/>
            <p:nvPr/>
          </p:nvSpPr>
          <p:spPr>
            <a:xfrm>
              <a:off x="7068400" y="5298934"/>
              <a:ext cx="3940568" cy="6976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16161"/>
                  </a:solidFill>
                  <a:latin typeface="Montserrat" pitchFamily="2" charset="0"/>
                  <a:ea typeface="Inter" pitchFamily="34" charset="-122"/>
                  <a:cs typeface="Inter" pitchFamily="34" charset="-120"/>
                </a:rPr>
                <a:t>Ускорение процессов разработки и снижение рисков ошибок при интеграции данных</a:t>
              </a:r>
              <a:endParaRPr lang="en-US" sz="1400" dirty="0">
                <a:latin typeface="Montserrat" pitchFamily="2" charset="0"/>
              </a:endParaRPr>
            </a:p>
          </p:txBody>
        </p:sp>
      </p:grpSp>
      <p:sp>
        <p:nvSpPr>
          <p:cNvPr id="37" name="Text 26"/>
          <p:cNvSpPr txBox="1"/>
          <p:nvPr/>
        </p:nvSpPr>
        <p:spPr>
          <a:xfrm>
            <a:off x="660737" y="6535244"/>
            <a:ext cx="24149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E9E9E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Интеграция из источника Onlinebank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8" name="Text 27"/>
          <p:cNvSpPr txBox="1"/>
          <p:nvPr/>
        </p:nvSpPr>
        <p:spPr>
          <a:xfrm>
            <a:off x="11639023" y="6535244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E9E9E"/>
                </a:solidFill>
                <a:latin typeface="Montserrat" pitchFamily="2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>
              <a:latin typeface="Montserrat" pitchFamily="2" charset="0"/>
            </a:endParaRPr>
          </a:p>
        </p:txBody>
      </p: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706DF8CE-1E2F-E821-A1E3-A5419AC96F06}"/>
              </a:ext>
            </a:extLst>
          </p:cNvPr>
          <p:cNvGrpSpPr/>
          <p:nvPr/>
        </p:nvGrpSpPr>
        <p:grpSpPr>
          <a:xfrm>
            <a:off x="571499" y="1020863"/>
            <a:ext cx="5333695" cy="5333695"/>
            <a:chOff x="571500" y="1276502"/>
            <a:chExt cx="5333695" cy="5333695"/>
          </a:xfrm>
        </p:grpSpPr>
        <p:pic>
          <p:nvPicPr>
            <p:cNvPr id="10" name="Image 1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71500" y="1276502"/>
              <a:ext cx="5333695" cy="5333695"/>
            </a:xfrm>
            <a:prstGeom prst="rect">
              <a:avLst/>
            </a:prstGeom>
          </p:spPr>
        </p:pic>
        <p:sp>
          <p:nvSpPr>
            <p:cNvPr id="14" name="Text 9"/>
            <p:cNvSpPr txBox="1"/>
            <p:nvPr/>
          </p:nvSpPr>
          <p:spPr>
            <a:xfrm>
              <a:off x="1955444" y="1644680"/>
              <a:ext cx="2565806" cy="6528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latin typeface="Montserrat" pitchFamily="2" charset="0"/>
                  <a:ea typeface="Poppins" pitchFamily="34" charset="-122"/>
                  <a:cs typeface="Poppins" pitchFamily="34" charset="-120"/>
                </a:rPr>
                <a:t>Необходимые ресурсы</a:t>
              </a:r>
              <a:endParaRPr lang="en-US" sz="2400" dirty="0">
                <a:latin typeface="Montserrat" pitchFamily="2" charset="0"/>
              </a:endParaRPr>
            </a:p>
          </p:txBody>
        </p:sp>
        <p:sp>
          <p:nvSpPr>
            <p:cNvPr id="15" name="Text 10"/>
            <p:cNvSpPr txBox="1"/>
            <p:nvPr/>
          </p:nvSpPr>
          <p:spPr>
            <a:xfrm>
              <a:off x="2935913" y="2589941"/>
              <a:ext cx="629107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200" b="1" dirty="0">
                  <a:solidFill>
                    <a:schemeClr val="bg1">
                      <a:lumMod val="75000"/>
                    </a:schemeClr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7200" dirty="0">
                <a:solidFill>
                  <a:schemeClr val="bg1">
                    <a:lumMod val="75000"/>
                  </a:schemeClr>
                </a:solidFill>
                <a:latin typeface="Montserrat" pitchFamily="2" charset="0"/>
              </a:endParaRPr>
            </a:p>
          </p:txBody>
        </p:sp>
        <p:sp>
          <p:nvSpPr>
            <p:cNvPr id="16" name="Text 11"/>
            <p:cNvSpPr txBox="1"/>
            <p:nvPr/>
          </p:nvSpPr>
          <p:spPr>
            <a:xfrm>
              <a:off x="2241194" y="3651109"/>
              <a:ext cx="19431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kern="0" spc="75" dirty="0">
                  <a:latin typeface="Montserrat" pitchFamily="2" charset="0"/>
                  <a:ea typeface="Poppins" pitchFamily="34" charset="-122"/>
                  <a:cs typeface="Poppins" pitchFamily="34" charset="-120"/>
                </a:rPr>
                <a:t>специалиста</a:t>
              </a:r>
              <a:endParaRPr lang="en-US" sz="1800" dirty="0">
                <a:latin typeface="Montserrat" pitchFamily="2" charset="0"/>
              </a:endParaRPr>
            </a:p>
          </p:txBody>
        </p:sp>
        <p:grpSp>
          <p:nvGrpSpPr>
            <p:cNvPr id="39" name="Группа 38">
              <a:extLst>
                <a:ext uri="{FF2B5EF4-FFF2-40B4-BE49-F238E27FC236}">
                  <a16:creationId xmlns:a16="http://schemas.microsoft.com/office/drawing/2014/main" id="{15AC8B70-5F1A-CB7E-829A-ED8F3F0096AF}"/>
                </a:ext>
              </a:extLst>
            </p:cNvPr>
            <p:cNvGrpSpPr/>
            <p:nvPr/>
          </p:nvGrpSpPr>
          <p:grpSpPr>
            <a:xfrm>
              <a:off x="1868203" y="4180454"/>
              <a:ext cx="2886761" cy="381305"/>
              <a:chOff x="1836115" y="4552798"/>
              <a:chExt cx="2886761" cy="381305"/>
            </a:xfrm>
          </p:grpSpPr>
          <p:sp>
            <p:nvSpPr>
              <p:cNvPr id="17" name="Shape 12"/>
              <p:cNvSpPr/>
              <p:nvPr/>
            </p:nvSpPr>
            <p:spPr>
              <a:xfrm>
                <a:off x="1836115" y="4552798"/>
                <a:ext cx="2809951" cy="381305"/>
              </a:xfrm>
              <a:prstGeom prst="roundRect">
                <a:avLst>
                  <a:gd name="adj" fmla="val 119904"/>
                </a:avLst>
              </a:prstGeom>
              <a:solidFill>
                <a:srgbClr val="F9FAFB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8" name="Text 13"/>
              <p:cNvSpPr/>
              <p:nvPr/>
            </p:nvSpPr>
            <p:spPr>
              <a:xfrm>
                <a:off x="2241194" y="4552798"/>
                <a:ext cx="2481682" cy="381305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757575"/>
                    </a:solidFill>
                    <a:latin typeface="Montserrat" pitchFamily="2" charset="0"/>
                    <a:ea typeface="Inter" pitchFamily="34" charset="-122"/>
                    <a:cs typeface="Inter" pitchFamily="34" charset="-120"/>
                  </a:rPr>
                  <a:t> на период полной интеграции </a:t>
                </a:r>
                <a:endParaRPr lang="en-US" sz="1100" dirty="0">
                  <a:latin typeface="Montserrat" pitchFamily="2" charset="0"/>
                </a:endParaRPr>
              </a:p>
            </p:txBody>
          </p:sp>
          <p:pic>
            <p:nvPicPr>
              <p:cNvPr id="19" name="Image 3" descr="preencoded.png"/>
              <p:cNvPicPr>
                <a:picLocks noChangeAspect="1"/>
              </p:cNvPicPr>
              <p:nvPr/>
            </p:nvPicPr>
            <p:blipFill>
              <a:blip r:embed="rId5"/>
              <a:srcRect t="-43" b="-43"/>
              <a:stretch/>
            </p:blipFill>
            <p:spPr>
              <a:xfrm>
                <a:off x="1987906" y="4667098"/>
                <a:ext cx="133502" cy="152705"/>
              </a:xfrm>
              <a:prstGeom prst="rect">
                <a:avLst/>
              </a:prstGeom>
            </p:spPr>
          </p:pic>
        </p:grpSp>
        <p:grpSp>
          <p:nvGrpSpPr>
            <p:cNvPr id="42" name="Группа 41">
              <a:extLst>
                <a:ext uri="{FF2B5EF4-FFF2-40B4-BE49-F238E27FC236}">
                  <a16:creationId xmlns:a16="http://schemas.microsoft.com/office/drawing/2014/main" id="{465B201A-7A39-D76F-82EF-5B293A997238}"/>
                </a:ext>
              </a:extLst>
            </p:cNvPr>
            <p:cNvGrpSpPr/>
            <p:nvPr/>
          </p:nvGrpSpPr>
          <p:grpSpPr>
            <a:xfrm>
              <a:off x="961949" y="5219395"/>
              <a:ext cx="4552798" cy="448056"/>
              <a:chOff x="961949" y="5219395"/>
              <a:chExt cx="4552798" cy="448056"/>
            </a:xfrm>
          </p:grpSpPr>
          <p:sp>
            <p:nvSpPr>
              <p:cNvPr id="20" name="Shape 14"/>
              <p:cNvSpPr/>
              <p:nvPr/>
            </p:nvSpPr>
            <p:spPr>
              <a:xfrm>
                <a:off x="961949" y="5219395"/>
                <a:ext cx="4552798" cy="448056"/>
              </a:xfrm>
              <a:prstGeom prst="roundRect">
                <a:avLst>
                  <a:gd name="adj" fmla="val 52106"/>
                </a:avLst>
              </a:prstGeom>
              <a:solidFill>
                <a:srgbClr val="F1F8E9">
                  <a:alpha val="71000"/>
                </a:srgbClr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pic>
            <p:nvPicPr>
              <p:cNvPr id="21" name="Image 4" descr="preencoded.png"/>
              <p:cNvPicPr>
                <a:picLocks noChangeAspect="1"/>
              </p:cNvPicPr>
              <p:nvPr/>
            </p:nvPicPr>
            <p:blipFill>
              <a:blip r:embed="rId6"/>
              <a:srcRect l="-25988" r="-25988"/>
              <a:stretch/>
            </p:blipFill>
            <p:spPr>
              <a:xfrm>
                <a:off x="1079795" y="5298934"/>
                <a:ext cx="373298" cy="280720"/>
              </a:xfrm>
              <a:prstGeom prst="rect">
                <a:avLst/>
              </a:prstGeom>
            </p:spPr>
          </p:pic>
          <p:sp>
            <p:nvSpPr>
              <p:cNvPr id="22" name="Text 15"/>
              <p:cNvSpPr txBox="1"/>
              <p:nvPr/>
            </p:nvSpPr>
            <p:spPr>
              <a:xfrm>
                <a:off x="1495044" y="5219395"/>
                <a:ext cx="2689250" cy="4480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100" b="1" dirty="0">
                    <a:solidFill>
                      <a:srgbClr val="2E7D32"/>
                    </a:solidFill>
                    <a:latin typeface="Montserrat" pitchFamily="2" charset="0"/>
                    <a:ea typeface="Inter" pitchFamily="34" charset="-122"/>
                    <a:cs typeface="Inter" pitchFamily="34" charset="-120"/>
                  </a:rPr>
                  <a:t>Архитектор / Инженер БД</a:t>
                </a:r>
                <a:endParaRPr lang="en-US" sz="1100" dirty="0">
                  <a:latin typeface="Montserrat" pitchFamily="2" charset="0"/>
                </a:endParaRPr>
              </a:p>
            </p:txBody>
          </p:sp>
        </p:grpSp>
        <p:grpSp>
          <p:nvGrpSpPr>
            <p:cNvPr id="43" name="Группа 42">
              <a:extLst>
                <a:ext uri="{FF2B5EF4-FFF2-40B4-BE49-F238E27FC236}">
                  <a16:creationId xmlns:a16="http://schemas.microsoft.com/office/drawing/2014/main" id="{BB0672D1-2CBC-2AA1-F4EE-09702A52E7DB}"/>
                </a:ext>
              </a:extLst>
            </p:cNvPr>
            <p:cNvGrpSpPr/>
            <p:nvPr/>
          </p:nvGrpSpPr>
          <p:grpSpPr>
            <a:xfrm>
              <a:off x="961949" y="5777179"/>
              <a:ext cx="4552798" cy="448056"/>
              <a:chOff x="961949" y="5777179"/>
              <a:chExt cx="4552798" cy="448056"/>
            </a:xfrm>
          </p:grpSpPr>
          <p:sp>
            <p:nvSpPr>
              <p:cNvPr id="23" name="Shape 16"/>
              <p:cNvSpPr/>
              <p:nvPr/>
            </p:nvSpPr>
            <p:spPr>
              <a:xfrm>
                <a:off x="961949" y="5777179"/>
                <a:ext cx="4552798" cy="448056"/>
              </a:xfrm>
              <a:prstGeom prst="roundRect">
                <a:avLst>
                  <a:gd name="adj" fmla="val 52106"/>
                </a:avLst>
              </a:prstGeom>
              <a:solidFill>
                <a:srgbClr val="F1F8E9">
                  <a:alpha val="71000"/>
                </a:srgbClr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25" name="Text 17"/>
              <p:cNvSpPr txBox="1"/>
              <p:nvPr/>
            </p:nvSpPr>
            <p:spPr>
              <a:xfrm>
                <a:off x="1495044" y="5777179"/>
                <a:ext cx="2689250" cy="4480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100" b="1" dirty="0">
                    <a:solidFill>
                      <a:srgbClr val="2E7D32"/>
                    </a:solidFill>
                    <a:latin typeface="Montserrat" pitchFamily="2" charset="0"/>
                    <a:ea typeface="Inter" pitchFamily="34" charset="-122"/>
                    <a:cs typeface="Inter" pitchFamily="34" charset="-120"/>
                  </a:rPr>
                  <a:t>Data Steward / Product Owner</a:t>
                </a:r>
                <a:endParaRPr lang="en-US" sz="1100" dirty="0">
                  <a:latin typeface="Montserrat" pitchFamily="2" charset="0"/>
                </a:endParaRPr>
              </a:p>
            </p:txBody>
          </p:sp>
          <p:pic>
            <p:nvPicPr>
              <p:cNvPr id="41" name="Image 4" descr="preencoded.png">
                <a:extLst>
                  <a:ext uri="{FF2B5EF4-FFF2-40B4-BE49-F238E27FC236}">
                    <a16:creationId xmlns:a16="http://schemas.microsoft.com/office/drawing/2014/main" id="{976CB7BA-B676-13A7-C304-52097D3FE8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-25988" r="-25988"/>
              <a:stretch/>
            </p:blipFill>
            <p:spPr>
              <a:xfrm>
                <a:off x="1079795" y="5851231"/>
                <a:ext cx="373298" cy="280720"/>
              </a:xfrm>
              <a:prstGeom prst="rect">
                <a:avLst/>
              </a:prstGeom>
            </p:spPr>
          </p:pic>
        </p:grp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1BFE7370-A507-1428-C70B-E0E61E9AE939}"/>
              </a:ext>
            </a:extLst>
          </p:cNvPr>
          <p:cNvGrpSpPr/>
          <p:nvPr/>
        </p:nvGrpSpPr>
        <p:grpSpPr>
          <a:xfrm>
            <a:off x="10491019" y="352044"/>
            <a:ext cx="1132834" cy="381305"/>
            <a:chOff x="10491019" y="352044"/>
            <a:chExt cx="1132834" cy="381305"/>
          </a:xfrm>
        </p:grpSpPr>
        <p:sp>
          <p:nvSpPr>
            <p:cNvPr id="47" name="Shape 3">
              <a:extLst>
                <a:ext uri="{FF2B5EF4-FFF2-40B4-BE49-F238E27FC236}">
                  <a16:creationId xmlns:a16="http://schemas.microsoft.com/office/drawing/2014/main" id="{12F9C272-A8BB-3D8F-120E-78E41E4ECEF4}"/>
                </a:ext>
              </a:extLst>
            </p:cNvPr>
            <p:cNvSpPr/>
            <p:nvPr/>
          </p:nvSpPr>
          <p:spPr>
            <a:xfrm>
              <a:off x="10491019" y="352044"/>
              <a:ext cx="1132834" cy="381305"/>
            </a:xfrm>
            <a:prstGeom prst="roundRect">
              <a:avLst>
                <a:gd name="adj" fmla="val 119904"/>
              </a:avLst>
            </a:prstGeom>
            <a:solidFill>
              <a:srgbClr val="00C853">
                <a:alpha val="5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KZ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245B5073-D472-FD45-858D-BE74E1E36DAE}"/>
                </a:ext>
              </a:extLst>
            </p:cNvPr>
            <p:cNvSpPr txBox="1"/>
            <p:nvPr/>
          </p:nvSpPr>
          <p:spPr>
            <a:xfrm>
              <a:off x="10604297" y="352044"/>
              <a:ext cx="924458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E7D32"/>
                  </a:solidFill>
                  <a:latin typeface="Montserrat" pitchFamily="2" charset="0"/>
                  <a:ea typeface="Poppins" pitchFamily="34" charset="-122"/>
                  <a:cs typeface="Poppins" pitchFamily="34" charset="-120"/>
                </a:rPr>
                <a:t>Halyk Bank</a:t>
              </a:r>
              <a:endParaRPr lang="en-US" sz="1200" dirty="0">
                <a:latin typeface="Montserrat" pitchFamily="2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488</Words>
  <Application>Microsoft Macintosh PowerPoint</Application>
  <PresentationFormat>Широкоэкранный</PresentationFormat>
  <Paragraphs>144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zhumabay azamatov</cp:lastModifiedBy>
  <cp:revision>10</cp:revision>
  <dcterms:created xsi:type="dcterms:W3CDTF">2026-02-05T07:59:29Z</dcterms:created>
  <dcterms:modified xsi:type="dcterms:W3CDTF">2026-02-05T08:59:56Z</dcterms:modified>
</cp:coreProperties>
</file>