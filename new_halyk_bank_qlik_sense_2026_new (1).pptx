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00" r:id="rId3"/>
    <p:sldId id="281" r:id="rId4"/>
    <p:sldId id="350" r:id="rId5"/>
    <p:sldId id="329" r:id="rId6"/>
    <p:sldId id="346" r:id="rId7"/>
    <p:sldId id="257" r:id="rId8"/>
    <p:sldId id="258" r:id="rId9"/>
    <p:sldId id="317" r:id="rId10"/>
    <p:sldId id="291" r:id="rId11"/>
    <p:sldId id="327" r:id="rId12"/>
    <p:sldId id="264" r:id="rId13"/>
    <p:sldId id="349" r:id="rId14"/>
    <p:sldId id="26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9CC"/>
    <a:srgbClr val="009844"/>
    <a:srgbClr val="FAF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/>
    <p:restoredTop sz="80672"/>
  </p:normalViewPr>
  <p:slideViewPr>
    <p:cSldViewPr snapToGrid="0" snapToObjects="1">
      <p:cViewPr>
        <p:scale>
          <a:sx n="107" d="100"/>
          <a:sy n="107" d="100"/>
        </p:scale>
        <p:origin x="20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6"/>
          <c:y val="0.06"/>
          <c:w val="0.92"/>
          <c:h val="0.8"/>
        </c:manualLayout>
      </c:layout>
      <c:barChart>
        <c:barDir val="col"/>
        <c:grouping val="stacked"/>
        <c:varyColors val="1"/>
        <c:ser>
          <c:idx val="0"/>
          <c:order val="0"/>
          <c:tx>
            <c:v>Analyzer</c:v>
          </c:tx>
          <c:spPr>
            <a:solidFill>
              <a:srgbClr val="009844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 (Фев)</c:v>
              </c:pt>
              <c:pt idx="3">
                <c:v>2024 (Июл)</c:v>
              </c:pt>
              <c:pt idx="4">
                <c:v>2026 (План)</c:v>
              </c:pt>
            </c:strLit>
          </c:cat>
          <c:val>
            <c:numLit>
              <c:formatCode>General</c:formatCode>
              <c:ptCount val="5"/>
              <c:pt idx="0">
                <c:v>215</c:v>
              </c:pt>
              <c:pt idx="1">
                <c:v>240</c:v>
              </c:pt>
              <c:pt idx="2">
                <c:v>463</c:v>
              </c:pt>
              <c:pt idx="3">
                <c:v>548</c:v>
              </c:pt>
              <c:pt idx="4">
                <c:v>793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97-034B-B821-6C04DB9DBDCD}"/>
            </c:ext>
          </c:extLst>
        </c:ser>
        <c:ser>
          <c:idx val="1"/>
          <c:order val="1"/>
          <c:tx>
            <c:v>Prof.</c:v>
          </c:tx>
          <c:spPr>
            <a:solidFill>
              <a:srgbClr val="02B9CC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 (Фев)</c:v>
              </c:pt>
              <c:pt idx="3">
                <c:v>2024 (Июл)</c:v>
              </c:pt>
              <c:pt idx="4">
                <c:v>2026 (План)</c:v>
              </c:pt>
            </c:strLit>
          </c:cat>
          <c:val>
            <c:numLit>
              <c:formatCode>General</c:formatCode>
              <c:ptCount val="5"/>
              <c:pt idx="0">
                <c:v>59</c:v>
              </c:pt>
              <c:pt idx="1">
                <c:v>139</c:v>
              </c:pt>
              <c:pt idx="2">
                <c:v>186</c:v>
              </c:pt>
              <c:pt idx="3">
                <c:v>245</c:v>
              </c:pt>
              <c:pt idx="4">
                <c:v>250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797-034B-B821-6C04DB9DB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99999"/>
                </a:solidFill>
                <a:latin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6347982283464569"/>
          <c:y val="0.93243243243243246"/>
          <c:w val="0.24804035433070867"/>
          <c:h val="4.5568206001276867E-2"/>
        </c:manualLayout>
      </c:layout>
      <c:overlay val="0"/>
      <c:txPr>
        <a:bodyPr/>
        <a:lstStyle/>
        <a:p>
          <a:pPr>
            <a:defRPr sz="900">
              <a:solidFill>
                <a:srgbClr val="666666"/>
              </a:solidFill>
              <a:latin typeface="Montserrat"/>
            </a:defRPr>
          </a:pPr>
          <a:endParaRPr lang="ru-RU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Professional Analyzer</c:v>
          </c:tx>
          <c:spPr>
            <a:ln w="25400">
              <a:solidFill>
                <a:srgbClr val="009844"/>
              </a:solidFill>
            </a:ln>
          </c:spPr>
          <c:marker>
            <c:symbol val="circle"/>
            <c:size val="6"/>
            <c:spPr>
              <a:solidFill>
                <a:srgbClr val="009844"/>
              </a:solidFill>
              <a:ln>
                <a:solidFill>
                  <a:srgbClr val="F5A62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09844"/>
                    </a:solidFill>
                    <a:latin typeface="Montserrat"/>
                    <a:cs typeface="Montserrat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370</c:v>
              </c:pt>
              <c:pt idx="1">
                <c:v>363</c:v>
              </c:pt>
              <c:pt idx="2">
                <c:v>385</c:v>
              </c:pt>
              <c:pt idx="3">
                <c:v>411</c:v>
              </c:pt>
              <c:pt idx="4">
                <c:v>425</c:v>
              </c:pt>
              <c:pt idx="5">
                <c:v>411</c:v>
              </c:pt>
              <c:pt idx="6">
                <c:v>430</c:v>
              </c:pt>
              <c:pt idx="7">
                <c:v>442</c:v>
              </c:pt>
              <c:pt idx="8">
                <c:v>453</c:v>
              </c:pt>
              <c:pt idx="9">
                <c:v>468</c:v>
              </c:pt>
              <c:pt idx="10">
                <c:v>483</c:v>
              </c:pt>
              <c:pt idx="11">
                <c:v>475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BD4-0B43-BDE9-CECD4FCE7CD2}"/>
            </c:ext>
          </c:extLst>
        </c:ser>
        <c:ser>
          <c:idx val="1"/>
          <c:order val="1"/>
          <c:tx>
            <c:v>Analyzer</c:v>
          </c:tx>
          <c:spPr>
            <a:ln w="25400">
              <a:solidFill>
                <a:srgbClr val="02B9CC"/>
              </a:solidFill>
            </a:ln>
          </c:spPr>
          <c:marker>
            <c:symbol val="circle"/>
            <c:size val="6"/>
            <c:spPr>
              <a:solidFill>
                <a:srgbClr val="02B9CC"/>
              </a:solidFill>
              <a:ln>
                <a:solidFill>
                  <a:srgbClr val="02B9CC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2B9CC"/>
                    </a:solidFill>
                    <a:latin typeface="Montserrat"/>
                    <a:cs typeface="Montserrat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201</c:v>
              </c:pt>
              <c:pt idx="1">
                <c:v>203</c:v>
              </c:pt>
              <c:pt idx="2">
                <c:v>203</c:v>
              </c:pt>
              <c:pt idx="3">
                <c:v>202</c:v>
              </c:pt>
              <c:pt idx="4">
                <c:v>209</c:v>
              </c:pt>
              <c:pt idx="5">
                <c:v>209</c:v>
              </c:pt>
              <c:pt idx="6">
                <c:v>224</c:v>
              </c:pt>
              <c:pt idx="7">
                <c:v>218</c:v>
              </c:pt>
              <c:pt idx="8">
                <c:v>231</c:v>
              </c:pt>
              <c:pt idx="9">
                <c:v>225</c:v>
              </c:pt>
              <c:pt idx="10">
                <c:v>237</c:v>
              </c:pt>
              <c:pt idx="11">
                <c:v>232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BD4-0B43-BDE9-CECD4FCE7CD2}"/>
            </c:ext>
          </c:extLst>
        </c:ser>
        <c:ser>
          <c:idx val="2"/>
          <c:order val="2"/>
          <c:tx>
            <c:v>Analyzer Capacity</c:v>
          </c:tx>
          <c:spPr>
            <a:ln w="19050">
              <a:solidFill>
                <a:srgbClr val="7ECFC0"/>
              </a:solidFill>
            </a:ln>
          </c:spPr>
          <c:marker>
            <c:symbol val="none"/>
          </c:marker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  <c:pt idx="7">
                <c:v>200</c:v>
              </c:pt>
              <c:pt idx="8">
                <c:v>200</c:v>
              </c:pt>
              <c:pt idx="9">
                <c:v>200</c:v>
              </c:pt>
              <c:pt idx="10">
                <c:v>200</c:v>
              </c:pt>
              <c:pt idx="11">
                <c:v>200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BD4-0B43-BDE9-CECD4FCE7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 rot="-5400000" vert="horz"/>
          <a:lstStyle/>
          <a:p>
            <a:pPr>
              <a:defRPr sz="8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"/>
          <c:min val="0"/>
        </c:scaling>
        <c:delete val="0"/>
        <c:axPos val="l"/>
        <c:majorGridlines>
          <c:spPr>
            <a:ln w="3175">
              <a:solidFill>
                <a:srgbClr val="E8E8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Professional Analyzer</c:v>
          </c:tx>
          <c:spPr>
            <a:ln w="25400">
              <a:solidFill>
                <a:srgbClr val="009844"/>
              </a:solidFill>
            </a:ln>
          </c:spPr>
          <c:marker>
            <c:symbol val="circle"/>
            <c:size val="6"/>
            <c:spPr>
              <a:solidFill>
                <a:srgbClr val="009844"/>
              </a:solidFill>
              <a:ln>
                <a:solidFill>
                  <a:srgbClr val="F5A62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09844"/>
                    </a:solidFill>
                    <a:latin typeface="Montserrat"/>
                    <a:cs typeface="Montserrat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370</c:v>
              </c:pt>
              <c:pt idx="1">
                <c:v>363</c:v>
              </c:pt>
              <c:pt idx="2">
                <c:v>385</c:v>
              </c:pt>
              <c:pt idx="3">
                <c:v>411</c:v>
              </c:pt>
              <c:pt idx="4">
                <c:v>425</c:v>
              </c:pt>
              <c:pt idx="5">
                <c:v>411</c:v>
              </c:pt>
              <c:pt idx="6">
                <c:v>430</c:v>
              </c:pt>
              <c:pt idx="7">
                <c:v>442</c:v>
              </c:pt>
              <c:pt idx="8">
                <c:v>453</c:v>
              </c:pt>
              <c:pt idx="9">
                <c:v>468</c:v>
              </c:pt>
              <c:pt idx="10">
                <c:v>483</c:v>
              </c:pt>
              <c:pt idx="11">
                <c:v>475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BD4-0B43-BDE9-CECD4FCE7CD2}"/>
            </c:ext>
          </c:extLst>
        </c:ser>
        <c:ser>
          <c:idx val="1"/>
          <c:order val="1"/>
          <c:tx>
            <c:v>Analyzer</c:v>
          </c:tx>
          <c:spPr>
            <a:ln w="25400">
              <a:solidFill>
                <a:srgbClr val="02B9CC"/>
              </a:solidFill>
            </a:ln>
          </c:spPr>
          <c:marker>
            <c:symbol val="circle"/>
            <c:size val="6"/>
            <c:spPr>
              <a:solidFill>
                <a:srgbClr val="02B9CC"/>
              </a:solidFill>
              <a:ln>
                <a:solidFill>
                  <a:srgbClr val="02B9CC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2B9CC"/>
                    </a:solidFill>
                    <a:latin typeface="Montserrat"/>
                    <a:cs typeface="Montserrat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201</c:v>
              </c:pt>
              <c:pt idx="1">
                <c:v>203</c:v>
              </c:pt>
              <c:pt idx="2">
                <c:v>203</c:v>
              </c:pt>
              <c:pt idx="3">
                <c:v>202</c:v>
              </c:pt>
              <c:pt idx="4">
                <c:v>209</c:v>
              </c:pt>
              <c:pt idx="5">
                <c:v>209</c:v>
              </c:pt>
              <c:pt idx="6">
                <c:v>224</c:v>
              </c:pt>
              <c:pt idx="7">
                <c:v>218</c:v>
              </c:pt>
              <c:pt idx="8">
                <c:v>231</c:v>
              </c:pt>
              <c:pt idx="9">
                <c:v>225</c:v>
              </c:pt>
              <c:pt idx="10">
                <c:v>237</c:v>
              </c:pt>
              <c:pt idx="11">
                <c:v>232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BD4-0B43-BDE9-CECD4FCE7CD2}"/>
            </c:ext>
          </c:extLst>
        </c:ser>
        <c:ser>
          <c:idx val="2"/>
          <c:order val="2"/>
          <c:tx>
            <c:v>Analyzer Capacity</c:v>
          </c:tx>
          <c:spPr>
            <a:ln w="19050">
              <a:solidFill>
                <a:srgbClr val="7ECFC0"/>
              </a:solidFill>
            </a:ln>
          </c:spPr>
          <c:marker>
            <c:symbol val="none"/>
          </c:marker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  <c:pt idx="7">
                <c:v>200</c:v>
              </c:pt>
              <c:pt idx="8">
                <c:v>200</c:v>
              </c:pt>
              <c:pt idx="9">
                <c:v>200</c:v>
              </c:pt>
              <c:pt idx="10">
                <c:v>200</c:v>
              </c:pt>
              <c:pt idx="11">
                <c:v>200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BD4-0B43-BDE9-CECD4FCE7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 rot="-5400000" vert="horz"/>
          <a:lstStyle/>
          <a:p>
            <a:pPr>
              <a:defRPr sz="8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"/>
          <c:min val="0"/>
        </c:scaling>
        <c:delete val="0"/>
        <c:axPos val="l"/>
        <c:majorGridlines>
          <c:spPr>
            <a:ln w="3175">
              <a:solidFill>
                <a:srgbClr val="E8E8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Закуп/Продление</c:v>
          </c:tx>
          <c:spPr>
            <a:solidFill>
              <a:srgbClr val="43A047"/>
            </a:solidFill>
            <a:ln>
              <a:noFill/>
            </a:ln>
          </c:spPr>
          <c:invertIfNegative val="1"/>
          <c:dLbls>
            <c:dLbl>
              <c:idx val="0"/>
              <c:layout>
                <c:manualLayout>
                  <c:x val="5.5350553505534887E-3"/>
                  <c:y val="5.21885132005558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DF-1749-BC6B-861C8CF16C3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F09-FC49-A440-2C0BA9568E74}"/>
                </c:ext>
              </c:extLst>
            </c:dLbl>
            <c:dLbl>
              <c:idx val="2"/>
              <c:layout>
                <c:manualLayout>
                  <c:x val="0"/>
                  <c:y val="-7.038906901343214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DF-1749-BC6B-861C8CF16C3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09-FC49-A440-2C0BA9568E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F09-FC49-A440-2C0BA9568E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chemeClr val="tx1"/>
                    </a:solidFill>
                    <a:latin typeface="Montserra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General</c:formatCode>
              <c:ptCount val="5"/>
              <c:pt idx="0">
                <c:v>110</c:v>
              </c:pt>
              <c:pt idx="1">
                <c:v>0</c:v>
              </c:pt>
              <c:pt idx="2">
                <c:v>464</c:v>
              </c:pt>
              <c:pt idx="3">
                <c:v>0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6CD-464B-BD1C-3971B6BEC2FF}"/>
            </c:ext>
          </c:extLst>
        </c:ser>
        <c:ser>
          <c:idx val="1"/>
          <c:order val="1"/>
          <c:tx>
            <c:v>Докупка/Масштабирование</c:v>
          </c:tx>
          <c:spPr>
            <a:solidFill>
              <a:srgbClr val="7B1FA2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pattFill prst="wd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75000"/>
                  </a:schemeClr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8DF-1749-BC6B-861C8CF16C38}"/>
              </c:ext>
            </c:extLst>
          </c:dPt>
          <c:dPt>
            <c:idx val="4"/>
            <c:invertIfNegative val="1"/>
            <c:bubble3D val="0"/>
            <c:spPr>
              <a:pattFill prst="wd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75000"/>
                  </a:schemeClr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8DF-1749-BC6B-861C8CF16C38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09-FC49-A440-2C0BA9568E74}"/>
                </c:ext>
              </c:extLst>
            </c:dLbl>
            <c:dLbl>
              <c:idx val="1"/>
              <c:layout>
                <c:manualLayout>
                  <c:x val="-3.6900369003690036E-3"/>
                  <c:y val="1.0553960166743863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791-464D-AC08-1902A1471D19}"/>
                </c:ext>
              </c:extLst>
            </c:dLbl>
            <c:dLbl>
              <c:idx val="2"/>
              <c:layout>
                <c:manualLayout>
                  <c:x val="-1.3529979001881025E-16"/>
                  <c:y val="6.723946271421955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DF-1749-BC6B-861C8CF16C38}"/>
                </c:ext>
              </c:extLst>
            </c:dLbl>
            <c:dLbl>
              <c:idx val="3"/>
              <c:layout>
                <c:manualLayout>
                  <c:x val="0"/>
                  <c:y val="5.2658638258451908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DF-1749-BC6B-861C8CF16C38}"/>
                </c:ext>
              </c:extLst>
            </c:dLbl>
            <c:dLbl>
              <c:idx val="4"/>
              <c:layout>
                <c:manualLayout>
                  <c:x val="0"/>
                  <c:y val="6.3615099583140345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DF-1749-BC6B-861C8CF16C3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29</c:v>
              </c:pt>
              <c:pt idx="2">
                <c:v>26</c:v>
              </c:pt>
              <c:pt idx="3">
                <c:v>59</c:v>
              </c:pt>
              <c:pt idx="4">
                <c:v>614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6CD-464B-BD1C-3971B6BEC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1">
                <a:solidFill>
                  <a:srgbClr val="555555"/>
                </a:solidFill>
                <a:latin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>
          <c:spPr>
            <a:ln w="3175">
              <a:solidFill>
                <a:srgbClr val="EEEEEE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99999"/>
                </a:solidFill>
                <a:latin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2"/>
          <c:w val="0.92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Лицензии</c:v>
          </c:tx>
          <c:spPr>
            <a:solidFill>
              <a:srgbClr val="BFBFBF"/>
            </a:solidFill>
            <a:ln w="0">
              <a:noFill/>
            </a:ln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982B-1549-AF5F-7D84E6FB8BFE}"/>
              </c:ext>
            </c:extLst>
          </c:dPt>
          <c:dPt>
            <c:idx val="4"/>
            <c:invertIfNegative val="0"/>
            <c:bubble3D val="0"/>
            <c:spPr>
              <a:pattFill prst="wdUpDiag">
                <a:fgClr>
                  <a:schemeClr val="bg1">
                    <a:lumMod val="65000"/>
                  </a:schemeClr>
                </a:fgClr>
                <a:bgClr>
                  <a:schemeClr val="bg1"/>
                </a:bgClr>
              </a:pattFill>
              <a:ln w="0">
                <a:solidFill>
                  <a:schemeClr val="bg1">
                    <a:lumMod val="75000"/>
                  </a:schemeClr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982B-1549-AF5F-7D84E6FB8BFE}"/>
              </c:ext>
            </c:extLst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Montserrat"/>
                    <a:cs typeface="Montserra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#,##0</c:formatCode>
              <c:ptCount val="5"/>
              <c:pt idx="0">
                <c:v>274</c:v>
              </c:pt>
              <c:pt idx="1">
                <c:v>379</c:v>
              </c:pt>
              <c:pt idx="2">
                <c:v>793</c:v>
              </c:pt>
              <c:pt idx="3">
                <c:v>1043</c:v>
              </c:pt>
              <c:pt idx="4">
                <c:v>1362</c:v>
              </c:pt>
            </c:numLit>
          </c:val>
          <c:extLst>
            <c:ext xmlns:c16="http://schemas.microsoft.com/office/drawing/2014/chart" uri="{C3380CC4-5D6E-409C-BE32-E72D297353CC}">
              <c16:uniqueId val="{00000004-982B-1549-AF5F-7D84E6FB8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D9D9D9"/>
            </a:solidFill>
          </a:ln>
        </c:spPr>
        <c:txPr>
          <a:bodyPr/>
          <a:lstStyle/>
          <a:p>
            <a:pPr>
              <a:defRPr sz="1100" b="1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60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99999"/>
                </a:solidFill>
                <a:latin typeface="Montserrat"/>
                <a:cs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94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2213-4491-92E5-BAAE-37847536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636CE-9EAD-C824-250F-520A624D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50F0C-5B60-8661-D287-758FE791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изменить </a:t>
            </a:r>
            <a:r>
              <a:rPr lang="ru-RU" dirty="0" err="1"/>
              <a:t>проф</a:t>
            </a:r>
            <a:r>
              <a:rPr lang="ru-RU" dirty="0"/>
              <a:t> и </a:t>
            </a:r>
            <a:r>
              <a:rPr lang="ru-RU" dirty="0" err="1"/>
              <a:t>аналайзе</a:t>
            </a:r>
            <a:r>
              <a:rPr lang="ru-RU" dirty="0"/>
              <a:t> 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C0A0A-089E-FD2A-57E0-87E02006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2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2213-4491-92E5-BAAE-37847536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636CE-9EAD-C824-250F-520A624D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50F0C-5B60-8661-D287-758FE791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изменить </a:t>
            </a:r>
            <a:r>
              <a:rPr lang="ru-RU" dirty="0" err="1"/>
              <a:t>проф</a:t>
            </a:r>
            <a:r>
              <a:rPr lang="ru-RU" dirty="0"/>
              <a:t> и </a:t>
            </a:r>
            <a:r>
              <a:rPr lang="ru-RU" dirty="0" err="1"/>
              <a:t>аналайзе</a:t>
            </a:r>
            <a:r>
              <a:rPr lang="ru-RU" dirty="0"/>
              <a:t> 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C0A0A-089E-FD2A-57E0-87E02006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40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7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057729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chart" Target="../charts/chart1.xml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3.png"/><Relationship Id="rId10" Type="http://schemas.openxmlformats.org/officeDocument/2006/relationships/image" Target="../media/image14.svg"/><Relationship Id="rId4" Type="http://schemas.openxmlformats.org/officeDocument/2006/relationships/chart" Target="../charts/chart2.xml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0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5902" y="571500"/>
            <a:ext cx="5715000" cy="5715000"/>
          </a:xfrm>
          <a:prstGeom prst="ellips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20049" y="1285646"/>
            <a:ext cx="4286707" cy="4286707"/>
          </a:xfrm>
          <a:prstGeom prst="ellipse">
            <a:avLst/>
          </a:prstGeom>
          <a:solidFill>
            <a:srgbClr val="F9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82305" y="1429207"/>
            <a:ext cx="190195" cy="190195"/>
          </a:xfrm>
          <a:prstGeom prst="ellipse">
            <a:avLst/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34395" y="5029200"/>
            <a:ext cx="114300" cy="114300"/>
          </a:xfrm>
          <a:prstGeom prst="ellipse">
            <a:avLst/>
          </a:prstGeom>
          <a:solidFill>
            <a:srgbClr val="00B9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80853" y="5790895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>
                    <a:alpha val="10000"/>
                  </a:srgb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360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1695" y="1035101"/>
            <a:ext cx="7573061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Qlik Sense:</a:t>
            </a:r>
            <a:endParaRPr lang="en-US" sz="48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Текущая ситуация</a:t>
            </a:r>
            <a:endParaRPr lang="en-US" sz="48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и стратегия развития </a:t>
            </a:r>
            <a:endParaRPr lang="en-US" sz="4800" dirty="0">
              <a:latin typeface="Montserrat" pitchFamily="2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6E474C2-A585-267A-F7C8-8F3FFE797C56}"/>
              </a:ext>
            </a:extLst>
          </p:cNvPr>
          <p:cNvGrpSpPr/>
          <p:nvPr/>
        </p:nvGrpSpPr>
        <p:grpSpPr>
          <a:xfrm>
            <a:off x="952347" y="5086350"/>
            <a:ext cx="4126687" cy="845873"/>
            <a:chOff x="981151" y="4326941"/>
            <a:chExt cx="4126687" cy="845873"/>
          </a:xfrm>
        </p:grpSpPr>
        <p:sp>
          <p:nvSpPr>
            <p:cNvPr id="11" name="Text 9"/>
            <p:cNvSpPr txBox="1"/>
            <p:nvPr/>
          </p:nvSpPr>
          <p:spPr>
            <a:xfrm>
              <a:off x="981151" y="4326941"/>
              <a:ext cx="412668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Обзор текущих результатов использования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981151" y="4621323"/>
              <a:ext cx="309433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Сравнительный анализ BI-рынка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981151" y="4914953"/>
              <a:ext cx="402336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Стратегический план развития платформы</a:t>
              </a:r>
              <a:endParaRPr lang="en-US" sz="1300" dirty="0">
                <a:latin typeface="Montserrat" pitchFamily="2" charset="0"/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761695" y="6099048"/>
            <a:ext cx="7619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2165" b="-2165"/>
          <a:stretch/>
        </p:blipFill>
        <p:spPr>
          <a:xfrm>
            <a:off x="2439969" y="6341646"/>
            <a:ext cx="9144" cy="2862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0564" y="6484925"/>
            <a:ext cx="36044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Департамент </a:t>
            </a:r>
            <a:r>
              <a:rPr lang="ru-RU" sz="10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технологических платформ данных 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52347" y="3055011"/>
            <a:ext cx="9189129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Ежегодный отчет для руководства Halyk Bank.</a:t>
            </a:r>
            <a:endParaRPr lang="en-US" sz="24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эффективности платформы бизнес-аналитики. </a:t>
            </a:r>
            <a:endParaRPr lang="en-US" sz="2400" dirty="0">
              <a:latin typeface="Montserrat" pitchFamily="2" charset="0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B8426D39-D0AA-447D-FF86-36AACD1D6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2" t="20754" r="53125" b="19492"/>
          <a:stretch>
            <a:fillRect/>
          </a:stretch>
        </p:blipFill>
        <p:spPr bwMode="auto">
          <a:xfrm rot="900000">
            <a:off x="9548666" y="2042917"/>
            <a:ext cx="2613916" cy="243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80456680-9CD4-BC1D-B93F-C08B4749B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36" y="6240086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2">
            <a:extLst>
              <a:ext uri="{FF2B5EF4-FFF2-40B4-BE49-F238E27FC236}">
                <a16:creationId xmlns:a16="http://schemas.microsoft.com/office/drawing/2014/main" id="{2C9F52DF-9701-BBE0-CE58-BC8D0DCCB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16094"/>
          <a:stretch>
            <a:fillRect/>
          </a:stretch>
        </p:blipFill>
        <p:spPr bwMode="auto">
          <a:xfrm>
            <a:off x="2449113" y="6192359"/>
            <a:ext cx="1188974" cy="47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6099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Рост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1086307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Динамика использования с 2021 года и прогноз потребности на 2026 год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953098" y="1619401"/>
            <a:ext cx="4667098" cy="4102100"/>
          </a:xfrm>
          <a:prstGeom prst="roundRect">
            <a:avLst>
              <a:gd name="adj" fmla="val 48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144207" y="1809598"/>
            <a:ext cx="28346" cy="200254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7267651" y="1809598"/>
            <a:ext cx="42775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Потребность 2026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144207" y="2381098"/>
            <a:ext cx="2057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+250</a:t>
            </a:r>
            <a:endParaRPr lang="en-US" sz="4800" dirty="0">
              <a:latin typeface="Montserrat" pitchFamily="2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144207" y="3038551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Дополнительных</a:t>
            </a:r>
            <a:endParaRPr lang="en-US" sz="10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лицензий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144207" y="3514954"/>
            <a:ext cx="221284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* из них филиалы: 75 лицензий Analyzer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9144000" y="2000707"/>
            <a:ext cx="2286000" cy="19046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125528" y="4535523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 l="-9378" r="-9378"/>
          <a:stretch/>
        </p:blipFill>
        <p:spPr>
          <a:xfrm>
            <a:off x="7125528" y="4340756"/>
            <a:ext cx="152705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54128" y="4311494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развития онлайн продаж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11019043" y="4306923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1019043" y="4306923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+70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125528" y="4830875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 l="-16800" r="-16800"/>
          <a:stretch/>
        </p:blipFill>
        <p:spPr>
          <a:xfrm>
            <a:off x="7125528" y="4636107"/>
            <a:ext cx="152705" cy="1143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54128" y="4606847"/>
            <a:ext cx="16907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кредитных анализов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1018129" y="4602275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11018129" y="4602275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+50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7125528" y="5126225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 l="-16800" r="-16800"/>
          <a:stretch/>
        </p:blipFill>
        <p:spPr>
          <a:xfrm>
            <a:off x="7125528" y="4931459"/>
            <a:ext cx="152705" cy="1143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354128" y="4902197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кредитных рисков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1029102" y="4897625"/>
            <a:ext cx="390449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11029102" y="4897625"/>
            <a:ext cx="46725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+25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125528" y="5421577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l="-3440" r="-3440"/>
          <a:stretch/>
        </p:blipFill>
        <p:spPr>
          <a:xfrm>
            <a:off x="7125528" y="5225895"/>
            <a:ext cx="152705" cy="1143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354128" y="5197549"/>
            <a:ext cx="19129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цифровых кредитных КЛ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10634995" y="5192977"/>
            <a:ext cx="371246" cy="181051"/>
          </a:xfrm>
          <a:prstGeom prst="roundRect">
            <a:avLst>
              <a:gd name="adj" fmla="val 159490"/>
            </a:avLst>
          </a:prstGeom>
          <a:solidFill>
            <a:srgbClr val="00B9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10634995" y="5192977"/>
            <a:ext cx="4480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+18 P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4" name="Shape 35"/>
          <p:cNvSpPr/>
          <p:nvPr/>
        </p:nvSpPr>
        <p:spPr>
          <a:xfrm>
            <a:off x="11076651" y="5192977"/>
            <a:ext cx="342900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11076651" y="5192977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+8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9716479" y="4309038"/>
            <a:ext cx="11036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Филиальная сеть</a:t>
            </a:r>
            <a:endParaRPr lang="en-US" sz="900" dirty="0">
              <a:solidFill>
                <a:srgbClr val="009844"/>
              </a:solidFill>
              <a:latin typeface="Montserrat" pitchFamily="2" charset="0"/>
            </a:endParaRPr>
          </a:p>
        </p:txBody>
      </p:sp>
      <p:sp>
        <p:nvSpPr>
          <p:cNvPr id="52" name="Text 42"/>
          <p:cNvSpPr txBox="1"/>
          <p:nvPr/>
        </p:nvSpPr>
        <p:spPr>
          <a:xfrm>
            <a:off x="571500" y="6381598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3" name="Text 43"/>
          <p:cNvSpPr txBox="1"/>
          <p:nvPr/>
        </p:nvSpPr>
        <p:spPr>
          <a:xfrm>
            <a:off x="9639605" y="638159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3877C23-74E1-9A8F-3BDD-2DEEB9096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892811044"/>
              </p:ext>
            </p:extLst>
          </p:nvPr>
        </p:nvGraphicFramePr>
        <p:xfrm>
          <a:off x="571500" y="1625600"/>
          <a:ext cx="6096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00" name="Annotation 300"/>
          <p:cNvSpPr txBox="1"/>
          <p:nvPr/>
        </p:nvSpPr>
        <p:spPr>
          <a:xfrm>
            <a:off x="581163" y="1410004"/>
            <a:ext cx="28067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ru-RU" sz="1000" b="1" dirty="0">
                <a:solidFill>
                  <a:srgbClr val="000000"/>
                </a:solidFill>
                <a:latin typeface="Montserrat"/>
              </a:rPr>
              <a:t>Динамика роста пользователей</a:t>
            </a:r>
          </a:p>
        </p:txBody>
      </p:sp>
      <p:sp>
        <p:nvSpPr>
          <p:cNvPr id="301" name="Annotation 301"/>
          <p:cNvSpPr txBox="1"/>
          <p:nvPr/>
        </p:nvSpPr>
        <p:spPr>
          <a:xfrm>
            <a:off x="1029528" y="4481932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274</a:t>
            </a:r>
          </a:p>
        </p:txBody>
      </p:sp>
      <p:sp>
        <p:nvSpPr>
          <p:cNvPr id="302" name="Annotation 302"/>
          <p:cNvSpPr txBox="1"/>
          <p:nvPr/>
        </p:nvSpPr>
        <p:spPr>
          <a:xfrm>
            <a:off x="2135532" y="3797605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+38%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379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(+105)</a:t>
            </a:r>
          </a:p>
        </p:txBody>
      </p:sp>
      <p:sp>
        <p:nvSpPr>
          <p:cNvPr id="303" name="Annotation 303"/>
          <p:cNvSpPr txBox="1"/>
          <p:nvPr/>
        </p:nvSpPr>
        <p:spPr>
          <a:xfrm>
            <a:off x="3317875" y="2930754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+71%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649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(+270)</a:t>
            </a:r>
          </a:p>
        </p:txBody>
      </p:sp>
      <p:sp>
        <p:nvSpPr>
          <p:cNvPr id="304" name="Annotation 304"/>
          <p:cNvSpPr txBox="1"/>
          <p:nvPr/>
        </p:nvSpPr>
        <p:spPr>
          <a:xfrm>
            <a:off x="4397375" y="2517850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+22%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793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(+144)</a:t>
            </a:r>
          </a:p>
        </p:txBody>
      </p:sp>
      <p:sp>
        <p:nvSpPr>
          <p:cNvPr id="305" name="Annotation 305"/>
          <p:cNvSpPr txBox="1"/>
          <p:nvPr/>
        </p:nvSpPr>
        <p:spPr>
          <a:xfrm>
            <a:off x="5509006" y="1777407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+32%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1043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(+250)</a:t>
            </a:r>
          </a:p>
        </p:txBody>
      </p:sp>
      <p:sp>
        <p:nvSpPr>
          <p:cNvPr id="2" name="Text 39">
            <a:extLst>
              <a:ext uri="{FF2B5EF4-FFF2-40B4-BE49-F238E27FC236}">
                <a16:creationId xmlns:a16="http://schemas.microsoft.com/office/drawing/2014/main" id="{16240CF0-C81F-CEAF-7E81-CAB5740E129D}"/>
              </a:ext>
            </a:extLst>
          </p:cNvPr>
          <p:cNvSpPr txBox="1"/>
          <p:nvPr/>
        </p:nvSpPr>
        <p:spPr>
          <a:xfrm>
            <a:off x="9716479" y="4610505"/>
            <a:ext cx="11036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Филиальная сеть</a:t>
            </a:r>
            <a:endParaRPr lang="en-US" sz="900" dirty="0">
              <a:solidFill>
                <a:srgbClr val="009844"/>
              </a:solidFill>
              <a:latin typeface="Montserrat" pitchFamily="2" charset="0"/>
            </a:endParaRPr>
          </a:p>
        </p:txBody>
      </p:sp>
      <p:sp>
        <p:nvSpPr>
          <p:cNvPr id="500" name="Divider Line"/>
          <p:cNvSpPr/>
          <p:nvPr/>
        </p:nvSpPr>
        <p:spPr>
          <a:xfrm>
            <a:off x="7150100" y="3911600"/>
            <a:ext cx="4292600" cy="127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Sub Header"/>
          <p:cNvSpPr txBox="1"/>
          <p:nvPr/>
        </p:nvSpPr>
        <p:spPr>
          <a:xfrm>
            <a:off x="7126036" y="4036262"/>
            <a:ext cx="4292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900" b="1" kern="0" spc="38" dirty="0"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ТОП-4 </a:t>
            </a:r>
            <a:r>
              <a:rPr lang="en-US" sz="900" b="1" kern="0" spc="38" dirty="0" err="1"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Департамента</a:t>
            </a:r>
            <a:endParaRPr lang="en-US" sz="900" b="1" kern="0" spc="38" dirty="0">
              <a:latin typeface="Montserrat" pitchFamily="2" charset="0"/>
              <a:ea typeface="Montserrat" pitchFamily="34" charset="-122"/>
              <a:cs typeface="Montserra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224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571500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Использование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Текущее состояние распределения лицензий в банке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10370210" y="6476695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1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0E9A62FF-71CE-449C-9ACD-B8D686977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RowBg0"/>
          <p:cNvSpPr/>
          <p:nvPr/>
        </p:nvSpPr>
        <p:spPr>
          <a:xfrm>
            <a:off x="571500" y="1397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000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Label0"/>
          <p:cNvSpPr/>
          <p:nvPr/>
        </p:nvSpPr>
        <p:spPr>
          <a:xfrm>
            <a:off x="723900" y="1498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Montserrat"/>
                <a:cs typeface="Montserrat"/>
              </a:rPr>
              <a:t>ОБЩЕЕ</a:t>
            </a:r>
          </a:p>
        </p:txBody>
      </p:sp>
      <p:sp>
        <p:nvSpPr>
          <p:cNvPr id="102" name="KpiTitle0_0"/>
          <p:cNvSpPr/>
          <p:nvPr/>
        </p:nvSpPr>
        <p:spPr>
          <a:xfrm>
            <a:off x="7239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03" name="KpiVal0_0"/>
          <p:cNvSpPr/>
          <p:nvPr/>
        </p:nvSpPr>
        <p:spPr>
          <a:xfrm>
            <a:off x="7239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793</a:t>
            </a:r>
          </a:p>
        </p:txBody>
      </p:sp>
      <p:sp>
        <p:nvSpPr>
          <p:cNvPr id="104" name="KpiTitle0_1"/>
          <p:cNvSpPr/>
          <p:nvPr/>
        </p:nvSpPr>
        <p:spPr>
          <a:xfrm>
            <a:off x="34544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05" name="KpiVal0_1"/>
          <p:cNvSpPr/>
          <p:nvPr/>
        </p:nvSpPr>
        <p:spPr>
          <a:xfrm>
            <a:off x="34544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777</a:t>
            </a:r>
          </a:p>
        </p:txBody>
      </p:sp>
      <p:sp>
        <p:nvSpPr>
          <p:cNvPr id="106" name="KpiTitle0_2"/>
          <p:cNvSpPr/>
          <p:nvPr/>
        </p:nvSpPr>
        <p:spPr>
          <a:xfrm>
            <a:off x="61849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Свободные</a:t>
            </a:r>
          </a:p>
        </p:txBody>
      </p:sp>
      <p:sp>
        <p:nvSpPr>
          <p:cNvPr id="107" name="KpiVal0_2"/>
          <p:cNvSpPr/>
          <p:nvPr/>
        </p:nvSpPr>
        <p:spPr>
          <a:xfrm>
            <a:off x="61849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cs typeface="Montserrat"/>
              </a:rPr>
              <a:t>16</a:t>
            </a:r>
          </a:p>
        </p:txBody>
      </p:sp>
      <p:sp>
        <p:nvSpPr>
          <p:cNvPr id="108" name="KpiTitle0_3"/>
          <p:cNvSpPr/>
          <p:nvPr/>
        </p:nvSpPr>
        <p:spPr>
          <a:xfrm>
            <a:off x="89154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09" name="KpiVal0_3"/>
          <p:cNvSpPr/>
          <p:nvPr/>
        </p:nvSpPr>
        <p:spPr>
          <a:xfrm>
            <a:off x="89154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98%</a:t>
            </a:r>
          </a:p>
        </p:txBody>
      </p:sp>
      <p:sp>
        <p:nvSpPr>
          <p:cNvPr id="110" name="BarBg0"/>
          <p:cNvSpPr/>
          <p:nvPr/>
        </p:nvSpPr>
        <p:spPr>
          <a:xfrm>
            <a:off x="723900" y="2641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0098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BarFill0"/>
          <p:cNvSpPr/>
          <p:nvPr/>
        </p:nvSpPr>
        <p:spPr>
          <a:xfrm>
            <a:off x="723900" y="2641600"/>
            <a:ext cx="10529316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owBg1"/>
          <p:cNvSpPr/>
          <p:nvPr/>
        </p:nvSpPr>
        <p:spPr>
          <a:xfrm>
            <a:off x="571500" y="3048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229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Label1"/>
          <p:cNvSpPr/>
          <p:nvPr/>
        </p:nvSpPr>
        <p:spPr>
          <a:xfrm>
            <a:off x="723900" y="3149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844"/>
                </a:solidFill>
                <a:latin typeface="Montserrat"/>
                <a:cs typeface="Montserrat"/>
              </a:rPr>
              <a:t>ANALYZER</a:t>
            </a:r>
          </a:p>
        </p:txBody>
      </p:sp>
      <p:sp>
        <p:nvSpPr>
          <p:cNvPr id="114" name="KpiTitle1_0"/>
          <p:cNvSpPr/>
          <p:nvPr/>
        </p:nvSpPr>
        <p:spPr>
          <a:xfrm>
            <a:off x="7239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15" name="KpiVal1_0"/>
          <p:cNvSpPr/>
          <p:nvPr/>
        </p:nvSpPr>
        <p:spPr>
          <a:xfrm>
            <a:off x="7239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548</a:t>
            </a:r>
          </a:p>
        </p:txBody>
      </p:sp>
      <p:sp>
        <p:nvSpPr>
          <p:cNvPr id="116" name="KpiTitle1_1"/>
          <p:cNvSpPr/>
          <p:nvPr/>
        </p:nvSpPr>
        <p:spPr>
          <a:xfrm>
            <a:off x="34544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17" name="KpiVal1_1"/>
          <p:cNvSpPr/>
          <p:nvPr/>
        </p:nvSpPr>
        <p:spPr>
          <a:xfrm>
            <a:off x="34544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532</a:t>
            </a:r>
          </a:p>
        </p:txBody>
      </p:sp>
      <p:sp>
        <p:nvSpPr>
          <p:cNvPr id="118" name="KpiTitle1_2"/>
          <p:cNvSpPr/>
          <p:nvPr/>
        </p:nvSpPr>
        <p:spPr>
          <a:xfrm>
            <a:off x="61849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Доступных</a:t>
            </a:r>
          </a:p>
        </p:txBody>
      </p:sp>
      <p:sp>
        <p:nvSpPr>
          <p:cNvPr id="119" name="KpiVal1_2"/>
          <p:cNvSpPr/>
          <p:nvPr/>
        </p:nvSpPr>
        <p:spPr>
          <a:xfrm>
            <a:off x="61849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cs typeface="Montserrat"/>
              </a:rPr>
              <a:t>16</a:t>
            </a:r>
          </a:p>
        </p:txBody>
      </p:sp>
      <p:sp>
        <p:nvSpPr>
          <p:cNvPr id="120" name="KpiTitle1_3"/>
          <p:cNvSpPr/>
          <p:nvPr/>
        </p:nvSpPr>
        <p:spPr>
          <a:xfrm>
            <a:off x="89154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21" name="KpiVal1_3"/>
          <p:cNvSpPr/>
          <p:nvPr/>
        </p:nvSpPr>
        <p:spPr>
          <a:xfrm>
            <a:off x="89154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97%</a:t>
            </a:r>
          </a:p>
        </p:txBody>
      </p:sp>
      <p:sp>
        <p:nvSpPr>
          <p:cNvPr id="122" name="BarBg1"/>
          <p:cNvSpPr/>
          <p:nvPr/>
        </p:nvSpPr>
        <p:spPr>
          <a:xfrm>
            <a:off x="723900" y="4292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0098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BarFill1"/>
          <p:cNvSpPr/>
          <p:nvPr/>
        </p:nvSpPr>
        <p:spPr>
          <a:xfrm>
            <a:off x="723900" y="4292600"/>
            <a:ext cx="10421874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RowBg2"/>
          <p:cNvSpPr/>
          <p:nvPr/>
        </p:nvSpPr>
        <p:spPr>
          <a:xfrm>
            <a:off x="571500" y="4699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000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Label2"/>
          <p:cNvSpPr/>
          <p:nvPr/>
        </p:nvSpPr>
        <p:spPr>
          <a:xfrm>
            <a:off x="723900" y="480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B9CC"/>
                </a:solidFill>
                <a:latin typeface="Montserrat"/>
                <a:cs typeface="Montserrat"/>
              </a:rPr>
              <a:t>PROFESSIONAL</a:t>
            </a:r>
          </a:p>
        </p:txBody>
      </p:sp>
      <p:sp>
        <p:nvSpPr>
          <p:cNvPr id="126" name="KpiTitle2_0"/>
          <p:cNvSpPr/>
          <p:nvPr/>
        </p:nvSpPr>
        <p:spPr>
          <a:xfrm>
            <a:off x="7239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27" name="KpiVal2_0"/>
          <p:cNvSpPr/>
          <p:nvPr/>
        </p:nvSpPr>
        <p:spPr>
          <a:xfrm>
            <a:off x="7239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245</a:t>
            </a:r>
          </a:p>
        </p:txBody>
      </p:sp>
      <p:sp>
        <p:nvSpPr>
          <p:cNvPr id="128" name="KpiTitle2_1"/>
          <p:cNvSpPr/>
          <p:nvPr/>
        </p:nvSpPr>
        <p:spPr>
          <a:xfrm>
            <a:off x="34544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29" name="KpiVal2_1"/>
          <p:cNvSpPr/>
          <p:nvPr/>
        </p:nvSpPr>
        <p:spPr>
          <a:xfrm>
            <a:off x="34544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245</a:t>
            </a:r>
          </a:p>
        </p:txBody>
      </p:sp>
      <p:sp>
        <p:nvSpPr>
          <p:cNvPr id="130" name="KpiTitle2_2"/>
          <p:cNvSpPr/>
          <p:nvPr/>
        </p:nvSpPr>
        <p:spPr>
          <a:xfrm>
            <a:off x="61849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Доступных</a:t>
            </a:r>
          </a:p>
        </p:txBody>
      </p:sp>
      <p:sp>
        <p:nvSpPr>
          <p:cNvPr id="131" name="KpiVal2_2"/>
          <p:cNvSpPr/>
          <p:nvPr/>
        </p:nvSpPr>
        <p:spPr>
          <a:xfrm>
            <a:off x="61849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0</a:t>
            </a:r>
          </a:p>
        </p:txBody>
      </p:sp>
      <p:sp>
        <p:nvSpPr>
          <p:cNvPr id="132" name="KpiTitle2_3"/>
          <p:cNvSpPr/>
          <p:nvPr/>
        </p:nvSpPr>
        <p:spPr>
          <a:xfrm>
            <a:off x="89154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33" name="KpiVal2_3"/>
          <p:cNvSpPr/>
          <p:nvPr/>
        </p:nvSpPr>
        <p:spPr>
          <a:xfrm>
            <a:off x="89154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100%</a:t>
            </a:r>
          </a:p>
        </p:txBody>
      </p:sp>
      <p:sp>
        <p:nvSpPr>
          <p:cNvPr id="134" name="BarBg2"/>
          <p:cNvSpPr/>
          <p:nvPr/>
        </p:nvSpPr>
        <p:spPr>
          <a:xfrm>
            <a:off x="723900" y="5943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BarFill2"/>
          <p:cNvSpPr/>
          <p:nvPr/>
        </p:nvSpPr>
        <p:spPr>
          <a:xfrm>
            <a:off x="723900" y="5943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0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3106-11E6-2B16-8D05-6D1465BE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2593CED-8AA3-5E48-07A2-762F9F80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6859772-E607-B741-3DE4-7A24BEC5BB2B}"/>
              </a:ext>
            </a:extLst>
          </p:cNvPr>
          <p:cNvSpPr/>
          <p:nvPr/>
        </p:nvSpPr>
        <p:spPr>
          <a:xfrm>
            <a:off x="571500" y="1904695"/>
            <a:ext cx="7067398" cy="4304995"/>
          </a:xfrm>
          <a:prstGeom prst="roundRect">
            <a:avLst>
              <a:gd name="adj" fmla="val 3375"/>
            </a:avLst>
          </a:prstGeom>
          <a:solidFill>
            <a:srgbClr val="FFFFFF"/>
          </a:solidFill>
          <a:ln w="12700">
            <a:solidFill>
              <a:schemeClr val="tx1">
                <a:alpha val="7268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B983AB7-ECE6-8568-33CB-FCDE1BA011A1}"/>
              </a:ext>
            </a:extLst>
          </p:cNvPr>
          <p:cNvSpPr txBox="1"/>
          <p:nvPr/>
        </p:nvSpPr>
        <p:spPr>
          <a:xfrm>
            <a:off x="571500" y="571500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Утилизация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E2FBEB0-5458-A368-0D44-E5AA4A244B5A}"/>
              </a:ext>
            </a:extLst>
          </p:cNvPr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Использование лицензий по месяцам (апр 2025 — мар 2026)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FF45774-0F45-E9DD-C55F-7FE0C65DDA55}"/>
              </a:ext>
            </a:extLst>
          </p:cNvPr>
          <p:cNvSpPr/>
          <p:nvPr/>
        </p:nvSpPr>
        <p:spPr>
          <a:xfrm>
            <a:off x="571500" y="1524305"/>
            <a:ext cx="28346" cy="171907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897B563-B74E-3B93-173A-CD88A4DAFDC8}"/>
              </a:ext>
            </a:extLst>
          </p:cNvPr>
          <p:cNvSpPr txBox="1"/>
          <p:nvPr/>
        </p:nvSpPr>
        <p:spPr>
          <a:xfrm>
            <a:off x="694944" y="1524305"/>
            <a:ext cx="2848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ИСПОЛЬЗОВАНИЯ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EE378C2-0727-AC89-65C1-342BD0B56254}"/>
              </a:ext>
            </a:extLst>
          </p:cNvPr>
          <p:cNvSpPr/>
          <p:nvPr/>
        </p:nvSpPr>
        <p:spPr>
          <a:xfrm>
            <a:off x="5939254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2B9CC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F613E77-A262-8B4A-4917-1D094339E723}"/>
              </a:ext>
            </a:extLst>
          </p:cNvPr>
          <p:cNvSpPr txBox="1"/>
          <p:nvPr/>
        </p:nvSpPr>
        <p:spPr>
          <a:xfrm>
            <a:off x="6169688" y="1585571"/>
            <a:ext cx="408506" cy="16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Prof. 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0125B03-A639-C03B-BAE7-0894F3B4CB12}"/>
              </a:ext>
            </a:extLst>
          </p:cNvPr>
          <p:cNvSpPr/>
          <p:nvPr/>
        </p:nvSpPr>
        <p:spPr>
          <a:xfrm>
            <a:off x="6686093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09845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latin typeface="Montserrat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8EBF86F-7304-0BEC-A480-9854CB17A270}"/>
              </a:ext>
            </a:extLst>
          </p:cNvPr>
          <p:cNvSpPr txBox="1"/>
          <p:nvPr/>
        </p:nvSpPr>
        <p:spPr>
          <a:xfrm>
            <a:off x="6857086" y="1585570"/>
            <a:ext cx="8540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Analyzer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7A114A4-39DC-BE6B-C6DB-99C5545CBF70}"/>
              </a:ext>
            </a:extLst>
          </p:cNvPr>
          <p:cNvSpPr txBox="1"/>
          <p:nvPr/>
        </p:nvSpPr>
        <p:spPr>
          <a:xfrm>
            <a:off x="8255000" y="4216400"/>
            <a:ext cx="3187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КЛЮЧЕВЫЕ ВЫВОДЫ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DFC47B4-FD6F-D4A9-A7D0-EB5841DCFDEC}"/>
              </a:ext>
            </a:extLst>
          </p:cNvPr>
          <p:cNvSpPr txBox="1"/>
          <p:nvPr/>
        </p:nvSpPr>
        <p:spPr>
          <a:xfrm>
            <a:off x="8585200" y="4470400"/>
            <a:ext cx="2882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Утилизация лицензий — 100%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Все выданные лицензии задействованы, свободных лицензий нет.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8D3921E-E1DB-9691-DE7F-72399CC22920}"/>
              </a:ext>
            </a:extLst>
          </p:cNvPr>
          <p:cNvSpPr txBox="1"/>
          <p:nvPr/>
        </p:nvSpPr>
        <p:spPr>
          <a:xfrm>
            <a:off x="8585200" y="5041900"/>
            <a:ext cx="2882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Высокая потребность в платформе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Пользователи испытывают нехватку лицензий — текущего объёма недостаточно.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3BA594F-ADF5-355B-BA2C-4A01CB3B4FD2}"/>
              </a:ext>
            </a:extLst>
          </p:cNvPr>
          <p:cNvSpPr txBox="1"/>
          <p:nvPr/>
        </p:nvSpPr>
        <p:spPr>
          <a:xfrm>
            <a:off x="8585200" y="5613400"/>
            <a:ext cx="2882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Устойчивый рост пользователей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Количество активных пользователей стабильно растёт, что подтверждает востребованность платформы.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A2B4FF0-D3EB-8187-9946-FD8B1EB19385}"/>
              </a:ext>
            </a:extLst>
          </p:cNvPr>
          <p:cNvSpPr/>
          <p:nvPr/>
        </p:nvSpPr>
        <p:spPr>
          <a:xfrm>
            <a:off x="8255000" y="4495800"/>
            <a:ext cx="228600" cy="228600"/>
          </a:xfrm>
          <a:prstGeom prst="ellipse">
            <a:avLst/>
          </a:prstGeom>
          <a:solidFill>
            <a:srgbClr val="00984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4DD4AD5A-FA39-2457-980A-F5E27D3455CC}"/>
              </a:ext>
            </a:extLst>
          </p:cNvPr>
          <p:cNvSpPr/>
          <p:nvPr/>
        </p:nvSpPr>
        <p:spPr>
          <a:xfrm>
            <a:off x="8255000" y="5067300"/>
            <a:ext cx="228600" cy="228600"/>
          </a:xfrm>
          <a:prstGeom prst="ellipse">
            <a:avLst/>
          </a:prstGeom>
          <a:solidFill>
            <a:srgbClr val="00984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89721F82-B807-C2D8-0122-1EF6A55C74A0}"/>
              </a:ext>
            </a:extLst>
          </p:cNvPr>
          <p:cNvSpPr/>
          <p:nvPr/>
        </p:nvSpPr>
        <p:spPr>
          <a:xfrm>
            <a:off x="8255000" y="5638800"/>
            <a:ext cx="228600" cy="228600"/>
          </a:xfrm>
          <a:prstGeom prst="ellipse">
            <a:avLst/>
          </a:prstGeom>
          <a:solidFill>
            <a:srgbClr val="00984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F70B8047-DF51-DE85-1D2F-8107873ED4A7}"/>
              </a:ext>
            </a:extLst>
          </p:cNvPr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CBAA9701-1FD1-750D-5B1F-5E6E2EAB298C}"/>
              </a:ext>
            </a:extLst>
          </p:cNvPr>
          <p:cNvSpPr txBox="1"/>
          <p:nvPr/>
        </p:nvSpPr>
        <p:spPr>
          <a:xfrm>
            <a:off x="10370210" y="6476695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graphicFrame>
        <p:nvGraphicFramePr>
          <p:cNvPr id="38" name="Chart 1">
            <a:extLst>
              <a:ext uri="{FF2B5EF4-FFF2-40B4-BE49-F238E27FC236}">
                <a16:creationId xmlns:a16="http://schemas.microsoft.com/office/drawing/2014/main" id="{5C809ABD-BB0F-9AC1-B4B2-86DF85A295A9}"/>
              </a:ext>
            </a:extLst>
          </p:cNvPr>
          <p:cNvGraphicFramePr>
            <a:graphicFrameLocks noGrp="1"/>
          </p:cNvGraphicFramePr>
          <p:nvPr/>
        </p:nvGraphicFramePr>
        <p:xfrm>
          <a:off x="660400" y="2006600"/>
          <a:ext cx="685800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3C2DD5D0-8FB7-CC98-519E-F6EFF897D4BA}"/>
              </a:ext>
            </a:extLst>
          </p:cNvPr>
          <p:cNvSpPr/>
          <p:nvPr/>
        </p:nvSpPr>
        <p:spPr>
          <a:xfrm>
            <a:off x="8102600" y="4064000"/>
            <a:ext cx="3517900" cy="2349500"/>
          </a:xfrm>
          <a:prstGeom prst="roundRect">
            <a:avLst>
              <a:gd name="adj" fmla="val 4017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DBDF570B-39E1-FDE5-3CD3-77E8AE8D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3">
            <a:extLst>
              <a:ext uri="{FF2B5EF4-FFF2-40B4-BE49-F238E27FC236}">
                <a16:creationId xmlns:a16="http://schemas.microsoft.com/office/drawing/2014/main" id="{3C2DD5D0-8FB7-CC98-519E-F6EFF897D4BA}"/>
              </a:ext>
            </a:extLst>
          </p:cNvPr>
          <p:cNvSpPr/>
          <p:nvPr/>
        </p:nvSpPr>
        <p:spPr>
          <a:xfrm>
            <a:off x="8102600" y="1905000"/>
            <a:ext cx="3517900" cy="2032000"/>
          </a:xfrm>
          <a:prstGeom prst="roundRect">
            <a:avLst>
              <a:gd name="adj" fmla="val 7798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97A114A4-39DC-BE6B-C6DB-99C5545CBF70}"/>
              </a:ext>
            </a:extLst>
          </p:cNvPr>
          <p:cNvSpPr txBox="1"/>
          <p:nvPr/>
        </p:nvSpPr>
        <p:spPr>
          <a:xfrm>
            <a:off x="8255000" y="2057400"/>
            <a:ext cx="3187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</a:rPr>
              <a:t>ПРИЧИНЫ РОСТА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7DFC47B4-FD6F-D4A9-A7D0-EB5841DCFDEC}"/>
              </a:ext>
            </a:extLst>
          </p:cNvPr>
          <p:cNvSpPr txBox="1"/>
          <p:nvPr/>
        </p:nvSpPr>
        <p:spPr>
          <a:xfrm>
            <a:off x="8585200" y="2514600"/>
            <a:ext cx="2882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b="1" dirty="0">
                <a:latin typeface="Montserrat" pitchFamily="2" charset="0"/>
              </a:rPr>
              <a:t>Указание Председателя Правления</a:t>
            </a:r>
          </a:p>
          <a:p>
            <a:pPr marL="0" indent="0" algn="l">
              <a:buNone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С начала 4 квартала 2024 года — о необходимости оптимального использования лицензии.</a:t>
            </a: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7DFC47B4-FD6F-D4A9-A7D0-EB5841DCFDEC}"/>
              </a:ext>
            </a:extLst>
          </p:cNvPr>
          <p:cNvSpPr txBox="1"/>
          <p:nvPr/>
        </p:nvSpPr>
        <p:spPr>
          <a:xfrm>
            <a:off x="8585200" y="3149600"/>
            <a:ext cx="2882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b="1" dirty="0">
                <a:latin typeface="Montserrat" pitchFamily="2" charset="0"/>
              </a:rPr>
              <a:t>Мероприятия по повышению дата-грамотности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900" b="1" dirty="0">
                <a:solidFill>
                  <a:srgbClr val="02B9CC"/>
                </a:solidFill>
                <a:latin typeface="Montserrat" pitchFamily="2" charset="0"/>
              </a:rPr>
              <a:t>250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 сотрудников — внутреннее обучение банка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900" b="1" dirty="0">
                <a:solidFill>
                  <a:srgbClr val="02B9CC"/>
                </a:solidFill>
                <a:latin typeface="Montserrat" pitchFamily="2" charset="0"/>
              </a:rPr>
              <a:t>500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 сотрудников — </a:t>
            </a:r>
            <a:r>
              <a:rPr lang="ru-RU" sz="900" dirty="0" err="1">
                <a:solidFill>
                  <a:srgbClr val="333333"/>
                </a:solidFill>
                <a:latin typeface="Montserrat" pitchFamily="2" charset="0"/>
              </a:rPr>
              <a:t>DataCamp</a:t>
            </a:r>
            <a:endParaRPr lang="ru-RU" sz="900" dirty="0">
              <a:solidFill>
                <a:srgbClr val="333333"/>
              </a:solidFill>
              <a:latin typeface="Montserrat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E76A5BFB-F3DA-9D43-9F32-AC006DAA6453}"/>
              </a:ext>
            </a:extLst>
          </p:cNvPr>
          <p:cNvSpPr/>
          <p:nvPr/>
        </p:nvSpPr>
        <p:spPr>
          <a:xfrm>
            <a:off x="8255000" y="3175000"/>
            <a:ext cx="228600" cy="228600"/>
          </a:xfrm>
          <a:prstGeom prst="ellipse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/>
          </a:p>
        </p:txBody>
      </p:sp>
      <p:pic>
        <p:nvPicPr>
          <p:cNvPr id="40" name="Graphic 40" descr="Обучение сотруднико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3100" y="3213100"/>
            <a:ext cx="152400" cy="152400"/>
          </a:xfrm>
          <a:prstGeom prst="rect">
            <a:avLst/>
          </a:prstGeom>
        </p:spPr>
      </p:pic>
      <p:pic>
        <p:nvPicPr>
          <p:cNvPr id="42" name="Graphic 42" descr="Утилизация лицензий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3100" y="4533900"/>
            <a:ext cx="152400" cy="152400"/>
          </a:xfrm>
          <a:prstGeom prst="rect">
            <a:avLst/>
          </a:prstGeom>
        </p:spPr>
      </p:pic>
      <p:pic>
        <p:nvPicPr>
          <p:cNvPr id="43" name="Graphic 43" descr="Высокая потребност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93100" y="5105400"/>
            <a:ext cx="152400" cy="152400"/>
          </a:xfrm>
          <a:prstGeom prst="rect">
            <a:avLst/>
          </a:prstGeom>
        </p:spPr>
      </p:pic>
      <p:pic>
        <p:nvPicPr>
          <p:cNvPr id="44" name="Graphic 44" descr="Устойчивый рост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93100" y="5676900"/>
            <a:ext cx="152400" cy="152400"/>
          </a:xfrm>
          <a:prstGeom prst="rect">
            <a:avLst/>
          </a:prstGeom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8B9C886-63B3-1210-CE0C-628FD6B24BFB}"/>
              </a:ext>
            </a:extLst>
          </p:cNvPr>
          <p:cNvGrpSpPr/>
          <p:nvPr/>
        </p:nvGrpSpPr>
        <p:grpSpPr>
          <a:xfrm>
            <a:off x="8275871" y="2513097"/>
            <a:ext cx="228600" cy="228600"/>
            <a:chOff x="8272673" y="1546247"/>
            <a:chExt cx="228600" cy="228600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06FF7B01-E3BA-4A02-C342-944ACC77BDDC}"/>
                </a:ext>
              </a:extLst>
            </p:cNvPr>
            <p:cNvSpPr/>
            <p:nvPr/>
          </p:nvSpPr>
          <p:spPr>
            <a:xfrm>
              <a:off x="8272673" y="1546247"/>
              <a:ext cx="228600" cy="228600"/>
            </a:xfrm>
            <a:prstGeom prst="ellipse">
              <a:avLst/>
            </a:prstGeom>
            <a:solidFill>
              <a:srgbClr val="E6F4E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ru-KZ"/>
            </a:p>
          </p:txBody>
        </p:sp>
        <p:pic>
          <p:nvPicPr>
            <p:cNvPr id="45" name="Graphic 45" descr="Кулак — сила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93988" y="1571688"/>
              <a:ext cx="177800" cy="177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764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423106-11E6-2B16-8D05-6D1465BE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2593CED-8AA3-5E48-07A2-762F9F80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6859772-E607-B741-3DE4-7A24BEC5BB2B}"/>
              </a:ext>
            </a:extLst>
          </p:cNvPr>
          <p:cNvSpPr/>
          <p:nvPr/>
        </p:nvSpPr>
        <p:spPr>
          <a:xfrm>
            <a:off x="571500" y="1904695"/>
            <a:ext cx="7067398" cy="4304995"/>
          </a:xfrm>
          <a:prstGeom prst="roundRect">
            <a:avLst>
              <a:gd name="adj" fmla="val 3375"/>
            </a:avLst>
          </a:prstGeom>
          <a:solidFill>
            <a:srgbClr val="FFFFFF"/>
          </a:solidFill>
          <a:ln w="12700">
            <a:solidFill>
              <a:schemeClr val="tx1">
                <a:alpha val="7268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B983AB7-ECE6-8568-33CB-FCDE1BA011A1}"/>
              </a:ext>
            </a:extLst>
          </p:cNvPr>
          <p:cNvSpPr txBox="1"/>
          <p:nvPr/>
        </p:nvSpPr>
        <p:spPr>
          <a:xfrm>
            <a:off x="571500" y="571500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Утилизация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E2FBEB0-5458-A368-0D44-E5AA4A244B5A}"/>
              </a:ext>
            </a:extLst>
          </p:cNvPr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Использование лицензий по месяцам (апр 2025 — мар 2026)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FF45774-0F45-E9DD-C55F-7FE0C65DDA55}"/>
              </a:ext>
            </a:extLst>
          </p:cNvPr>
          <p:cNvSpPr/>
          <p:nvPr/>
        </p:nvSpPr>
        <p:spPr>
          <a:xfrm>
            <a:off x="571500" y="1524305"/>
            <a:ext cx="28346" cy="171907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897B563-B74E-3B93-173A-CD88A4DAFDC8}"/>
              </a:ext>
            </a:extLst>
          </p:cNvPr>
          <p:cNvSpPr txBox="1"/>
          <p:nvPr/>
        </p:nvSpPr>
        <p:spPr>
          <a:xfrm>
            <a:off x="694944" y="1524305"/>
            <a:ext cx="2848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ИСПОЛЬЗОВАНИЯ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EE378C2-0727-AC89-65C1-342BD0B56254}"/>
              </a:ext>
            </a:extLst>
          </p:cNvPr>
          <p:cNvSpPr/>
          <p:nvPr/>
        </p:nvSpPr>
        <p:spPr>
          <a:xfrm>
            <a:off x="5939254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2B9CC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F613E77-A262-8B4A-4917-1D094339E723}"/>
              </a:ext>
            </a:extLst>
          </p:cNvPr>
          <p:cNvSpPr txBox="1"/>
          <p:nvPr/>
        </p:nvSpPr>
        <p:spPr>
          <a:xfrm>
            <a:off x="6169688" y="1585571"/>
            <a:ext cx="408506" cy="16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Prof. 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0125B03-A639-C03B-BAE7-0894F3B4CB12}"/>
              </a:ext>
            </a:extLst>
          </p:cNvPr>
          <p:cNvSpPr/>
          <p:nvPr/>
        </p:nvSpPr>
        <p:spPr>
          <a:xfrm>
            <a:off x="6686093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09845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latin typeface="Montserrat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8EBF86F-7304-0BEC-A480-9854CB17A270}"/>
              </a:ext>
            </a:extLst>
          </p:cNvPr>
          <p:cNvSpPr txBox="1"/>
          <p:nvPr/>
        </p:nvSpPr>
        <p:spPr>
          <a:xfrm>
            <a:off x="6857086" y="1585570"/>
            <a:ext cx="8540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Analyzer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7A114A4-39DC-BE6B-C6DB-99C5545CBF70}"/>
              </a:ext>
            </a:extLst>
          </p:cNvPr>
          <p:cNvSpPr txBox="1"/>
          <p:nvPr/>
        </p:nvSpPr>
        <p:spPr>
          <a:xfrm>
            <a:off x="8191195" y="2190902"/>
            <a:ext cx="3258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КЛЮЧЕВЫЕ ВЫВОДЫ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DFC47B4-FD6F-D4A9-A7D0-EB5841DCFDEC}"/>
              </a:ext>
            </a:extLst>
          </p:cNvPr>
          <p:cNvSpPr txBox="1"/>
          <p:nvPr/>
        </p:nvSpPr>
        <p:spPr>
          <a:xfrm>
            <a:off x="8534095" y="265816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Утилизация лицензий — 100%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Все выданные лицензии задействованы, свободных лицензий нет.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8D3921E-E1DB-9691-DE7F-72399CC22920}"/>
              </a:ext>
            </a:extLst>
          </p:cNvPr>
          <p:cNvSpPr txBox="1"/>
          <p:nvPr/>
        </p:nvSpPr>
        <p:spPr>
          <a:xfrm>
            <a:off x="8534095" y="347472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Высокая потребность в платформе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Пользователи испытывают нехватку лицензий — текущего объёма недостаточно.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3BA594F-ADF5-355B-BA2C-4A01CB3B4FD2}"/>
              </a:ext>
            </a:extLst>
          </p:cNvPr>
          <p:cNvSpPr txBox="1"/>
          <p:nvPr/>
        </p:nvSpPr>
        <p:spPr>
          <a:xfrm>
            <a:off x="8534095" y="428305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Устойчивый рост пользователей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Количество активных пользователей стабильно растёт, что подтверждает востребованность платформы.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7F00A0ED-C5A9-56DD-5955-864009A0044F}"/>
              </a:ext>
            </a:extLst>
          </p:cNvPr>
          <p:cNvGrpSpPr/>
          <p:nvPr/>
        </p:nvGrpSpPr>
        <p:grpSpPr>
          <a:xfrm>
            <a:off x="8191195" y="2658160"/>
            <a:ext cx="228600" cy="2651760"/>
            <a:chOff x="8191195" y="2686507"/>
            <a:chExt cx="228600" cy="2651760"/>
          </a:xfrm>
        </p:grpSpPr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A2B4FF0-D3EB-8187-9946-FD8B1EB19385}"/>
                </a:ext>
              </a:extLst>
            </p:cNvPr>
            <p:cNvSpPr/>
            <p:nvPr/>
          </p:nvSpPr>
          <p:spPr>
            <a:xfrm>
              <a:off x="8191195" y="2686507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4DD4AD5A-FA39-2457-980A-F5E27D3455CC}"/>
                </a:ext>
              </a:extLst>
            </p:cNvPr>
            <p:cNvSpPr/>
            <p:nvPr/>
          </p:nvSpPr>
          <p:spPr>
            <a:xfrm>
              <a:off x="8191195" y="3493922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89721F82-B807-C2D8-0122-1EF6A55C74A0}"/>
                </a:ext>
              </a:extLst>
            </p:cNvPr>
            <p:cNvSpPr/>
            <p:nvPr/>
          </p:nvSpPr>
          <p:spPr>
            <a:xfrm>
              <a:off x="8191195" y="4301338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6" name="Shape 18">
              <a:extLst>
                <a:ext uri="{FF2B5EF4-FFF2-40B4-BE49-F238E27FC236}">
                  <a16:creationId xmlns:a16="http://schemas.microsoft.com/office/drawing/2014/main" id="{572ADA64-8055-B8C8-9005-742A596A8166}"/>
                </a:ext>
              </a:extLst>
            </p:cNvPr>
            <p:cNvSpPr/>
            <p:nvPr/>
          </p:nvSpPr>
          <p:spPr>
            <a:xfrm>
              <a:off x="8191195" y="5109667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C44D8A8D-39DD-1EDA-3C4B-7B75CFEAA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911" r="-1911"/>
            <a:stretch/>
          </p:blipFill>
          <p:spPr>
            <a:xfrm>
              <a:off x="8238744" y="2743200"/>
              <a:ext cx="133502" cy="114300"/>
            </a:xfrm>
            <a:prstGeom prst="rect">
              <a:avLst/>
            </a:prstGeom>
          </p:spPr>
        </p:pic>
        <p:pic>
          <p:nvPicPr>
            <p:cNvPr id="21" name="Image 4" descr="preencoded.png">
              <a:extLst>
                <a:ext uri="{FF2B5EF4-FFF2-40B4-BE49-F238E27FC236}">
                  <a16:creationId xmlns:a16="http://schemas.microsoft.com/office/drawing/2014/main" id="{A9CB72A5-82C4-D0E6-7EA8-5B9A9366F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911" r="-1911"/>
            <a:stretch/>
          </p:blipFill>
          <p:spPr>
            <a:xfrm>
              <a:off x="8238744" y="3550615"/>
              <a:ext cx="133502" cy="114300"/>
            </a:xfrm>
            <a:prstGeom prst="rect">
              <a:avLst/>
            </a:prstGeom>
          </p:spPr>
        </p:pic>
        <p:pic>
          <p:nvPicPr>
            <p:cNvPr id="24" name="Image 5" descr="preencoded.png">
              <a:extLst>
                <a:ext uri="{FF2B5EF4-FFF2-40B4-BE49-F238E27FC236}">
                  <a16:creationId xmlns:a16="http://schemas.microsoft.com/office/drawing/2014/main" id="{411FC1A1-77DE-8F73-7911-FA914BCA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80" b="-80"/>
            <a:stretch/>
          </p:blipFill>
          <p:spPr>
            <a:xfrm>
              <a:off x="8234172" y="4358945"/>
              <a:ext cx="142646" cy="114300"/>
            </a:xfrm>
            <a:prstGeom prst="rect">
              <a:avLst/>
            </a:prstGeom>
          </p:spPr>
        </p:pic>
        <p:pic>
          <p:nvPicPr>
            <p:cNvPr id="27" name="Image 6" descr="preencoded.png">
              <a:extLst>
                <a:ext uri="{FF2B5EF4-FFF2-40B4-BE49-F238E27FC236}">
                  <a16:creationId xmlns:a16="http://schemas.microsoft.com/office/drawing/2014/main" id="{67DE648E-F0B0-B8CC-D724-06E081F71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248802" y="5166360"/>
              <a:ext cx="114300" cy="114300"/>
            </a:xfrm>
            <a:prstGeom prst="rect">
              <a:avLst/>
            </a:prstGeom>
          </p:spPr>
        </p:pic>
      </p:grpSp>
      <p:sp>
        <p:nvSpPr>
          <p:cNvPr id="28" name="Text 19">
            <a:extLst>
              <a:ext uri="{FF2B5EF4-FFF2-40B4-BE49-F238E27FC236}">
                <a16:creationId xmlns:a16="http://schemas.microsoft.com/office/drawing/2014/main" id="{C16876CD-9349-3936-BC86-360A43B4F4F9}"/>
              </a:ext>
            </a:extLst>
          </p:cNvPr>
          <p:cNvSpPr txBox="1"/>
          <p:nvPr/>
        </p:nvSpPr>
        <p:spPr>
          <a:xfrm>
            <a:off x="8534095" y="5090465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оптимизации</a:t>
            </a: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endParaRPr lang="ru-RU" sz="900" dirty="0">
              <a:solidFill>
                <a:srgbClr val="333333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Потенциал перевода неактивных пользователей на Capacity-лицензии.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F70B8047-DF51-DE85-1D2F-8107873ED4A7}"/>
              </a:ext>
            </a:extLst>
          </p:cNvPr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CBAA9701-1FD1-750D-5B1F-5E6E2EAB298C}"/>
              </a:ext>
            </a:extLst>
          </p:cNvPr>
          <p:cNvSpPr txBox="1"/>
          <p:nvPr/>
        </p:nvSpPr>
        <p:spPr>
          <a:xfrm>
            <a:off x="10370210" y="6476695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graphicFrame>
        <p:nvGraphicFramePr>
          <p:cNvPr id="38" name="Chart 1">
            <a:extLst>
              <a:ext uri="{FF2B5EF4-FFF2-40B4-BE49-F238E27FC236}">
                <a16:creationId xmlns:a16="http://schemas.microsoft.com/office/drawing/2014/main" id="{5C809ABD-BB0F-9AC1-B4B2-86DF85A29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35117"/>
              </p:ext>
            </p:extLst>
          </p:nvPr>
        </p:nvGraphicFramePr>
        <p:xfrm>
          <a:off x="660400" y="2006600"/>
          <a:ext cx="685800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3C2DD5D0-8FB7-CC98-519E-F6EFF897D4BA}"/>
              </a:ext>
            </a:extLst>
          </p:cNvPr>
          <p:cNvSpPr/>
          <p:nvPr/>
        </p:nvSpPr>
        <p:spPr>
          <a:xfrm>
            <a:off x="8010361" y="1901038"/>
            <a:ext cx="3521239" cy="4324197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DBDF570B-39E1-FDE5-3CD3-77E8AE8D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43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1500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Исследование</a:t>
            </a: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альтернативных</a:t>
            </a: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BI-</a:t>
            </a:r>
            <a:r>
              <a:rPr lang="en-US" sz="2700" b="1" dirty="0" err="1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платформ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71500" y="1000354"/>
            <a:ext cx="10592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Итоговая оценка применимости для Halyk Bank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571500" y="657270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0370210" y="6572707"/>
            <a:ext cx="12508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3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EF63395B-D2C6-2A48-3A2C-A3F270B77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ard_bg_powerbi">
            <a:extLst>
              <a:ext uri="{FF2B5EF4-FFF2-40B4-BE49-F238E27FC236}">
                <a16:creationId xmlns:a16="http://schemas.microsoft.com/office/drawing/2014/main" id="{DD6AE032-0E67-614C-B209-A232B2CDCD58}"/>
              </a:ext>
            </a:extLst>
          </p:cNvPr>
          <p:cNvSpPr/>
          <p:nvPr/>
        </p:nvSpPr>
        <p:spPr>
          <a:xfrm>
            <a:off x="317500" y="1460500"/>
            <a:ext cx="3683000" cy="5080000"/>
          </a:xfrm>
          <a:prstGeom prst="roundRect">
            <a:avLst>
              <a:gd name="adj" fmla="val 4549"/>
            </a:avLst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35" name="card_bg_tableau">
            <a:extLst>
              <a:ext uri="{FF2B5EF4-FFF2-40B4-BE49-F238E27FC236}">
                <a16:creationId xmlns:a16="http://schemas.microsoft.com/office/drawing/2014/main" id="{2177622C-8639-1440-A9FE-39804B9D6BF2}"/>
              </a:ext>
            </a:extLst>
          </p:cNvPr>
          <p:cNvSpPr/>
          <p:nvPr/>
        </p:nvSpPr>
        <p:spPr>
          <a:xfrm>
            <a:off x="4254500" y="1460500"/>
            <a:ext cx="3683000" cy="5080000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36" name="card_bg_qlik">
            <a:extLst>
              <a:ext uri="{FF2B5EF4-FFF2-40B4-BE49-F238E27FC236}">
                <a16:creationId xmlns:a16="http://schemas.microsoft.com/office/drawing/2014/main" id="{6CDA7B4B-CC70-6342-9CCD-56AF6E8598BA}"/>
              </a:ext>
            </a:extLst>
          </p:cNvPr>
          <p:cNvSpPr/>
          <p:nvPr/>
        </p:nvSpPr>
        <p:spPr>
          <a:xfrm>
            <a:off x="8191500" y="1460500"/>
            <a:ext cx="3683000" cy="5080000"/>
          </a:xfrm>
          <a:prstGeom prst="roundRect">
            <a:avLst>
              <a:gd name="adj" fmla="val 5731"/>
            </a:avLst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37" name="status_powerbi">
            <a:extLst>
              <a:ext uri="{FF2B5EF4-FFF2-40B4-BE49-F238E27FC236}">
                <a16:creationId xmlns:a16="http://schemas.microsoft.com/office/drawing/2014/main" id="{8E4048CF-0D94-754E-9A24-AFCA18840603}"/>
              </a:ext>
            </a:extLst>
          </p:cNvPr>
          <p:cNvSpPr txBox="1"/>
          <p:nvPr/>
        </p:nvSpPr>
        <p:spPr>
          <a:xfrm>
            <a:off x="2349500" y="1730754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ru-RU" sz="1000" b="1">
                <a:solidFill>
                  <a:srgbClr val="666666"/>
                </a:solidFill>
                <a:latin typeface="Montserrat" pitchFamily="2" charset="0"/>
              </a:rPr>
              <a:t>Альтернативный</a:t>
            </a:r>
            <a:endParaRPr lang="ru-KZ" sz="1000" b="1">
              <a:solidFill>
                <a:srgbClr val="666666"/>
              </a:solidFill>
              <a:latin typeface="Montserrat" pitchFamily="2" charset="0"/>
            </a:endParaRPr>
          </a:p>
        </p:txBody>
      </p:sp>
      <p:sp>
        <p:nvSpPr>
          <p:cNvPr id="38" name="status_tableau">
            <a:extLst>
              <a:ext uri="{FF2B5EF4-FFF2-40B4-BE49-F238E27FC236}">
                <a16:creationId xmlns:a16="http://schemas.microsoft.com/office/drawing/2014/main" id="{06E3C152-F45E-2545-83BB-A4A10F569BC8}"/>
              </a:ext>
            </a:extLst>
          </p:cNvPr>
          <p:cNvSpPr txBox="1"/>
          <p:nvPr/>
        </p:nvSpPr>
        <p:spPr>
          <a:xfrm>
            <a:off x="6286500" y="1730754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ru-RU" sz="1000" b="1" dirty="0">
                <a:solidFill>
                  <a:srgbClr val="666666"/>
                </a:solidFill>
                <a:latin typeface="Montserrat" pitchFamily="2" charset="0"/>
              </a:rPr>
              <a:t>Альтернативный</a:t>
            </a:r>
            <a:endParaRPr lang="ru-KZ" sz="1000" b="1" dirty="0">
              <a:solidFill>
                <a:srgbClr val="666666"/>
              </a:solidFill>
              <a:latin typeface="Montserrat" pitchFamily="2" charset="0"/>
            </a:endParaRPr>
          </a:p>
        </p:txBody>
      </p:sp>
      <p:sp>
        <p:nvSpPr>
          <p:cNvPr id="40" name="status_qlik">
            <a:extLst>
              <a:ext uri="{FF2B5EF4-FFF2-40B4-BE49-F238E27FC236}">
                <a16:creationId xmlns:a16="http://schemas.microsoft.com/office/drawing/2014/main" id="{B2875884-B19F-0C4D-9C20-36720E2BED28}"/>
              </a:ext>
            </a:extLst>
          </p:cNvPr>
          <p:cNvSpPr txBox="1"/>
          <p:nvPr/>
        </p:nvSpPr>
        <p:spPr>
          <a:xfrm>
            <a:off x="10223500" y="1730754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ru-RU" sz="1000" b="1">
                <a:solidFill>
                  <a:srgbClr val="009845"/>
                </a:solidFill>
                <a:latin typeface="Montserrat" pitchFamily="2" charset="0"/>
              </a:rPr>
              <a:t>Оптимальный</a:t>
            </a:r>
            <a:endParaRPr lang="ru-KZ" sz="1000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8948AA89-1738-E440-9C37-39E68524A818}"/>
              </a:ext>
            </a:extLst>
          </p:cNvPr>
          <p:cNvSpPr/>
          <p:nvPr/>
        </p:nvSpPr>
        <p:spPr>
          <a:xfrm>
            <a:off x="520700" y="2159000"/>
            <a:ext cx="3276600" cy="12700"/>
          </a:xfrm>
          <a:prstGeom prst="rect">
            <a:avLst/>
          </a:prstGeom>
          <a:solidFill>
            <a:srgbClr val="E5E5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420ED9B6-59C5-3F40-A73E-6618B1E0FD4D}"/>
              </a:ext>
            </a:extLst>
          </p:cNvPr>
          <p:cNvSpPr/>
          <p:nvPr/>
        </p:nvSpPr>
        <p:spPr>
          <a:xfrm>
            <a:off x="4457700" y="2159000"/>
            <a:ext cx="3276600" cy="12700"/>
          </a:xfrm>
          <a:prstGeom prst="rect">
            <a:avLst/>
          </a:prstGeom>
          <a:solidFill>
            <a:srgbClr val="E5E5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8090267C-99F9-C341-A848-F760BF058CF1}"/>
              </a:ext>
            </a:extLst>
          </p:cNvPr>
          <p:cNvSpPr/>
          <p:nvPr/>
        </p:nvSpPr>
        <p:spPr>
          <a:xfrm>
            <a:off x="8394700" y="2159000"/>
            <a:ext cx="3276600" cy="12700"/>
          </a:xfrm>
          <a:prstGeom prst="rect">
            <a:avLst/>
          </a:prstGeom>
          <a:solidFill>
            <a:srgbClr val="E5E5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>
              <a:latin typeface="Montserra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4C296A-1AE2-454B-9E8F-DAEB38A3D0C8}"/>
              </a:ext>
            </a:extLst>
          </p:cNvPr>
          <p:cNvSpPr txBox="1"/>
          <p:nvPr/>
        </p:nvSpPr>
        <p:spPr>
          <a:xfrm>
            <a:off x="520700" y="23114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 dirty="0">
                <a:solidFill>
                  <a:srgbClr val="009845"/>
                </a:solidFill>
                <a:latin typeface="Montserrat" pitchFamily="2" charset="0"/>
              </a:rPr>
              <a:t>ВОЗМОЖНОСТИ</a:t>
            </a:r>
            <a:endParaRPr lang="ru-KZ" sz="1000" b="1" dirty="0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1AD9FF-42FB-634F-80DC-F02DC1A35705}"/>
              </a:ext>
            </a:extLst>
          </p:cNvPr>
          <p:cNvSpPr txBox="1"/>
          <p:nvPr/>
        </p:nvSpPr>
        <p:spPr>
          <a:xfrm>
            <a:off x="520700" y="3428997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ru-RU" sz="1000" b="1" dirty="0">
                <a:solidFill>
                  <a:srgbClr val="02B9CC"/>
                </a:solidFill>
                <a:latin typeface="Montserrat" pitchFamily="2" charset="0"/>
              </a:rPr>
              <a:t>СТОИМОСТЬ 		</a:t>
            </a:r>
            <a:r>
              <a:rPr lang="ru-RU" sz="1000" dirty="0">
                <a:solidFill>
                  <a:srgbClr val="02B9CC"/>
                </a:solidFill>
                <a:latin typeface="Montserrat" pitchFamily="2" charset="0"/>
              </a:rPr>
              <a:t> / год</a:t>
            </a:r>
            <a:endParaRPr lang="ru-KZ" sz="1000" b="1" dirty="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F3D790-104B-0F46-AE61-8D863EF73EE8}"/>
              </a:ext>
            </a:extLst>
          </p:cNvPr>
          <p:cNvSpPr txBox="1"/>
          <p:nvPr/>
        </p:nvSpPr>
        <p:spPr>
          <a:xfrm>
            <a:off x="520699" y="4328884"/>
            <a:ext cx="3361871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 dirty="0">
                <a:solidFill>
                  <a:srgbClr val="009845"/>
                </a:solidFill>
                <a:latin typeface="Montserrat" pitchFamily="2" charset="0"/>
              </a:rPr>
              <a:t>ОСОБЕННОСТИ</a:t>
            </a:r>
            <a:endParaRPr lang="ru-KZ" sz="1000" b="1" dirty="0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6D0336-5AEE-B541-B135-037E3F3BE200}"/>
              </a:ext>
            </a:extLst>
          </p:cNvPr>
          <p:cNvSpPr txBox="1"/>
          <p:nvPr/>
        </p:nvSpPr>
        <p:spPr>
          <a:xfrm>
            <a:off x="4457700" y="23114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>
                <a:solidFill>
                  <a:srgbClr val="009845"/>
                </a:solidFill>
                <a:latin typeface="Montserrat" pitchFamily="2" charset="0"/>
              </a:rPr>
              <a:t>ВОЗМОЖНОСТИ</a:t>
            </a:r>
            <a:endParaRPr lang="ru-KZ" sz="1000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EFCA28-ABD1-DE46-ADD5-55D68EFC8805}"/>
              </a:ext>
            </a:extLst>
          </p:cNvPr>
          <p:cNvSpPr txBox="1"/>
          <p:nvPr/>
        </p:nvSpPr>
        <p:spPr>
          <a:xfrm>
            <a:off x="4457700" y="3428997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ru-RU" sz="1000" b="1" dirty="0">
                <a:solidFill>
                  <a:srgbClr val="02B9CC"/>
                </a:solidFill>
                <a:latin typeface="Montserrat" pitchFamily="2" charset="0"/>
              </a:rPr>
              <a:t>СТОИМОСТЬ 		</a:t>
            </a:r>
            <a:r>
              <a:rPr lang="ru-RU" sz="1000" dirty="0">
                <a:solidFill>
                  <a:srgbClr val="02B9CC"/>
                </a:solidFill>
                <a:latin typeface="Montserrat" pitchFamily="2" charset="0"/>
              </a:rPr>
              <a:t> / год</a:t>
            </a:r>
            <a:endParaRPr lang="ru-KZ" sz="1000" b="1" dirty="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4F19AB-DBF1-DB49-B16E-F7153821F4BA}"/>
              </a:ext>
            </a:extLst>
          </p:cNvPr>
          <p:cNvSpPr txBox="1"/>
          <p:nvPr/>
        </p:nvSpPr>
        <p:spPr>
          <a:xfrm>
            <a:off x="4457699" y="4328884"/>
            <a:ext cx="3361871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>
                <a:solidFill>
                  <a:srgbClr val="009845"/>
                </a:solidFill>
                <a:latin typeface="Montserrat" pitchFamily="2" charset="0"/>
              </a:rPr>
              <a:t>ОСОБЕННОСТИ</a:t>
            </a:r>
            <a:endParaRPr lang="ru-KZ" sz="1000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A1A104-FAAA-D544-83E4-CA9FF8974742}"/>
              </a:ext>
            </a:extLst>
          </p:cNvPr>
          <p:cNvSpPr txBox="1"/>
          <p:nvPr/>
        </p:nvSpPr>
        <p:spPr>
          <a:xfrm>
            <a:off x="8394700" y="23114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>
                <a:solidFill>
                  <a:srgbClr val="009845"/>
                </a:solidFill>
                <a:latin typeface="Montserrat" pitchFamily="2" charset="0"/>
              </a:rPr>
              <a:t>ВОЗМОЖНОСТИ</a:t>
            </a:r>
            <a:endParaRPr lang="ru-KZ" sz="1000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9A0C70-4B14-C740-8FB1-D202621F9CCF}"/>
              </a:ext>
            </a:extLst>
          </p:cNvPr>
          <p:cNvSpPr txBox="1"/>
          <p:nvPr/>
        </p:nvSpPr>
        <p:spPr>
          <a:xfrm>
            <a:off x="8394700" y="3428997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ru-RU" sz="1000" b="1" dirty="0">
                <a:solidFill>
                  <a:srgbClr val="02B9CC"/>
                </a:solidFill>
                <a:latin typeface="Montserrat" pitchFamily="2" charset="0"/>
              </a:rPr>
              <a:t>СТОИМОСТЬ 		</a:t>
            </a:r>
            <a:r>
              <a:rPr lang="ru-RU" sz="1000" dirty="0">
                <a:solidFill>
                  <a:srgbClr val="02B9CC"/>
                </a:solidFill>
                <a:latin typeface="Montserrat" pitchFamily="2" charset="0"/>
              </a:rPr>
              <a:t> / год</a:t>
            </a:r>
            <a:endParaRPr lang="ru-KZ" sz="1000" b="1" dirty="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248521-73C5-5748-AE89-43278665DF2B}"/>
              </a:ext>
            </a:extLst>
          </p:cNvPr>
          <p:cNvSpPr txBox="1"/>
          <p:nvPr/>
        </p:nvSpPr>
        <p:spPr>
          <a:xfrm>
            <a:off x="8394699" y="4328884"/>
            <a:ext cx="3361871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>
                <a:solidFill>
                  <a:srgbClr val="009845"/>
                </a:solidFill>
                <a:latin typeface="Montserrat" pitchFamily="2" charset="0"/>
              </a:rPr>
              <a:t>ОСОБЕННОСТИ</a:t>
            </a:r>
            <a:endParaRPr lang="ru-KZ" sz="1000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82" name="cap_pbi">
            <a:extLst>
              <a:ext uri="{FF2B5EF4-FFF2-40B4-BE49-F238E27FC236}">
                <a16:creationId xmlns:a16="http://schemas.microsoft.com/office/drawing/2014/main" id="{84CF288E-D451-1147-9F2B-20E285634BBC}"/>
              </a:ext>
            </a:extLst>
          </p:cNvPr>
          <p:cNvSpPr txBox="1"/>
          <p:nvPr/>
        </p:nvSpPr>
        <p:spPr>
          <a:xfrm>
            <a:off x="520700" y="2590800"/>
            <a:ext cx="32766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Удобен для управленческой отчётности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Гибкое моделирование (Power Query M)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Встроенная безопасность (Azure AD, RLS)</a:t>
            </a:r>
          </a:p>
        </p:txBody>
      </p:sp>
      <p:sp>
        <p:nvSpPr>
          <p:cNvPr id="83" name="cost_pbi">
            <a:extLst>
              <a:ext uri="{FF2B5EF4-FFF2-40B4-BE49-F238E27FC236}">
                <a16:creationId xmlns:a16="http://schemas.microsoft.com/office/drawing/2014/main" id="{E8FA8BB7-2FC3-CF4E-A3A2-379F1082F499}"/>
              </a:ext>
            </a:extLst>
          </p:cNvPr>
          <p:cNvSpPr txBox="1"/>
          <p:nvPr/>
        </p:nvSpPr>
        <p:spPr>
          <a:xfrm>
            <a:off x="542472" y="3719283"/>
            <a:ext cx="32766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Analyzer: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  $ 168</a:t>
            </a:r>
          </a:p>
          <a:p>
            <a:pPr>
              <a:lnSpc>
                <a:spcPts val="1300"/>
              </a:lnSpc>
              <a:spcAft>
                <a:spcPts val="300"/>
              </a:spcAft>
            </a:pP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Professional:  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$ 288</a:t>
            </a:r>
          </a:p>
        </p:txBody>
      </p:sp>
      <p:sp>
        <p:nvSpPr>
          <p:cNvPr id="84" name="feat_pbi">
            <a:extLst>
              <a:ext uri="{FF2B5EF4-FFF2-40B4-BE49-F238E27FC236}">
                <a16:creationId xmlns:a16="http://schemas.microsoft.com/office/drawing/2014/main" id="{26B0FABF-5519-EF48-A534-EF1BB0D871A4}"/>
              </a:ext>
            </a:extLst>
          </p:cNvPr>
          <p:cNvSpPr txBox="1"/>
          <p:nvPr/>
        </p:nvSpPr>
        <p:spPr>
          <a:xfrm>
            <a:off x="520699" y="4608283"/>
            <a:ext cx="3361871" cy="177618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Enterprise-масштабирование только через облако Fabric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Ограничение обработки данных — 1 ГБ в standard-версии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Полное переобучение команды и миграция наработок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Более 400 отчетов (2026г. – 168 отчетов) 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</a:rPr>
              <a:t>&gt; 1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 ГБ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endParaRPr lang="ru-RU" sz="900" dirty="0">
              <a:solidFill>
                <a:srgbClr val="333333"/>
              </a:solidFill>
              <a:latin typeface="Montserrat" pitchFamily="2" charset="0"/>
            </a:endParaRPr>
          </a:p>
        </p:txBody>
      </p:sp>
      <p:sp>
        <p:nvSpPr>
          <p:cNvPr id="85" name="cap_tab">
            <a:extLst>
              <a:ext uri="{FF2B5EF4-FFF2-40B4-BE49-F238E27FC236}">
                <a16:creationId xmlns:a16="http://schemas.microsoft.com/office/drawing/2014/main" id="{C37A89D9-415A-0648-A6F9-36B11EA57AD1}"/>
              </a:ext>
            </a:extLst>
          </p:cNvPr>
          <p:cNvSpPr txBox="1"/>
          <p:nvPr/>
        </p:nvSpPr>
        <p:spPr>
          <a:xfrm>
            <a:off x="4457700" y="2590800"/>
            <a:ext cx="32766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Визуальное исследование: от графика к данным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Богатая библиотека типов графиков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Hyper: быстрые экстракты и live-подключения</a:t>
            </a:r>
          </a:p>
        </p:txBody>
      </p:sp>
      <p:sp>
        <p:nvSpPr>
          <p:cNvPr id="86" name="cost_tab">
            <a:extLst>
              <a:ext uri="{FF2B5EF4-FFF2-40B4-BE49-F238E27FC236}">
                <a16:creationId xmlns:a16="http://schemas.microsoft.com/office/drawing/2014/main" id="{577777A6-B6DF-DE4E-A424-9FF8E5775673}"/>
              </a:ext>
            </a:extLst>
          </p:cNvPr>
          <p:cNvSpPr txBox="1"/>
          <p:nvPr/>
        </p:nvSpPr>
        <p:spPr>
          <a:xfrm>
            <a:off x="4479472" y="3719283"/>
            <a:ext cx="32766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lnSpc>
                <a:spcPts val="1300"/>
              </a:lnSpc>
              <a:spcAft>
                <a:spcPts val="300"/>
              </a:spcAft>
            </a:pPr>
            <a:r>
              <a:rPr lang="ru-RU" sz="1050" b="1" dirty="0" err="1">
                <a:solidFill>
                  <a:srgbClr val="333333"/>
                </a:solidFill>
                <a:latin typeface="Montserrat" pitchFamily="2" charset="0"/>
              </a:rPr>
              <a:t>Analyzer</a:t>
            </a: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: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  $ 420</a:t>
            </a:r>
          </a:p>
          <a:p>
            <a:pPr>
              <a:lnSpc>
                <a:spcPts val="1300"/>
              </a:lnSpc>
              <a:spcAft>
                <a:spcPts val="300"/>
              </a:spcAft>
            </a:pP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Professional: 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$ 1380</a:t>
            </a:r>
          </a:p>
        </p:txBody>
      </p:sp>
      <p:sp>
        <p:nvSpPr>
          <p:cNvPr id="87" name="feat_tab">
            <a:extLst>
              <a:ext uri="{FF2B5EF4-FFF2-40B4-BE49-F238E27FC236}">
                <a16:creationId xmlns:a16="http://schemas.microsoft.com/office/drawing/2014/main" id="{B928C6E5-3928-C849-8B1B-2C898D68864E}"/>
              </a:ext>
            </a:extLst>
          </p:cNvPr>
          <p:cNvSpPr txBox="1"/>
          <p:nvPr/>
        </p:nvSpPr>
        <p:spPr>
          <a:xfrm>
            <a:off x="4457699" y="4608284"/>
            <a:ext cx="3361871" cy="114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Ограниченная поддержка on-premise крупного масштаба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Нет ассоциативной модели — только линейные запросы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Слабый встроенный ETL — требуется внешний слой</a:t>
            </a:r>
          </a:p>
        </p:txBody>
      </p:sp>
      <p:sp>
        <p:nvSpPr>
          <p:cNvPr id="88" name="cap_qlk">
            <a:extLst>
              <a:ext uri="{FF2B5EF4-FFF2-40B4-BE49-F238E27FC236}">
                <a16:creationId xmlns:a16="http://schemas.microsoft.com/office/drawing/2014/main" id="{4CE371DF-ED28-564D-99BA-59E1447C2675}"/>
              </a:ext>
            </a:extLst>
          </p:cNvPr>
          <p:cNvSpPr txBox="1"/>
          <p:nvPr/>
        </p:nvSpPr>
        <p:spPr>
          <a:xfrm>
            <a:off x="8394700" y="2590800"/>
            <a:ext cx="34798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Ассоциативная модель QIX — связи во всех данных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Полноценный enterprise on-premise (политика ИБ)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ETL, Self-Service, API, NPrinting, Section Access</a:t>
            </a:r>
          </a:p>
        </p:txBody>
      </p:sp>
      <p:sp>
        <p:nvSpPr>
          <p:cNvPr id="89" name="cost_qlk">
            <a:extLst>
              <a:ext uri="{FF2B5EF4-FFF2-40B4-BE49-F238E27FC236}">
                <a16:creationId xmlns:a16="http://schemas.microsoft.com/office/drawing/2014/main" id="{A58854D0-3B56-A540-9A99-383426555781}"/>
              </a:ext>
            </a:extLst>
          </p:cNvPr>
          <p:cNvSpPr txBox="1"/>
          <p:nvPr/>
        </p:nvSpPr>
        <p:spPr>
          <a:xfrm>
            <a:off x="8416472" y="3719283"/>
            <a:ext cx="32766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lnSpc>
                <a:spcPts val="1300"/>
              </a:lnSpc>
              <a:spcAft>
                <a:spcPts val="300"/>
              </a:spcAft>
            </a:pP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Analyzer: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  € 415 </a:t>
            </a:r>
          </a:p>
          <a:p>
            <a:pPr>
              <a:lnSpc>
                <a:spcPts val="1300"/>
              </a:lnSpc>
              <a:spcAft>
                <a:spcPts val="300"/>
              </a:spcAft>
            </a:pPr>
            <a:r>
              <a:rPr lang="ru-RU" sz="1050" b="1" dirty="0">
                <a:solidFill>
                  <a:srgbClr val="333333"/>
                </a:solidFill>
                <a:latin typeface="Montserrat" pitchFamily="2" charset="0"/>
              </a:rPr>
              <a:t>Professional:</a:t>
            </a:r>
            <a:r>
              <a:rPr lang="ru-RU" sz="1050" dirty="0">
                <a:solidFill>
                  <a:srgbClr val="333333"/>
                </a:solidFill>
                <a:latin typeface="Montserrat" pitchFamily="2" charset="0"/>
              </a:rPr>
              <a:t>  € 710 </a:t>
            </a:r>
          </a:p>
        </p:txBody>
      </p:sp>
      <p:sp>
        <p:nvSpPr>
          <p:cNvPr id="90" name="feat_qlk">
            <a:extLst>
              <a:ext uri="{FF2B5EF4-FFF2-40B4-BE49-F238E27FC236}">
                <a16:creationId xmlns:a16="http://schemas.microsoft.com/office/drawing/2014/main" id="{81053F35-DFCE-FC41-9E85-C679B42C3F2C}"/>
              </a:ext>
            </a:extLst>
          </p:cNvPr>
          <p:cNvSpPr txBox="1"/>
          <p:nvPr/>
        </p:nvSpPr>
        <p:spPr>
          <a:xfrm>
            <a:off x="8394699" y="4608284"/>
            <a:ext cx="3361871" cy="5170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Готовая экспертиза команды банка</a:t>
            </a:r>
          </a:p>
          <a:p>
            <a:pPr marL="114300" indent="-114300" algn="l">
              <a:lnSpc>
                <a:spcPts val="1200"/>
              </a:lnSpc>
              <a:spcAft>
                <a:spcPts val="400"/>
              </a:spcAft>
              <a:buClr>
                <a:srgbClr val="009845"/>
              </a:buClr>
              <a:buFont typeface="Arial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2" charset="0"/>
              </a:rPr>
              <a:t>Глубокая интеграция с внутренними системами</a:t>
            </a:r>
          </a:p>
        </p:txBody>
      </p:sp>
      <p:pic>
        <p:nvPicPr>
          <p:cNvPr id="1034" name="Picture 10" descr="Power BI Logo [Microsoft | 01] - PNG Logo Vector Brand Downloads (SVG, EPS)">
            <a:extLst>
              <a:ext uri="{FF2B5EF4-FFF2-40B4-BE49-F238E27FC236}">
                <a16:creationId xmlns:a16="http://schemas.microsoft.com/office/drawing/2014/main" id="{12CAE525-85ED-8D2B-AA5D-9F0CE9168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0" b="21177"/>
          <a:stretch>
            <a:fillRect/>
          </a:stretch>
        </p:blipFill>
        <p:spPr bwMode="auto">
          <a:xfrm>
            <a:off x="520700" y="1612898"/>
            <a:ext cx="12319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1612898"/>
            <a:ext cx="1384300" cy="406400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DB0D056-D86C-DC26-27E5-3D0E187C8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16094"/>
          <a:stretch>
            <a:fillRect/>
          </a:stretch>
        </p:blipFill>
        <p:spPr bwMode="auto">
          <a:xfrm>
            <a:off x="8394700" y="1612898"/>
            <a:ext cx="10287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ase_title_qlk">
            <a:extLst>
              <a:ext uri="{FF2B5EF4-FFF2-40B4-BE49-F238E27FC236}">
                <a16:creationId xmlns:a16="http://schemas.microsoft.com/office/drawing/2014/main" id="{941AF1E6-D3D8-0D42-A146-F0E29AD25CF3}"/>
              </a:ext>
            </a:extLst>
          </p:cNvPr>
          <p:cNvSpPr txBox="1"/>
          <p:nvPr/>
        </p:nvSpPr>
        <p:spPr>
          <a:xfrm>
            <a:off x="8416472" y="5132012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ru-RU" sz="1000" b="1" dirty="0">
                <a:solidFill>
                  <a:srgbClr val="009845"/>
                </a:solidFill>
                <a:latin typeface="Montserrat" pitchFamily="2" charset="0"/>
              </a:rPr>
              <a:t>НАКОПЛЕННАЯ БАЗА</a:t>
            </a:r>
            <a:endParaRPr lang="ru-KZ" sz="1000" b="1" dirty="0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19" name="base_num_0_0">
            <a:extLst>
              <a:ext uri="{FF2B5EF4-FFF2-40B4-BE49-F238E27FC236}">
                <a16:creationId xmlns:a16="http://schemas.microsoft.com/office/drawing/2014/main" id="{45104730-104E-3244-9919-D06BD84C6F4D}"/>
              </a:ext>
            </a:extLst>
          </p:cNvPr>
          <p:cNvSpPr txBox="1"/>
          <p:nvPr/>
        </p:nvSpPr>
        <p:spPr>
          <a:xfrm>
            <a:off x="8438244" y="5399315"/>
            <a:ext cx="6096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KZ" b="1">
                <a:solidFill>
                  <a:srgbClr val="009845"/>
                </a:solidFill>
                <a:latin typeface="Montserrat" pitchFamily="2" charset="0"/>
              </a:rPr>
              <a:t>5+</a:t>
            </a:r>
          </a:p>
        </p:txBody>
      </p:sp>
      <p:sp>
        <p:nvSpPr>
          <p:cNvPr id="20" name="base_lbl_0_0">
            <a:extLst>
              <a:ext uri="{FF2B5EF4-FFF2-40B4-BE49-F238E27FC236}">
                <a16:creationId xmlns:a16="http://schemas.microsoft.com/office/drawing/2014/main" id="{E1CDD7B6-FF92-9C40-BE8E-C46EA2245C07}"/>
              </a:ext>
            </a:extLst>
          </p:cNvPr>
          <p:cNvSpPr txBox="1"/>
          <p:nvPr/>
        </p:nvSpPr>
        <p:spPr>
          <a:xfrm>
            <a:off x="8848270" y="5486401"/>
            <a:ext cx="9144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900" dirty="0">
                <a:solidFill>
                  <a:srgbClr val="666666"/>
                </a:solidFill>
                <a:latin typeface="Montserrat" pitchFamily="2" charset="0"/>
              </a:rPr>
              <a:t>лет</a:t>
            </a:r>
            <a:endParaRPr lang="ru-KZ" sz="900" dirty="0">
              <a:solidFill>
                <a:srgbClr val="666666"/>
              </a:solidFill>
              <a:latin typeface="Montserrat" pitchFamily="2" charset="0"/>
            </a:endParaRPr>
          </a:p>
        </p:txBody>
      </p:sp>
      <p:sp>
        <p:nvSpPr>
          <p:cNvPr id="21" name="base_num_0_1">
            <a:extLst>
              <a:ext uri="{FF2B5EF4-FFF2-40B4-BE49-F238E27FC236}">
                <a16:creationId xmlns:a16="http://schemas.microsoft.com/office/drawing/2014/main" id="{95AC9DCF-E064-DC4C-AEF2-B7116A8C9922}"/>
              </a:ext>
            </a:extLst>
          </p:cNvPr>
          <p:cNvSpPr txBox="1"/>
          <p:nvPr/>
        </p:nvSpPr>
        <p:spPr>
          <a:xfrm>
            <a:off x="10140044" y="5399315"/>
            <a:ext cx="6096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KZ" b="1">
                <a:solidFill>
                  <a:srgbClr val="009845"/>
                </a:solidFill>
                <a:latin typeface="Montserrat" pitchFamily="2" charset="0"/>
              </a:rPr>
              <a:t>793</a:t>
            </a:r>
          </a:p>
        </p:txBody>
      </p:sp>
      <p:sp>
        <p:nvSpPr>
          <p:cNvPr id="22" name="base_lbl_0_1">
            <a:extLst>
              <a:ext uri="{FF2B5EF4-FFF2-40B4-BE49-F238E27FC236}">
                <a16:creationId xmlns:a16="http://schemas.microsoft.com/office/drawing/2014/main" id="{00C38FB0-FDFC-5A4D-8CA9-C6D394748CAE}"/>
              </a:ext>
            </a:extLst>
          </p:cNvPr>
          <p:cNvSpPr txBox="1"/>
          <p:nvPr/>
        </p:nvSpPr>
        <p:spPr>
          <a:xfrm>
            <a:off x="10615386" y="5486401"/>
            <a:ext cx="9144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900">
                <a:solidFill>
                  <a:srgbClr val="666666"/>
                </a:solidFill>
                <a:latin typeface="Montserrat" pitchFamily="2" charset="0"/>
              </a:rPr>
              <a:t>юзеров</a:t>
            </a:r>
            <a:endParaRPr lang="ru-KZ" sz="900">
              <a:solidFill>
                <a:srgbClr val="666666"/>
              </a:solidFill>
              <a:latin typeface="Montserrat" pitchFamily="2" charset="0"/>
            </a:endParaRPr>
          </a:p>
        </p:txBody>
      </p:sp>
      <p:sp>
        <p:nvSpPr>
          <p:cNvPr id="23" name="base_num_1_0">
            <a:extLst>
              <a:ext uri="{FF2B5EF4-FFF2-40B4-BE49-F238E27FC236}">
                <a16:creationId xmlns:a16="http://schemas.microsoft.com/office/drawing/2014/main" id="{2D4611ED-E7B1-8A40-9F6C-D6C4F2229EC9}"/>
              </a:ext>
            </a:extLst>
          </p:cNvPr>
          <p:cNvSpPr txBox="1"/>
          <p:nvPr/>
        </p:nvSpPr>
        <p:spPr>
          <a:xfrm>
            <a:off x="8438244" y="5958115"/>
            <a:ext cx="6096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009845"/>
                </a:solidFill>
                <a:latin typeface="Montserrat" pitchFamily="2" charset="0"/>
              </a:rPr>
              <a:t>4к</a:t>
            </a:r>
            <a:endParaRPr lang="ru-KZ" b="1">
              <a:solidFill>
                <a:srgbClr val="009845"/>
              </a:solidFill>
              <a:latin typeface="Montserrat" pitchFamily="2" charset="0"/>
            </a:endParaRPr>
          </a:p>
        </p:txBody>
      </p:sp>
      <p:sp>
        <p:nvSpPr>
          <p:cNvPr id="24" name="base_lbl_1_0">
            <a:extLst>
              <a:ext uri="{FF2B5EF4-FFF2-40B4-BE49-F238E27FC236}">
                <a16:creationId xmlns:a16="http://schemas.microsoft.com/office/drawing/2014/main" id="{A9389E1F-B198-1A47-8E2F-8CA884DF4E98}"/>
              </a:ext>
            </a:extLst>
          </p:cNvPr>
          <p:cNvSpPr txBox="1"/>
          <p:nvPr/>
        </p:nvSpPr>
        <p:spPr>
          <a:xfrm>
            <a:off x="8848270" y="6045201"/>
            <a:ext cx="9144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900">
                <a:solidFill>
                  <a:srgbClr val="666666"/>
                </a:solidFill>
                <a:latin typeface="Montserrat" pitchFamily="2" charset="0"/>
              </a:rPr>
              <a:t>аппов</a:t>
            </a:r>
            <a:endParaRPr lang="ru-KZ" sz="900">
              <a:solidFill>
                <a:srgbClr val="666666"/>
              </a:solidFill>
              <a:latin typeface="Montserrat" pitchFamily="2" charset="0"/>
            </a:endParaRPr>
          </a:p>
        </p:txBody>
      </p:sp>
      <p:sp>
        <p:nvSpPr>
          <p:cNvPr id="25" name="base_num_1_1">
            <a:extLst>
              <a:ext uri="{FF2B5EF4-FFF2-40B4-BE49-F238E27FC236}">
                <a16:creationId xmlns:a16="http://schemas.microsoft.com/office/drawing/2014/main" id="{713CEDEB-4F5D-F24A-8D82-E8EEEBE2089C}"/>
              </a:ext>
            </a:extLst>
          </p:cNvPr>
          <p:cNvSpPr txBox="1"/>
          <p:nvPr/>
        </p:nvSpPr>
        <p:spPr>
          <a:xfrm>
            <a:off x="10140044" y="5958115"/>
            <a:ext cx="6096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KZ" b="1">
                <a:solidFill>
                  <a:srgbClr val="009845"/>
                </a:solidFill>
                <a:latin typeface="Montserrat" pitchFamily="2" charset="0"/>
              </a:rPr>
              <a:t>250</a:t>
            </a:r>
          </a:p>
        </p:txBody>
      </p:sp>
      <p:sp>
        <p:nvSpPr>
          <p:cNvPr id="26" name="base_lbl_1_1">
            <a:extLst>
              <a:ext uri="{FF2B5EF4-FFF2-40B4-BE49-F238E27FC236}">
                <a16:creationId xmlns:a16="http://schemas.microsoft.com/office/drawing/2014/main" id="{4C79A468-E856-1A48-B538-594D240FEF57}"/>
              </a:ext>
            </a:extLst>
          </p:cNvPr>
          <p:cNvSpPr txBox="1"/>
          <p:nvPr/>
        </p:nvSpPr>
        <p:spPr>
          <a:xfrm>
            <a:off x="10615386" y="6045201"/>
            <a:ext cx="9144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900">
                <a:solidFill>
                  <a:srgbClr val="666666"/>
                </a:solidFill>
                <a:latin typeface="Montserrat" pitchFamily="2" charset="0"/>
              </a:rPr>
              <a:t>штат</a:t>
            </a:r>
            <a:endParaRPr lang="ru-KZ" sz="900">
              <a:solidFill>
                <a:srgbClr val="666666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18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Исследование альтернативных BI-платформ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571500" y="1000354"/>
            <a:ext cx="10592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Проделанная работа команды по анализу возможностей оптимизации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333195" y="1619402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Анализ рынка BI-платформ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333195" y="1886407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Провели детальный анализ ведущих платформ: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Power BI, Microsoft Fabric, Tableau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. Изучили функциональность, стоимость, архитектуру, совместимость с инфраструктурой банка. 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333195" y="2667305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Практическое тестирование Power BI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333195" y="2933395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Команда самостоятельно протестировала Power BI на реальных задачах банка. Разработчики создавали отчёты, оценивали трудозатраты и удобство перехода.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333195" y="37152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Оценка гибридного сценария (Qlik + Power BI)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333195" y="398129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Рассмотрели сценарий комбинированного использования — Qlik для одних задач, </a:t>
            </a:r>
            <a:r>
              <a:rPr lang="ru-RU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альтернативные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BI для других. Выявили: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двойные затраты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разработку, поддержку и обучение. Работа на двух платформах —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неэффективна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333195" y="48582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Ключевое ограничение Power BI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333195" y="512429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Для полноценного масштабирования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Power BI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требуется облачная платформа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Microsoft Fabric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 и</a:t>
            </a:r>
            <a:r>
              <a:rPr lang="ru-RU" sz="1200" b="1" dirty="0">
                <a:solidFill>
                  <a:srgbClr val="DC2626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копирование данных в облако.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On-premise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версия (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Report Server)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существенно уступает облачной по функционалу. Дополнительно — лимит загрузки данных в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Power BI Pro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составляет </a:t>
            </a:r>
            <a:r>
              <a:rPr lang="ru-RU" sz="1200" b="1" dirty="0">
                <a:solidFill>
                  <a:srgbClr val="DC2626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1 ГБ на датасет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, что недостаточно для объёмов данных банка.</a:t>
            </a:r>
            <a:endParaRPr lang="en-US" sz="1200" dirty="0">
              <a:solidFill>
                <a:srgbClr val="444444"/>
              </a:solidFill>
              <a:latin typeface="Montserrat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0370210" y="6524244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71500" y="6524244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E58FEF1-82DE-31EB-8738-758F2E79400C}"/>
              </a:ext>
            </a:extLst>
          </p:cNvPr>
          <p:cNvGrpSpPr/>
          <p:nvPr/>
        </p:nvGrpSpPr>
        <p:grpSpPr>
          <a:xfrm>
            <a:off x="743407" y="1552128"/>
            <a:ext cx="381305" cy="3543300"/>
            <a:chOff x="733349" y="1619402"/>
            <a:chExt cx="381305" cy="3543300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/>
            <a:srcRect l="-398" r="-398"/>
            <a:stretch/>
          </p:blipFill>
          <p:spPr>
            <a:xfrm>
              <a:off x="905256" y="1619402"/>
              <a:ext cx="38405" cy="3333902"/>
            </a:xfrm>
            <a:prstGeom prst="rect">
              <a:avLst/>
            </a:prstGeom>
          </p:spPr>
        </p:pic>
        <p:pic>
          <p:nvPicPr>
            <p:cNvPr id="6" name="Image 2" descr="preencoded.png"/>
            <p:cNvPicPr>
              <a:picLocks noChangeAspect="1"/>
            </p:cNvPicPr>
            <p:nvPr/>
          </p:nvPicPr>
          <p:blipFill>
            <a:blip r:embed="rId5"/>
            <a:srcRect l="-395" r="-395"/>
            <a:stretch/>
          </p:blipFill>
          <p:spPr>
            <a:xfrm>
              <a:off x="905256" y="1619402"/>
              <a:ext cx="38405" cy="3238805"/>
            </a:xfrm>
            <a:prstGeom prst="rect">
              <a:avLst/>
            </a:prstGeom>
          </p:spPr>
        </p:pic>
        <p:sp>
          <p:nvSpPr>
            <p:cNvPr id="7" name="Shape 2"/>
            <p:cNvSpPr/>
            <p:nvPr/>
          </p:nvSpPr>
          <p:spPr>
            <a:xfrm>
              <a:off x="771754" y="1619402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8" name="Shape 3"/>
            <p:cNvSpPr/>
            <p:nvPr/>
          </p:nvSpPr>
          <p:spPr>
            <a:xfrm>
              <a:off x="771754" y="2667305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9" name="Shape 4"/>
            <p:cNvSpPr/>
            <p:nvPr/>
          </p:nvSpPr>
          <p:spPr>
            <a:xfrm>
              <a:off x="771754" y="3715207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0" name="Shape 5"/>
            <p:cNvSpPr/>
            <p:nvPr/>
          </p:nvSpPr>
          <p:spPr>
            <a:xfrm>
              <a:off x="771754" y="4858207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733349" y="1676095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733349" y="2723998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733349" y="3771900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733349" y="4914900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28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D534AEDC-82F2-821F-4670-9D9F9ACED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3">
            <a:extLst>
              <a:ext uri="{FF2B5EF4-FFF2-40B4-BE49-F238E27FC236}">
                <a16:creationId xmlns:a16="http://schemas.microsoft.com/office/drawing/2014/main" id="{51832334-6E05-15CF-3558-871708542803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F2553C49-5E0B-98E1-F3FC-2BFE03B97ED6}"/>
              </a:ext>
            </a:extLst>
          </p:cNvPr>
          <p:cNvSpPr/>
          <p:nvPr/>
        </p:nvSpPr>
        <p:spPr>
          <a:xfrm>
            <a:off x="6004421" y="1554617"/>
            <a:ext cx="5712451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857707" y="2286000"/>
            <a:ext cx="4809744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6524244" y="2286000"/>
            <a:ext cx="4809744" cy="91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549042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7168091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7787140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8406188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571500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Итоги анализа BI-платформ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71500" y="1000354"/>
            <a:ext cx="10592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Итоговая оценка применимости для Halyk Bank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4033156" y="1809597"/>
            <a:ext cx="1537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Альтернатив</a:t>
            </a:r>
            <a:r>
              <a:rPr lang="ru-RU" sz="1200" b="1" dirty="0" err="1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ный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CB82BB0-46AD-F9D9-A349-26F4F735EA27}"/>
              </a:ext>
            </a:extLst>
          </p:cNvPr>
          <p:cNvGrpSpPr/>
          <p:nvPr/>
        </p:nvGrpSpPr>
        <p:grpSpPr>
          <a:xfrm>
            <a:off x="857707" y="2428646"/>
            <a:ext cx="4924958" cy="1200607"/>
            <a:chOff x="857707" y="2428646"/>
            <a:chExt cx="4924958" cy="1200607"/>
          </a:xfrm>
        </p:grpSpPr>
        <p:sp>
          <p:nvSpPr>
            <p:cNvPr id="19" name="Text 12"/>
            <p:cNvSpPr txBox="1"/>
            <p:nvPr/>
          </p:nvSpPr>
          <p:spPr>
            <a:xfrm>
              <a:off x="857707" y="2428646"/>
              <a:ext cx="4924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ВОЗМОЖНОСТИ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0" name="Text 13"/>
            <p:cNvSpPr txBox="1"/>
            <p:nvPr/>
          </p:nvSpPr>
          <p:spPr>
            <a:xfrm>
              <a:off x="857707" y="271485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Стоимость: </a:t>
              </a: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$240/год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на пользователя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857707" y="296265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Удобен для управленческой отчётности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2" name="Text 15"/>
            <p:cNvSpPr txBox="1"/>
            <p:nvPr/>
          </p:nvSpPr>
          <p:spPr>
            <a:xfrm>
              <a:off x="857707" y="320954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Гибкость моделей данных (Power Query M)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3" name="Text 16"/>
            <p:cNvSpPr txBox="1"/>
            <p:nvPr/>
          </p:nvSpPr>
          <p:spPr>
            <a:xfrm>
              <a:off x="857707" y="345734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Встроенная безопасность (Azure AD, RLS)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24" name="Text 17"/>
          <p:cNvSpPr txBox="1"/>
          <p:nvPr/>
        </p:nvSpPr>
        <p:spPr>
          <a:xfrm>
            <a:off x="857707" y="4143146"/>
            <a:ext cx="4886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Enterprise-масштабирование </a:t>
            </a:r>
            <a:r>
              <a:rPr lang="en-US" sz="900" b="1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через облако (Fabric)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— не проходит по политике ИБ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857707" y="4562856"/>
            <a:ext cx="5166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Power BI enterprise -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версия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ограничена, невозможно масштабировать на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весь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банк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 максимальная обработка данных 1 </a:t>
            </a:r>
            <a:r>
              <a:rPr lang="ru-RU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гб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857707" y="4924044"/>
            <a:ext cx="4924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Отсутствие ассоциативной модели —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линейные запросы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857707" y="5171846"/>
            <a:ext cx="4924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Полное переобучение команды и миграция наработок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8762695" y="1842516"/>
            <a:ext cx="2477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Оптимальный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C625D7E2-A168-A000-E638-4FDFC11EC8DE}"/>
              </a:ext>
            </a:extLst>
          </p:cNvPr>
          <p:cNvGrpSpPr/>
          <p:nvPr/>
        </p:nvGrpSpPr>
        <p:grpSpPr>
          <a:xfrm>
            <a:off x="6358598" y="2428646"/>
            <a:ext cx="5406988" cy="1200607"/>
            <a:chOff x="6524244" y="2428646"/>
            <a:chExt cx="5241341" cy="1200607"/>
          </a:xfrm>
        </p:grpSpPr>
        <p:sp>
          <p:nvSpPr>
            <p:cNvPr id="30" name="Text 22"/>
            <p:cNvSpPr txBox="1"/>
            <p:nvPr/>
          </p:nvSpPr>
          <p:spPr>
            <a:xfrm>
              <a:off x="6524244" y="2428646"/>
              <a:ext cx="4924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ВОЗМОЖНОСТИ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31" name="Text 23"/>
            <p:cNvSpPr txBox="1"/>
            <p:nvPr/>
          </p:nvSpPr>
          <p:spPr>
            <a:xfrm>
              <a:off x="6524244" y="271485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Уникальная ассоциативная модель QIX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— связи во всех данных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2" name="Text 24"/>
            <p:cNvSpPr txBox="1"/>
            <p:nvPr/>
          </p:nvSpPr>
          <p:spPr>
            <a:xfrm>
              <a:off x="6524244" y="296265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Полноценный enterprise on-premise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— соответствует политике ИБ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3" name="Text 25"/>
            <p:cNvSpPr txBox="1"/>
            <p:nvPr/>
          </p:nvSpPr>
          <p:spPr>
            <a:xfrm>
              <a:off x="6524244" y="320954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Масштабируемость на весь банк: филиалы, департаменты, дочки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4" name="Text 26"/>
            <p:cNvSpPr txBox="1"/>
            <p:nvPr/>
          </p:nvSpPr>
          <p:spPr>
            <a:xfrm>
              <a:off x="6524244" y="3457346"/>
              <a:ext cx="524134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Встроенный ETL, Self-Service, API, Mashups, NPrinting, Section Access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35" name="Text 27"/>
          <p:cNvSpPr txBox="1"/>
          <p:nvPr/>
        </p:nvSpPr>
        <p:spPr>
          <a:xfrm>
            <a:off x="6672486" y="5325552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Стоимость: ~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415 евро 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/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год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6577573" y="5387731"/>
            <a:ext cx="47549" cy="47549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6672486" y="5567149"/>
            <a:ext cx="236281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Требует квалифицированной команды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577573" y="5625475"/>
            <a:ext cx="47549" cy="47549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6549042" y="3897721"/>
            <a:ext cx="252648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B9CC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Накопленная база</a:t>
            </a:r>
            <a:endParaRPr lang="en-US" sz="900" dirty="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571500" y="657270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0370210" y="6572707"/>
            <a:ext cx="12508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3" name="Text 35"/>
          <p:cNvSpPr txBox="1"/>
          <p:nvPr/>
        </p:nvSpPr>
        <p:spPr>
          <a:xfrm>
            <a:off x="6510637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</a:t>
            </a: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4" name="Text 36"/>
          <p:cNvSpPr txBox="1"/>
          <p:nvPr/>
        </p:nvSpPr>
        <p:spPr>
          <a:xfrm>
            <a:off x="6510637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года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7129686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7</a:t>
            </a:r>
            <a:r>
              <a:rPr lang="ru-RU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93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7129686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юзеров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7" name="Text 39"/>
          <p:cNvSpPr txBox="1"/>
          <p:nvPr/>
        </p:nvSpPr>
        <p:spPr>
          <a:xfrm>
            <a:off x="7748735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4к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8" name="Text 40"/>
          <p:cNvSpPr txBox="1"/>
          <p:nvPr/>
        </p:nvSpPr>
        <p:spPr>
          <a:xfrm>
            <a:off x="7748735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аппов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8367784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250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8367784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штат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1034" name="Picture 10" descr="Power BI Logo [Microsoft | 01] - PNG Logo Vector Brand Downloads (SVG, EPS)">
            <a:extLst>
              <a:ext uri="{FF2B5EF4-FFF2-40B4-BE49-F238E27FC236}">
                <a16:creationId xmlns:a16="http://schemas.microsoft.com/office/drawing/2014/main" id="{12CAE525-85ED-8D2B-AA5D-9F0CE9168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0" b="21177"/>
          <a:stretch>
            <a:fillRect/>
          </a:stretch>
        </p:blipFill>
        <p:spPr bwMode="auto">
          <a:xfrm>
            <a:off x="904017" y="1620317"/>
            <a:ext cx="1856532" cy="60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DB0D056-D86C-DC26-27E5-3D0E187C8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16094"/>
          <a:stretch>
            <a:fillRect/>
          </a:stretch>
        </p:blipFill>
        <p:spPr bwMode="auto">
          <a:xfrm>
            <a:off x="6492469" y="1607515"/>
            <a:ext cx="1514094" cy="6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EF63395B-D2C6-2A48-3A2C-A3F270B77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783E4D3-3CC2-A263-6C9F-917B58E4BCEE}"/>
              </a:ext>
            </a:extLst>
          </p:cNvPr>
          <p:cNvSpPr txBox="1"/>
          <p:nvPr/>
        </p:nvSpPr>
        <p:spPr>
          <a:xfrm>
            <a:off x="860473" y="3895344"/>
            <a:ext cx="4924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ОСОБЕННОСТИ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6A678307-4104-4160-4125-C755C83F16E6}"/>
              </a:ext>
            </a:extLst>
          </p:cNvPr>
          <p:cNvSpPr txBox="1"/>
          <p:nvPr/>
        </p:nvSpPr>
        <p:spPr>
          <a:xfrm>
            <a:off x="6577573" y="5038712"/>
            <a:ext cx="4924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ОСОБЕННОСТИ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>
            <a:extLst>
              <a:ext uri="{FF2B5EF4-FFF2-40B4-BE49-F238E27FC236}">
                <a16:creationId xmlns:a16="http://schemas.microsoft.com/office/drawing/2014/main" id="{E487460F-F78F-8CB7-BDB3-14DC4FA02003}"/>
              </a:ext>
            </a:extLst>
          </p:cNvPr>
          <p:cNvSpPr/>
          <p:nvPr/>
        </p:nvSpPr>
        <p:spPr>
          <a:xfrm>
            <a:off x="7931889" y="1662379"/>
            <a:ext cx="4046144" cy="4610051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38" r="-638"/>
          <a:stretch/>
        </p:blipFill>
        <p:spPr>
          <a:xfrm>
            <a:off x="571500" y="381305"/>
            <a:ext cx="571500" cy="32918"/>
          </a:xfrm>
          <a:prstGeom prst="rect">
            <a:avLst/>
          </a:prstGeom>
        </p:spPr>
      </p:pic>
      <p:sp>
        <p:nvSpPr>
          <p:cNvPr id="100" name="Zone1"/>
          <p:cNvSpPr/>
          <p:nvPr/>
        </p:nvSpPr>
        <p:spPr>
          <a:xfrm>
            <a:off x="762000" y="2006600"/>
            <a:ext cx="3365500" cy="4254500"/>
          </a:xfrm>
          <a:prstGeom prst="rect">
            <a:avLst/>
          </a:prstGeom>
          <a:pattFill prst="pct40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36000" tIns="36000" rIns="36000" bIns="36000" anchor="t"/>
          <a:lstStyle/>
          <a:p>
            <a:pPr algn="ctr">
              <a:buNone/>
            </a:pPr>
            <a:r>
              <a:rPr lang="ru-RU" sz="1000" b="1" dirty="0">
                <a:solidFill>
                  <a:srgbClr val="4A8A4A"/>
                </a:solidFill>
                <a:latin typeface="Montserrat"/>
              </a:rPr>
              <a:t>Срок действия: 2021-2024</a:t>
            </a:r>
          </a:p>
        </p:txBody>
      </p:sp>
      <p:sp>
        <p:nvSpPr>
          <p:cNvPr id="101" name="Zone2"/>
          <p:cNvSpPr/>
          <p:nvPr/>
        </p:nvSpPr>
        <p:spPr>
          <a:xfrm>
            <a:off x="4127500" y="2006600"/>
            <a:ext cx="3327400" cy="4254500"/>
          </a:xfrm>
          <a:prstGeom prst="rect">
            <a:avLst/>
          </a:prstGeom>
          <a:pattFill prst="pct40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36000" tIns="36000" rIns="36000" bIns="36000" anchor="t"/>
          <a:lstStyle/>
          <a:p>
            <a:pPr algn="ctr">
              <a:buNone/>
            </a:pPr>
            <a:r>
              <a:rPr lang="ru-RU" sz="1000" b="1" dirty="0">
                <a:solidFill>
                  <a:srgbClr val="5A7A9A"/>
                </a:solidFill>
                <a:latin typeface="Montserrat"/>
              </a:rPr>
              <a:t>Срок действия: 2024-2027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71500" y="604418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затрат на лицензии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1195121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циклов закупа, продления и масштабирования (2021-2027)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1500" y="1687982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ИСТОРИЯ ЗАТРАТ (МЛН ₸)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94860" y="1683410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43A047"/>
          </a:solidFill>
          <a:ln w="12700">
            <a:noFill/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765853" y="1662379"/>
            <a:ext cx="1524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Закуп/Продление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57282" y="1695122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7B1FA2"/>
          </a:solidFill>
          <a:ln w="12700">
            <a:noFill/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335082" y="1674091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Докупка/Масштабирование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128000" y="178907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Ключевые выводы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8128000" y="2072653"/>
            <a:ext cx="12765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100" b="1" dirty="0">
                <a:solidFill>
                  <a:srgbClr val="DC2626"/>
                </a:solidFill>
                <a:latin typeface="Montserrat" pitchFamily="2" charset="0"/>
              </a:rPr>
              <a:t>464</a:t>
            </a:r>
            <a:endParaRPr lang="en-US" sz="2100" dirty="0">
              <a:latin typeface="Montserrat" pitchFamily="2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128000" y="2504453"/>
            <a:ext cx="142829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Пик затрат 2024 (млн ₸)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0160000" y="2072653"/>
            <a:ext cx="981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100" b="1" dirty="0">
                <a:solidFill>
                  <a:srgbClr val="009845"/>
                </a:solidFill>
                <a:latin typeface="Montserrat" pitchFamily="2" charset="0"/>
              </a:rPr>
              <a:t>614</a:t>
            </a:r>
            <a:endParaRPr lang="en-US" sz="21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0160000" y="2504453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 2027 (млн ₸)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128000" y="2758453"/>
            <a:ext cx="336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 2024 году произошло продление лицензий на 3 года вперед, что сформировало пик затрат. В 2027 году планируется закуп на 614 млн ₸ для обеспечения роста.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128000" y="3498621"/>
            <a:ext cx="336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ДЕТАЛИЗАЦИЯ (МЛН ₸)</a:t>
            </a:r>
            <a:endParaRPr lang="en-US" sz="1000" dirty="0">
              <a:latin typeface="Montserrat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56233"/>
              </p:ext>
            </p:extLst>
          </p:nvPr>
        </p:nvGraphicFramePr>
        <p:xfrm>
          <a:off x="8128000" y="3746500"/>
          <a:ext cx="3619500" cy="2399690"/>
        </p:xfrm>
        <a:graphic>
          <a:graphicData uri="http://schemas.openxmlformats.org/drawingml/2006/table">
            <a:tbl>
              <a:tblPr/>
              <a:tblGrid>
                <a:gridCol w="514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Год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Тип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Сумма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9845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Факт</a:t>
                      </a:r>
                      <a:endParaRPr lang="en-US" sz="800" b="1" dirty="0">
                        <a:solidFill>
                          <a:srgbClr val="009845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2021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Закуп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110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2023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2024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Продление + 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490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Итого факт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629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9845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План</a:t>
                      </a:r>
                      <a:endParaRPr lang="en-US" sz="800" b="1" dirty="0">
                        <a:solidFill>
                          <a:srgbClr val="009845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2026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59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2027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Закуп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614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Итого план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673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571500" y="65024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0543946" y="6502400"/>
            <a:ext cx="1248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828A7CC5-E847-39A3-C988-F3E65A61D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YLabel"/>
          <p:cNvSpPr txBox="1"/>
          <p:nvPr/>
        </p:nvSpPr>
        <p:spPr>
          <a:xfrm>
            <a:off x="609600" y="1968500"/>
            <a:ext cx="571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ru-RU" sz="800" dirty="0">
                <a:solidFill>
                  <a:srgbClr val="999999"/>
                </a:solidFill>
                <a:latin typeface="Montserrat"/>
              </a:rPr>
              <a:t>млн ₸</a:t>
            </a:r>
          </a:p>
        </p:txBody>
      </p:sp>
      <p:sp>
        <p:nvSpPr>
          <p:cNvPr id="3" name="HorzSep">
            <a:extLst>
              <a:ext uri="{FF2B5EF4-FFF2-40B4-BE49-F238E27FC236}">
                <a16:creationId xmlns:a16="http://schemas.microsoft.com/office/drawing/2014/main" id="{EBDD96DE-A8CB-AD40-B94A-8D0009BED71B}"/>
              </a:ext>
            </a:extLst>
          </p:cNvPr>
          <p:cNvSpPr/>
          <p:nvPr/>
        </p:nvSpPr>
        <p:spPr>
          <a:xfrm>
            <a:off x="8128000" y="3368053"/>
            <a:ext cx="3175000" cy="9525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/>
          </a:p>
        </p:txBody>
      </p:sp>
      <p:graphicFrame>
        <p:nvGraphicFramePr>
          <p:cNvPr id="301" name="NewChart"/>
          <p:cNvGraphicFramePr/>
          <p:nvPr>
            <p:extLst>
              <p:ext uri="{D42A27DB-BD31-4B8C-83A1-F6EECF244321}">
                <p14:modId xmlns:p14="http://schemas.microsoft.com/office/powerpoint/2010/main" val="327522002"/>
              </p:ext>
            </p:extLst>
          </p:nvPr>
        </p:nvGraphicFramePr>
        <p:xfrm>
          <a:off x="431800" y="2252764"/>
          <a:ext cx="7382984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VertDivider">
            <a:extLst>
              <a:ext uri="{FF2B5EF4-FFF2-40B4-BE49-F238E27FC236}">
                <a16:creationId xmlns:a16="http://schemas.microsoft.com/office/drawing/2014/main" id="{E81CB22A-3540-954C-B724-82E8B290910F}"/>
              </a:ext>
            </a:extLst>
          </p:cNvPr>
          <p:cNvSpPr/>
          <p:nvPr/>
        </p:nvSpPr>
        <p:spPr>
          <a:xfrm>
            <a:off x="7937500" y="1625600"/>
            <a:ext cx="9525" cy="4572000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647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90695" y="1809598"/>
            <a:ext cx="7429500" cy="4286707"/>
          </a:xfrm>
          <a:prstGeom prst="roundRect">
            <a:avLst>
              <a:gd name="adj" fmla="val 2051"/>
            </a:avLst>
          </a:prstGeom>
          <a:solidFill>
            <a:srgbClr val="F5F5F5">
              <a:alpha val="10923"/>
            </a:srgbClr>
          </a:solidFill>
          <a:ln w="12700">
            <a:solidFill>
              <a:schemeClr val="bg1">
                <a:lumMod val="75000"/>
                <a:alpha val="49000"/>
              </a:schemeClr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71500" y="523951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Прогноз развития на 2027 год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Стратегическое планирование роста пользователей и бюджетных обязательств при традиционном подходе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C990D8AF-5C03-850F-0598-47D66002BBDD}"/>
              </a:ext>
            </a:extLst>
          </p:cNvPr>
          <p:cNvGrpSpPr/>
          <p:nvPr/>
        </p:nvGrpSpPr>
        <p:grpSpPr>
          <a:xfrm>
            <a:off x="569672" y="1809598"/>
            <a:ext cx="3295498" cy="1923898"/>
            <a:chOff x="571500" y="1714500"/>
            <a:chExt cx="3295498" cy="1923898"/>
          </a:xfrm>
        </p:grpSpPr>
        <p:sp>
          <p:nvSpPr>
            <p:cNvPr id="5" name="Shape 2"/>
            <p:cNvSpPr/>
            <p:nvPr/>
          </p:nvSpPr>
          <p:spPr>
            <a:xfrm>
              <a:off x="571500" y="1714500"/>
              <a:ext cx="3295498" cy="1923898"/>
            </a:xfrm>
            <a:prstGeom prst="roundRect">
              <a:avLst>
                <a:gd name="adj" fmla="val 188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571500" y="1714500"/>
              <a:ext cx="47549" cy="1923898"/>
            </a:xfrm>
            <a:prstGeom prst="roundRect">
              <a:avLst>
                <a:gd name="adj" fmla="val 76161"/>
              </a:avLst>
            </a:prstGeom>
            <a:solidFill>
              <a:srgbClr val="009845"/>
            </a:solidFill>
            <a:ln w="12700">
              <a:solidFill>
                <a:srgbClr val="0098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857707" y="1904695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ru-RU" sz="1000" b="1" kern="0" spc="38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СРЕДНЕГОДОВОЙ ТЕМП РОСТА</a:t>
              </a:r>
              <a:endParaRPr lang="en-US" sz="1000" b="1" kern="0" spc="38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endParaRPr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857707" y="2238451"/>
              <a:ext cx="29535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ru-RU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30</a:t>
              </a: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.</a:t>
              </a:r>
              <a:r>
                <a:rPr lang="ru-RU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5</a:t>
              </a: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%</a:t>
              </a:r>
              <a:endParaRPr lang="en-US" sz="3600" dirty="0">
                <a:latin typeface="Montserrat" pitchFamily="2" charset="0"/>
              </a:endParaRPr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857707" y="2857500"/>
              <a:ext cx="2839212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Устойчивый тренд масштабирования аналитики в банке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A68E2FA-57E3-CBFB-BFBE-54C94D3B7911}"/>
              </a:ext>
            </a:extLst>
          </p:cNvPr>
          <p:cNvGrpSpPr/>
          <p:nvPr/>
        </p:nvGrpSpPr>
        <p:grpSpPr>
          <a:xfrm>
            <a:off x="569672" y="4172407"/>
            <a:ext cx="3295498" cy="1923898"/>
            <a:chOff x="571500" y="3810305"/>
            <a:chExt cx="3295498" cy="1923898"/>
          </a:xfrm>
        </p:grpSpPr>
        <p:sp>
          <p:nvSpPr>
            <p:cNvPr id="7" name="Shape 4"/>
            <p:cNvSpPr/>
            <p:nvPr/>
          </p:nvSpPr>
          <p:spPr>
            <a:xfrm>
              <a:off x="571500" y="3810305"/>
              <a:ext cx="3295498" cy="1923898"/>
            </a:xfrm>
            <a:prstGeom prst="roundRect">
              <a:avLst>
                <a:gd name="adj" fmla="val 188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571500" y="3810305"/>
              <a:ext cx="47549" cy="1923898"/>
            </a:xfrm>
            <a:prstGeom prst="roundRect">
              <a:avLst>
                <a:gd name="adj" fmla="val 76161"/>
              </a:avLst>
            </a:prstGeom>
            <a:solidFill>
              <a:srgbClr val="009845"/>
            </a:solidFill>
            <a:ln w="12700">
              <a:solidFill>
                <a:srgbClr val="0098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857707" y="4000500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38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ПРОГНОЗ ЛИЦЕНЗИЙ 2027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857707" y="4334256"/>
              <a:ext cx="29535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1,362</a:t>
              </a:r>
              <a:endParaRPr lang="en-US" sz="3600" dirty="0">
                <a:latin typeface="Montserrat" pitchFamily="2" charset="0"/>
              </a:endParaRPr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857707" y="4953305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Активных пользователей Qlik Sense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18" name="Shape 15"/>
          <p:cNvSpPr/>
          <p:nvPr/>
        </p:nvSpPr>
        <p:spPr>
          <a:xfrm>
            <a:off x="4190695" y="1476756"/>
            <a:ext cx="28346" cy="171907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314139" y="1476756"/>
            <a:ext cx="7420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РОСТА ЛИЦЕНЗИЙ (2021-2027)</a:t>
            </a:r>
            <a:endParaRPr lang="en-US" sz="1000" dirty="0">
              <a:latin typeface="Montserrat" pitchFamily="2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7D40AD9-DC11-1A16-3298-785F8987F6BE}"/>
              </a:ext>
            </a:extLst>
          </p:cNvPr>
          <p:cNvGrpSpPr/>
          <p:nvPr/>
        </p:nvGrpSpPr>
        <p:grpSpPr>
          <a:xfrm>
            <a:off x="4513191" y="5065775"/>
            <a:ext cx="6900977" cy="1030530"/>
            <a:chOff x="4548226" y="5106172"/>
            <a:chExt cx="6900977" cy="1030530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4"/>
            <a:srcRect t="-13" b="-13"/>
            <a:stretch/>
          </p:blipFill>
          <p:spPr>
            <a:xfrm>
              <a:off x="4548226" y="5333695"/>
              <a:ext cx="428854" cy="381305"/>
            </a:xfrm>
            <a:prstGeom prst="rect">
              <a:avLst/>
            </a:prstGeom>
          </p:spPr>
        </p:pic>
        <p:sp>
          <p:nvSpPr>
            <p:cNvPr id="22" name="Text 17"/>
            <p:cNvSpPr txBox="1"/>
            <p:nvPr/>
          </p:nvSpPr>
          <p:spPr>
            <a:xfrm>
              <a:off x="5238598" y="5106172"/>
              <a:ext cx="6210605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Прогноз суммы продления на 3 года </a:t>
              </a:r>
              <a:r>
                <a:rPr lang="en-US" sz="1000" b="1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(2027–2030)</a:t>
              </a:r>
              <a:endParaRPr lang="en-US" sz="1200" dirty="0">
                <a:latin typeface="Montserrat" pitchFamily="2" charset="0"/>
              </a:endParaRPr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5238598" y="5352898"/>
              <a:ext cx="4589794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ru-RU" sz="3100" b="1" dirty="0"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614</a:t>
              </a:r>
              <a:r>
                <a:rPr lang="en-US" sz="3100" b="1" dirty="0"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 млн ₸</a:t>
              </a:r>
              <a:endParaRPr lang="en-US" sz="3100" dirty="0">
                <a:latin typeface="Montserrat" pitchFamily="2" charset="0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5238597" y="5791972"/>
              <a:ext cx="4436043" cy="3447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*при сохранении текущей </a:t>
              </a:r>
              <a:r>
                <a:rPr lang="en-US" sz="900" i="1" dirty="0" err="1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модели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лицензирования</a:t>
              </a:r>
              <a: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стоимость 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PROFESSIONAL  – 415;</a:t>
              </a:r>
              <a: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ANALYZER -  235;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25" name="Text 20"/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9639605" y="6476695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F08F737-7D28-F23C-EDC2-B9BEF9B3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3018101908"/>
              </p:ext>
            </p:extLst>
          </p:nvPr>
        </p:nvGraphicFramePr>
        <p:xfrm>
          <a:off x="4381805" y="2058608"/>
          <a:ext cx="7163751" cy="2832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468D78-E570-C44F-942D-4D019AFB2785}"/>
              </a:ext>
            </a:extLst>
          </p:cNvPr>
          <p:cNvSpPr txBox="1"/>
          <p:nvPr/>
        </p:nvSpPr>
        <p:spPr>
          <a:xfrm>
            <a:off x="5903842" y="340856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0B637-91B7-FE40-B028-FE21DE7ABAAB}"/>
              </a:ext>
            </a:extLst>
          </p:cNvPr>
          <p:cNvSpPr txBox="1"/>
          <p:nvPr/>
        </p:nvSpPr>
        <p:spPr>
          <a:xfrm>
            <a:off x="7143445" y="3091282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+109%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8A086B-A5CE-624A-AADC-AED85904C9A2}"/>
              </a:ext>
            </a:extLst>
          </p:cNvPr>
          <p:cNvSpPr txBox="1"/>
          <p:nvPr/>
        </p:nvSpPr>
        <p:spPr>
          <a:xfrm>
            <a:off x="8509550" y="2533896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+32%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6D9C7D-7459-5B4B-906C-6AB40BD60398}"/>
              </a:ext>
            </a:extLst>
          </p:cNvPr>
          <p:cNvSpPr txBox="1"/>
          <p:nvPr/>
        </p:nvSpPr>
        <p:spPr>
          <a:xfrm>
            <a:off x="9812465" y="2028749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+31%</a:t>
            </a:r>
          </a:p>
        </p:txBody>
      </p:sp>
      <p:sp>
        <p:nvSpPr>
          <p:cNvPr id="32" name="annot_2021">
            <a:extLst>
              <a:ext uri="{FF2B5EF4-FFF2-40B4-BE49-F238E27FC236}">
                <a16:creationId xmlns:a16="http://schemas.microsoft.com/office/drawing/2014/main" id="{BFDF3963-C962-064D-8498-CD776E2A52B9}"/>
              </a:ext>
            </a:extLst>
          </p:cNvPr>
          <p:cNvSpPr txBox="1"/>
          <p:nvPr/>
        </p:nvSpPr>
        <p:spPr>
          <a:xfrm>
            <a:off x="4635500" y="34036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endParaRPr lang="ru-KZ"/>
          </a:p>
        </p:txBody>
      </p:sp>
      <p:sp>
        <p:nvSpPr>
          <p:cNvPr id="33" name="annot_2024_b">
            <a:extLst>
              <a:ext uri="{FF2B5EF4-FFF2-40B4-BE49-F238E27FC236}">
                <a16:creationId xmlns:a16="http://schemas.microsoft.com/office/drawing/2014/main" id="{72652F32-4F9F-A64A-9538-ABC46913322C}"/>
              </a:ext>
            </a:extLst>
          </p:cNvPr>
          <p:cNvSpPr txBox="1"/>
          <p:nvPr/>
        </p:nvSpPr>
        <p:spPr>
          <a:xfrm>
            <a:off x="7493000" y="34036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endParaRPr lang="ru-KZ"/>
          </a:p>
        </p:txBody>
      </p:sp>
      <p:sp>
        <p:nvSpPr>
          <p:cNvPr id="34" name="plan_2026">
            <a:extLst>
              <a:ext uri="{FF2B5EF4-FFF2-40B4-BE49-F238E27FC236}">
                <a16:creationId xmlns:a16="http://schemas.microsoft.com/office/drawing/2014/main" id="{991AA520-04DE-DB47-9A26-27855DFF127B}"/>
              </a:ext>
            </a:extLst>
          </p:cNvPr>
          <p:cNvSpPr txBox="1"/>
          <p:nvPr/>
        </p:nvSpPr>
        <p:spPr>
          <a:xfrm>
            <a:off x="8509000" y="2768600"/>
            <a:ext cx="762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endParaRPr lang="ru-KZ"/>
          </a:p>
        </p:txBody>
      </p:sp>
      <p:sp>
        <p:nvSpPr>
          <p:cNvPr id="35" name="plan_2027">
            <a:extLst>
              <a:ext uri="{FF2B5EF4-FFF2-40B4-BE49-F238E27FC236}">
                <a16:creationId xmlns:a16="http://schemas.microsoft.com/office/drawing/2014/main" id="{21B2F760-6789-6547-B308-89C47D0178C2}"/>
              </a:ext>
            </a:extLst>
          </p:cNvPr>
          <p:cNvSpPr txBox="1"/>
          <p:nvPr/>
        </p:nvSpPr>
        <p:spPr>
          <a:xfrm>
            <a:off x="9817100" y="2260600"/>
            <a:ext cx="762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endParaRPr lang="ru-KZ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48AB06-2E5E-B3B4-086B-5BC261B108E5}"/>
              </a:ext>
            </a:extLst>
          </p:cNvPr>
          <p:cNvSpPr txBox="1"/>
          <p:nvPr/>
        </p:nvSpPr>
        <p:spPr>
          <a:xfrm>
            <a:off x="5298418" y="3383377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200" b="1" dirty="0">
                <a:solidFill>
                  <a:srgbClr val="7030A0"/>
                </a:solidFill>
                <a:latin typeface="Montserrat"/>
              </a:rPr>
              <a:t>110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FBDEA3-BEDF-A02A-9344-95E0BD6974CE}"/>
              </a:ext>
            </a:extLst>
          </p:cNvPr>
          <p:cNvSpPr txBox="1"/>
          <p:nvPr/>
        </p:nvSpPr>
        <p:spPr>
          <a:xfrm>
            <a:off x="6643587" y="327869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200" b="1" dirty="0">
                <a:solidFill>
                  <a:srgbClr val="7030A0"/>
                </a:solidFill>
                <a:latin typeface="Montserrat"/>
              </a:rPr>
              <a:t>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D2698F-AA1A-E093-77D5-A39046312452}"/>
              </a:ext>
            </a:extLst>
          </p:cNvPr>
          <p:cNvSpPr txBox="1"/>
          <p:nvPr/>
        </p:nvSpPr>
        <p:spPr>
          <a:xfrm>
            <a:off x="7881804" y="2647304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200" b="1" dirty="0">
                <a:solidFill>
                  <a:srgbClr val="7030A0"/>
                </a:solidFill>
                <a:latin typeface="Montserrat"/>
              </a:rPr>
              <a:t>484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5BCAEE-DD0F-750F-B464-C4D0F80F524E}"/>
              </a:ext>
            </a:extLst>
          </p:cNvPr>
          <p:cNvSpPr txBox="1"/>
          <p:nvPr/>
        </p:nvSpPr>
        <p:spPr>
          <a:xfrm>
            <a:off x="9305117" y="2308075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200" b="1" dirty="0">
                <a:solidFill>
                  <a:srgbClr val="7030A0"/>
                </a:solidFill>
                <a:latin typeface="Montserrat"/>
              </a:rPr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915D76-3F3A-161C-72EE-FD61D22F5869}"/>
              </a:ext>
            </a:extLst>
          </p:cNvPr>
          <p:cNvSpPr txBox="1"/>
          <p:nvPr/>
        </p:nvSpPr>
        <p:spPr>
          <a:xfrm>
            <a:off x="10536670" y="1827286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200" b="1" dirty="0">
                <a:solidFill>
                  <a:srgbClr val="7030A0"/>
                </a:solidFill>
                <a:latin typeface="Montserrat"/>
              </a:rPr>
              <a:t>614</a:t>
            </a:r>
          </a:p>
        </p:txBody>
      </p:sp>
    </p:spTree>
    <p:extLst>
      <p:ext uri="{BB962C8B-B14F-4D97-AF65-F5344CB8AC3E}">
        <p14:creationId xmlns:p14="http://schemas.microsoft.com/office/powerpoint/2010/main" val="904046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571500" y="381305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524305"/>
            <a:ext cx="5352898" cy="3448202"/>
          </a:xfrm>
          <a:prstGeom prst="roundRect">
            <a:avLst>
              <a:gd name="adj" fmla="val 71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6500" y="1524305"/>
            <a:ext cx="5352898" cy="3448202"/>
          </a:xfrm>
          <a:prstGeom prst="roundRect">
            <a:avLst>
              <a:gd name="adj" fmla="val 87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5477256"/>
            <a:ext cx="3590849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15054" y="5477256"/>
            <a:ext cx="3590849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15054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58607" y="5477256"/>
            <a:ext cx="3600907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58607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rcRect/>
          <a:stretch/>
        </p:blipFill>
        <p:spPr>
          <a:xfrm>
            <a:off x="4356661" y="3458719"/>
            <a:ext cx="1394459" cy="1394459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10107776" y="3458719"/>
            <a:ext cx="1433780" cy="143378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857707" y="2523744"/>
            <a:ext cx="4762195" cy="9144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572707" y="2523744"/>
            <a:ext cx="4762195" cy="914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504" b="-504"/>
          <a:stretch/>
        </p:blipFill>
        <p:spPr>
          <a:xfrm>
            <a:off x="571500" y="5191049"/>
            <a:ext cx="28346" cy="1527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71500" y="555955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Альтернативное лицензирование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571500" y="1004011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Capacity</a:t>
            </a:r>
            <a:r>
              <a:rPr lang="ru-RU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ru-RU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QAP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Montserrat" pitchFamily="2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1824228"/>
            <a:ext cx="190195" cy="1901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90549" y="1809598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Capacity Licensing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857707" y="2124151"/>
            <a:ext cx="2774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за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(50,000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минут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)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месяц</a:t>
            </a:r>
            <a:endParaRPr lang="en-US" sz="900" dirty="0">
              <a:solidFill>
                <a:srgbClr val="888888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3459175" y="1785823"/>
            <a:ext cx="216072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62</a:t>
            </a:r>
            <a:r>
              <a:rPr lang="en-US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ru-RU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315</a:t>
            </a:r>
            <a:r>
              <a:rPr lang="en-US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€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3539642" y="2190902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≈ </a:t>
            </a:r>
            <a:r>
              <a:rPr lang="ru-RU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34</a:t>
            </a: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млн 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162202" y="2999232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Неограниченное кол-во пользователей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1162202" y="3317443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Отлично подходит для SSBI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1162202" y="3635654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встраивать в платформы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1162202" y="3953866"/>
            <a:ext cx="4534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 минут обновляется каждый месяц — неиспользованные минуты не переносятся</a:t>
            </a:r>
            <a:endParaRPr lang="en-US" sz="1100" dirty="0">
              <a:latin typeface="Montserrat" pitchFamily="2" charset="0"/>
            </a:endParaRPr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857707" y="3056839"/>
            <a:ext cx="190195" cy="152705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5995" y="3375050"/>
            <a:ext cx="152705" cy="152705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895198" y="3692347"/>
            <a:ext cx="114300" cy="15270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86054" y="4010558"/>
            <a:ext cx="133502" cy="152705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72707" y="1824228"/>
            <a:ext cx="190195" cy="19019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905549" y="1861718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QAP (Analytics Platform)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6572707" y="2124151"/>
            <a:ext cx="2774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лицензии в год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9174175" y="1785823"/>
            <a:ext cx="216072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kern="0" spc="-75" dirty="0">
                <a:solidFill>
                  <a:srgbClr val="00B9CC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70,000 €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7" name="Text 23"/>
          <p:cNvSpPr txBox="1"/>
          <p:nvPr/>
        </p:nvSpPr>
        <p:spPr>
          <a:xfrm>
            <a:off x="9254642" y="2190902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≈ 40 млн 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8" name="Text 24"/>
          <p:cNvSpPr txBox="1"/>
          <p:nvPr/>
        </p:nvSpPr>
        <p:spPr>
          <a:xfrm>
            <a:off x="6877202" y="3040380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Дает доступ к пользователям из внешних ресурсов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9" name="Text 25"/>
          <p:cNvSpPr txBox="1"/>
          <p:nvPr/>
        </p:nvSpPr>
        <p:spPr>
          <a:xfrm>
            <a:off x="6877202" y="3358591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Неограниченное кол-во пользователей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0" name="Text 26"/>
          <p:cNvSpPr txBox="1"/>
          <p:nvPr/>
        </p:nvSpPr>
        <p:spPr>
          <a:xfrm>
            <a:off x="6877202" y="3676802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встраивать в платформы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1" name="Text 27"/>
          <p:cNvSpPr txBox="1"/>
          <p:nvPr/>
        </p:nvSpPr>
        <p:spPr>
          <a:xfrm>
            <a:off x="6572707" y="4529213"/>
            <a:ext cx="47621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i="1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* </a:t>
            </a:r>
            <a:r>
              <a:rPr lang="en-US" sz="900" i="1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 для внешних пользователей. Не применим для внутренних сотрудников банка.</a:t>
            </a:r>
            <a:endParaRPr lang="en-US" sz="900" i="1" dirty="0">
              <a:solidFill>
                <a:schemeClr val="bg1">
                  <a:lumMod val="75000"/>
                </a:schemeClr>
              </a:solidFill>
              <a:latin typeface="Montserrat" pitchFamily="2" charset="0"/>
            </a:endParaRPr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90995" y="3097987"/>
            <a:ext cx="152705" cy="152705"/>
          </a:xfrm>
          <a:prstGeom prst="rect">
            <a:avLst/>
          </a:prstGeom>
        </p:spPr>
      </p:pic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6572707" y="3415284"/>
            <a:ext cx="190195" cy="152705"/>
          </a:xfrm>
          <a:prstGeom prst="rect">
            <a:avLst/>
          </a:prstGeom>
        </p:spPr>
      </p:pic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6"/>
          <a:srcRect t="-100" b="-100"/>
          <a:stretch/>
        </p:blipFill>
        <p:spPr>
          <a:xfrm>
            <a:off x="6610198" y="3733495"/>
            <a:ext cx="114300" cy="152705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14146" y="5176418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Результаты пилота Capacity (март 2026)</a:t>
            </a:r>
            <a:endParaRPr lang="en-US" sz="1200" dirty="0">
              <a:latin typeface="Montserrat" pitchFamily="2" charset="0"/>
            </a:endParaRPr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695" y="5682082"/>
            <a:ext cx="190195" cy="19019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1095451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пакета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8" name="Text 30"/>
          <p:cNvSpPr txBox="1"/>
          <p:nvPr/>
        </p:nvSpPr>
        <p:spPr>
          <a:xfrm>
            <a:off x="1095451" y="5877763"/>
            <a:ext cx="3086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62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315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€/год за 50,000 минут (≈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34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млн ₸)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505249" y="5682082"/>
            <a:ext cx="237744" cy="190195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4839005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Потребление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1" name="Text 32"/>
          <p:cNvSpPr txBox="1"/>
          <p:nvPr/>
        </p:nvSpPr>
        <p:spPr>
          <a:xfrm>
            <a:off x="4839005" y="5877763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19 пользователей: ~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285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мин/день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248802" y="5682082"/>
            <a:ext cx="142646" cy="190195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8581644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Итоговый объем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4" name="Text 34"/>
          <p:cNvSpPr txBox="1"/>
          <p:nvPr/>
        </p:nvSpPr>
        <p:spPr>
          <a:xfrm>
            <a:off x="8581644" y="5877763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6000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мин/мес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5" name="Text 35"/>
          <p:cNvSpPr txBox="1"/>
          <p:nvPr/>
        </p:nvSpPr>
        <p:spPr>
          <a:xfrm>
            <a:off x="571500" y="6491326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6" name="Text 36"/>
          <p:cNvSpPr txBox="1"/>
          <p:nvPr/>
        </p:nvSpPr>
        <p:spPr>
          <a:xfrm>
            <a:off x="9441180" y="6486754"/>
            <a:ext cx="2179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845">
                    <a:alpha val="80000"/>
                  </a:srgb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1000" dirty="0">
              <a:latin typeface="Montserrat" pitchFamily="2" charset="0"/>
            </a:endParaRPr>
          </a:p>
        </p:txBody>
      </p:sp>
      <p:pic>
        <p:nvPicPr>
          <p:cNvPr id="5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F539336E-BC33-AC23-D214-46E8C2004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50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3">
            <a:extLst>
              <a:ext uri="{FF2B5EF4-FFF2-40B4-BE49-F238E27FC236}">
                <a16:creationId xmlns:a16="http://schemas.microsoft.com/office/drawing/2014/main" id="{0D8DBF5B-0EC5-3CD6-A655-DDC93A436210}"/>
              </a:ext>
            </a:extLst>
          </p:cNvPr>
          <p:cNvSpPr/>
          <p:nvPr/>
        </p:nvSpPr>
        <p:spPr>
          <a:xfrm>
            <a:off x="6153455" y="1542593"/>
            <a:ext cx="5697914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B9D6916B-A8A6-C2FB-BC0C-59446A8A1299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286207"/>
            <a:ext cx="5715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428854"/>
            <a:ext cx="1173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 затрат за счёт частичного перехода на Capacity Licensing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905256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Оптимизация лицензий Qlik Sense для снижения операционных расходов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47649" y="1676095"/>
            <a:ext cx="381305" cy="381305"/>
          </a:xfrm>
          <a:prstGeom prst="ellipse">
            <a:avLst/>
          </a:prstGeom>
          <a:solidFill>
            <a:srgbClr val="00984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929030" y="1781251"/>
            <a:ext cx="219456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43254" y="1695298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Текущая ситуация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343254" y="1876349"/>
            <a:ext cx="20647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использования лицензий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82726" y="2295144"/>
            <a:ext cx="1759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566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14730" y="2686507"/>
            <a:ext cx="16943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активных</a:t>
            </a:r>
            <a:endParaRPr lang="en-US" sz="8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пользователей</a:t>
            </a:r>
            <a:endParaRPr lang="en-US" sz="800" dirty="0">
              <a:latin typeface="Montserrat" pitchFamily="2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D788ED5-DF34-0FA5-D306-FE767DCCFDEA}"/>
              </a:ext>
            </a:extLst>
          </p:cNvPr>
          <p:cNvGrpSpPr/>
          <p:nvPr/>
        </p:nvGrpSpPr>
        <p:grpSpPr>
          <a:xfrm>
            <a:off x="3700238" y="2295144"/>
            <a:ext cx="1759306" cy="677570"/>
            <a:chOff x="4059022" y="2295144"/>
            <a:chExt cx="1759306" cy="677570"/>
          </a:xfrm>
        </p:grpSpPr>
        <p:sp>
          <p:nvSpPr>
            <p:cNvPr id="16" name="Text 12"/>
            <p:cNvSpPr txBox="1"/>
            <p:nvPr/>
          </p:nvSpPr>
          <p:spPr>
            <a:xfrm>
              <a:off x="4059022" y="2295144"/>
              <a:ext cx="1759306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2700" b="1" dirty="0">
                  <a:solidFill>
                    <a:schemeClr val="accent2"/>
                  </a:solidFill>
                  <a:latin typeface="Montserrat" pitchFamily="2" charset="0"/>
                </a:rPr>
                <a:t>227</a:t>
              </a:r>
              <a:endParaRPr lang="en-US" sz="2700" dirty="0">
                <a:solidFill>
                  <a:schemeClr val="accent2"/>
                </a:solidFill>
                <a:latin typeface="Montserrat" pitchFamily="2" charset="0"/>
              </a:endParaRPr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4091940" y="2686507"/>
              <a:ext cx="1694383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 низкой</a:t>
              </a:r>
              <a:endParaRPr lang="en-US" sz="800" dirty="0">
                <a:latin typeface="Montserrat" pitchFamily="2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интенсивностью</a:t>
              </a:r>
              <a:endParaRPr lang="en-US" sz="800" dirty="0">
                <a:latin typeface="Montserrat" pitchFamily="2" charset="0"/>
              </a:endParaRPr>
            </a:p>
          </p:txBody>
        </p:sp>
      </p:grpSp>
      <p:sp>
        <p:nvSpPr>
          <p:cNvPr id="18" name="Shape 14"/>
          <p:cNvSpPr/>
          <p:nvPr/>
        </p:nvSpPr>
        <p:spPr>
          <a:xfrm>
            <a:off x="847649" y="3219602"/>
            <a:ext cx="490575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009498" y="3323844"/>
            <a:ext cx="4819802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Среднее потребление: </a:t>
            </a:r>
            <a:r>
              <a:rPr lang="ru-RU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15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мин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/</a:t>
            </a:r>
            <a:r>
              <a:rPr lang="ru-RU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день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3346704"/>
            <a:ext cx="105156" cy="1051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97727" y="1740373"/>
            <a:ext cx="381305" cy="3813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592825" y="1845529"/>
            <a:ext cx="190195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93332" y="1759576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6993331" y="1940627"/>
            <a:ext cx="2206447" cy="17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Финансовый эффект перехода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6497727" y="2311873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Текущая стоимость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497727" y="2473722"/>
            <a:ext cx="147218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58 </a:t>
            </a:r>
            <a:r>
              <a:rPr lang="en-US" sz="1800" b="1" dirty="0" err="1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</a:t>
            </a:r>
            <a:r>
              <a:rPr lang="en-US" sz="1800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₸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6497726" y="2769072"/>
            <a:ext cx="202327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227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обычных лицензий × 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464 евро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9047074" y="2514870"/>
            <a:ext cx="152705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31222" y="2311873"/>
            <a:ext cx="117317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Capacity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0128738" y="2473722"/>
            <a:ext cx="12756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34</a:t>
            </a:r>
            <a:r>
              <a:rPr lang="en-US" sz="18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9639606" y="2782928"/>
            <a:ext cx="1764792" cy="1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0,000 мин/</a:t>
            </a:r>
            <a:r>
              <a:rPr lang="en-US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мес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= 62.5 </a:t>
            </a:r>
            <a:r>
              <a:rPr lang="ru-RU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тыс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евро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6497726" y="3215030"/>
            <a:ext cx="4905756" cy="91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497727" y="3303083"/>
            <a:ext cx="28181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</a:t>
            </a:r>
            <a:r>
              <a:rPr lang="ru-RU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 млн ₸/год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9730131" y="3346060"/>
            <a:ext cx="189097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Покрытие </a:t>
            </a:r>
            <a:r>
              <a:rPr lang="en-US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230 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пользователей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847649" y="3840236"/>
            <a:ext cx="381305" cy="381305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2805" y="3944477"/>
            <a:ext cx="171907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43254" y="3859438"/>
            <a:ext cx="23280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Мониторинг и управление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1343254" y="4039575"/>
            <a:ext cx="23280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Контроль потребления ресурсов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373331"/>
            <a:ext cx="85954" cy="9509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09498" y="4334926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Контроль потребления минут через License Monitor в реальном времени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580900"/>
            <a:ext cx="85954" cy="9509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009498" y="4542495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Установка лимитов минут на пользователя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788469"/>
            <a:ext cx="85954" cy="9509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09498" y="4750064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Оповещения при приближении к лимиту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996037"/>
            <a:ext cx="85954" cy="95098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009498" y="4957633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Автоматическое управление доступом при превышении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Text 34"/>
          <p:cNvSpPr txBox="1"/>
          <p:nvPr/>
        </p:nvSpPr>
        <p:spPr>
          <a:xfrm>
            <a:off x="1019556" y="5468782"/>
            <a:ext cx="48481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 минут обновляется каждый месяц 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7649" y="5492557"/>
            <a:ext cx="114300" cy="11430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6497727" y="3836607"/>
            <a:ext cx="381305" cy="381305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02883" y="3940848"/>
            <a:ext cx="171907" cy="171907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6993332" y="3855809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Следующие шаги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6993332" y="4035946"/>
            <a:ext cx="19229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 реализации оптимизации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3"/>
          <a:srcRect l="-8400" r="-8400"/>
          <a:stretch/>
        </p:blipFill>
        <p:spPr>
          <a:xfrm>
            <a:off x="6497727" y="4451084"/>
            <a:ext cx="133502" cy="114300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6726327" y="4431881"/>
            <a:ext cx="21378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Проведение пилота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— 2–3 месяца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4"/>
          <a:srcRect l="-27867" r="-27867"/>
          <a:stretch/>
        </p:blipFill>
        <p:spPr>
          <a:xfrm>
            <a:off x="6497727" y="4755579"/>
            <a:ext cx="133502" cy="11430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6726327" y="4736376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Анкетирование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пользователей перед выдачей лицензий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5"/>
          <a:srcRect l="-8400" r="-8400"/>
          <a:stretch/>
        </p:blipFill>
        <p:spPr>
          <a:xfrm>
            <a:off x="6497727" y="5060074"/>
            <a:ext cx="133502" cy="1143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6726326" y="5040872"/>
            <a:ext cx="2589581" cy="17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Фиксация паттернов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потребления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6"/>
          <a:srcRect l="-27867" r="-27867"/>
          <a:stretch/>
        </p:blipFill>
        <p:spPr>
          <a:xfrm>
            <a:off x="6497727" y="5365484"/>
            <a:ext cx="133502" cy="11430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726327" y="5346281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Расчёт оптимального объёма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закупа по итогам пилота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1" name="Text 42"/>
          <p:cNvSpPr txBox="1"/>
          <p:nvPr/>
        </p:nvSpPr>
        <p:spPr>
          <a:xfrm>
            <a:off x="571500" y="6381598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2" name="Text 43"/>
          <p:cNvSpPr txBox="1"/>
          <p:nvPr/>
        </p:nvSpPr>
        <p:spPr>
          <a:xfrm>
            <a:off x="9639605" y="6381598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FlowBG"/>
          <p:cNvSpPr/>
          <p:nvPr/>
        </p:nvSpPr>
        <p:spPr>
          <a:xfrm>
            <a:off x="589934" y="3429000"/>
            <a:ext cx="4775200" cy="2349500"/>
          </a:xfrm>
          <a:prstGeom prst="roundRect">
            <a:avLst>
              <a:gd name="adj" fmla="val 8000"/>
            </a:avLst>
          </a:prstGeom>
          <a:solidFill>
            <a:srgbClr val="F8FAF8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endParaRPr lang="en-US" sz="2000" dirty="0"/>
          </a:p>
        </p:txBody>
      </p:sp>
      <p:pic>
        <p:nvPicPr>
          <p:cNvPr id="2" name="Copied Picture 2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286207"/>
            <a:ext cx="571500" cy="38405"/>
          </a:xfrm>
          <a:prstGeom prst="rect">
            <a:avLst/>
          </a:prstGeom>
        </p:spPr>
      </p:pic>
      <p:pic>
        <p:nvPicPr>
          <p:cNvPr id="3" name="Copied Picture 3" descr="JSC Halyk Bank logo in transparent PNG and vectorized SVG formats">
            <a:extLst>
              <a:ext uri="{FF2B5EF4-FFF2-40B4-BE49-F238E27FC236}">
                <a16:creationId xmlns:a16="http://schemas.microsoft.com/office/drawing/2014/main" id="{314D2C80-5F14-2C5D-AE7F-9DE47067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"/>
          <p:cNvSpPr/>
          <p:nvPr/>
        </p:nvSpPr>
        <p:spPr>
          <a:xfrm>
            <a:off x="571500" y="5207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</a:rPr>
              <a:t>Self-Service BI: конструктор отчётов</a:t>
            </a:r>
          </a:p>
        </p:txBody>
      </p:sp>
      <p:sp>
        <p:nvSpPr>
          <p:cNvPr id="11" name="Subtitle"/>
          <p:cNvSpPr/>
          <p:nvPr/>
        </p:nvSpPr>
        <p:spPr>
          <a:xfrm>
            <a:off x="571500" y="1003300"/>
            <a:ext cx="10591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</a:rPr>
              <a:t>Текущий статус и планы развития платформы самостоятельной аналитики на базе Qlik Sense</a:t>
            </a:r>
          </a:p>
        </p:txBody>
      </p:sp>
      <p:sp>
        <p:nvSpPr>
          <p:cNvPr id="106" name="Divider"/>
          <p:cNvSpPr/>
          <p:nvPr/>
        </p:nvSpPr>
        <p:spPr>
          <a:xfrm>
            <a:off x="5842000" y="1460500"/>
            <a:ext cx="12700" cy="476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3" name="NowHeader"/>
          <p:cNvSpPr/>
          <p:nvPr/>
        </p:nvSpPr>
        <p:spPr>
          <a:xfrm>
            <a:off x="6159500" y="14605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9845"/>
                </a:solidFill>
                <a:latin typeface="Montserrat" pitchFamily="2" charset="0"/>
              </a:rPr>
              <a:t>ПОДКЛЮЧЁННЫЕ ИНФОРМАЦИОННЫЕ СИСТЕМЫ</a:t>
            </a:r>
          </a:p>
        </p:txBody>
      </p:sp>
      <p:sp>
        <p:nvSpPr>
          <p:cNvPr id="14" name="NowList"/>
          <p:cNvSpPr/>
          <p:nvPr/>
        </p:nvSpPr>
        <p:spPr>
          <a:xfrm>
            <a:off x="6159500" y="1778000"/>
            <a:ext cx="5461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buFont typeface="Wingdings"/>
              <a:buChar char="ü"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</a:rPr>
              <a:t>Кредиты</a:t>
            </a:r>
          </a:p>
          <a:p>
            <a:pPr marL="228600" indent="-228600" algn="l">
              <a:buFont typeface="Wingdings"/>
              <a:buChar char="ü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Депозиты 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Wingdings"/>
              <a:buChar char="ü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Залоги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algn="l"/>
            <a:endParaRPr lang="en-US" sz="1200" dirty="0">
              <a:solidFill>
                <a:srgbClr val="999999"/>
              </a:solidFill>
              <a:latin typeface="Montserrat" pitchFamily="2" charset="0"/>
            </a:endParaRPr>
          </a:p>
        </p:txBody>
      </p:sp>
      <p:sp>
        <p:nvSpPr>
          <p:cNvPr id="107" name="HorzSep"/>
          <p:cNvSpPr/>
          <p:nvPr/>
        </p:nvSpPr>
        <p:spPr>
          <a:xfrm>
            <a:off x="6159500" y="3048000"/>
            <a:ext cx="5461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5" name="PlanHeader"/>
          <p:cNvSpPr/>
          <p:nvPr/>
        </p:nvSpPr>
        <p:spPr>
          <a:xfrm>
            <a:off x="6159500" y="32385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  <a:latin typeface="Montserrat" pitchFamily="2" charset="0"/>
              </a:rPr>
              <a:t>ПЛАНЫ РАСШИРЕНИЯ</a:t>
            </a:r>
          </a:p>
        </p:txBody>
      </p:sp>
      <p:sp>
        <p:nvSpPr>
          <p:cNvPr id="16" name="PlanDesc"/>
          <p:cNvSpPr/>
          <p:nvPr/>
        </p:nvSpPr>
        <p:spPr>
          <a:xfrm>
            <a:off x="6159500" y="35306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2" charset="0"/>
              </a:rPr>
              <a:t>Покрытие всех ключевых информационных систем банка:</a:t>
            </a:r>
          </a:p>
        </p:txBody>
      </p:sp>
      <p:sp>
        <p:nvSpPr>
          <p:cNvPr id="17" name="PlanList"/>
          <p:cNvSpPr/>
          <p:nvPr/>
        </p:nvSpPr>
        <p:spPr>
          <a:xfrm>
            <a:off x="6159500" y="4038600"/>
            <a:ext cx="5461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Кредитные карточки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Кредитные линии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Arial"/>
              <a:buChar char="○"/>
            </a:pPr>
            <a:r>
              <a:rPr lang="en-US" sz="1200" dirty="0" err="1">
                <a:solidFill>
                  <a:srgbClr val="444444"/>
                </a:solidFill>
                <a:latin typeface="Montserrat" pitchFamily="2" charset="0"/>
              </a:rPr>
              <a:t>Текущие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</a:rPr>
              <a:t> счета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Торговые операции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Казначейские операции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Транзакции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</p:txBody>
      </p:sp>
      <p:sp>
        <p:nvSpPr>
          <p:cNvPr id="18" name="Note"/>
          <p:cNvSpPr/>
          <p:nvPr/>
        </p:nvSpPr>
        <p:spPr>
          <a:xfrm>
            <a:off x="6159500" y="58166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</a:rPr>
              <a:t>*Цель — предоставить бизнес-пользователям инструмент для самостоятельного построения отчётов без участия BI-команды</a:t>
            </a:r>
          </a:p>
        </p:txBody>
      </p:sp>
      <p:sp>
        <p:nvSpPr>
          <p:cNvPr id="20" name="FooterRight"/>
          <p:cNvSpPr/>
          <p:nvPr/>
        </p:nvSpPr>
        <p:spPr>
          <a:xfrm>
            <a:off x="9639300" y="6540500"/>
            <a:ext cx="198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</a:rPr>
              <a:t>Qlik Sense Review</a:t>
            </a:r>
          </a:p>
        </p:txBody>
      </p:sp>
      <p:sp>
        <p:nvSpPr>
          <p:cNvPr id="300" name="FlowTitle"/>
          <p:cNvSpPr/>
          <p:nvPr/>
        </p:nvSpPr>
        <p:spPr>
          <a:xfrm>
            <a:off x="678834" y="3227614"/>
            <a:ext cx="1206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-37" dirty="0">
                <a:solidFill>
                  <a:srgbClr val="000000"/>
                </a:solidFill>
                <a:latin typeface="Montserrat" pitchFamily="2" charset="0"/>
              </a:rPr>
              <a:t>SELF-SERVICE BI</a:t>
            </a:r>
            <a:endParaRPr lang="en-US" sz="1100" b="1" dirty="0">
              <a:solidFill>
                <a:srgbClr val="333333"/>
              </a:solidFill>
              <a:latin typeface="Montserrat" pitchFamily="2" charset="0"/>
            </a:endParaRPr>
          </a:p>
        </p:txBody>
      </p:sp>
      <p:sp>
        <p:nvSpPr>
          <p:cNvPr id="310" name="Label1"/>
          <p:cNvSpPr/>
          <p:nvPr/>
        </p:nvSpPr>
        <p:spPr>
          <a:xfrm>
            <a:off x="678834" y="4762500"/>
            <a:ext cx="107442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Пользователь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бизнес-аналитик</a:t>
            </a:r>
          </a:p>
        </p:txBody>
      </p:sp>
      <p:sp>
        <p:nvSpPr>
          <p:cNvPr id="311" name="Label2"/>
          <p:cNvSpPr/>
          <p:nvPr/>
        </p:nvSpPr>
        <p:spPr>
          <a:xfrm>
            <a:off x="2202834" y="4762500"/>
            <a:ext cx="1146048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Конструктор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drag &amp; drop</a:t>
            </a:r>
          </a:p>
        </p:txBody>
      </p:sp>
      <p:sp>
        <p:nvSpPr>
          <p:cNvPr id="312" name="Label3"/>
          <p:cNvSpPr/>
          <p:nvPr/>
        </p:nvSpPr>
        <p:spPr>
          <a:xfrm>
            <a:off x="3803034" y="4762500"/>
            <a:ext cx="107442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Готовый отчёт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без участия BI</a:t>
            </a:r>
          </a:p>
        </p:txBody>
      </p:sp>
      <p:sp>
        <p:nvSpPr>
          <p:cNvPr id="320" name="Arrow1"/>
          <p:cNvSpPr/>
          <p:nvPr/>
        </p:nvSpPr>
        <p:spPr>
          <a:xfrm>
            <a:off x="1694834" y="4318000"/>
            <a:ext cx="620776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ru-KZ" sz="2000"/>
          </a:p>
        </p:txBody>
      </p:sp>
      <p:sp>
        <p:nvSpPr>
          <p:cNvPr id="321" name="Arrow2"/>
          <p:cNvSpPr/>
          <p:nvPr/>
        </p:nvSpPr>
        <p:spPr>
          <a:xfrm>
            <a:off x="3256934" y="4318000"/>
            <a:ext cx="620776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ru-KZ" sz="200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7C1D73C-A257-359B-08EA-1BFD01FEC5CE}"/>
              </a:ext>
            </a:extLst>
          </p:cNvPr>
          <p:cNvGrpSpPr/>
          <p:nvPr/>
        </p:nvGrpSpPr>
        <p:grpSpPr>
          <a:xfrm>
            <a:off x="589934" y="1843052"/>
            <a:ext cx="4686300" cy="635000"/>
            <a:chOff x="664174" y="1674206"/>
            <a:chExt cx="4686300" cy="635000"/>
          </a:xfrm>
        </p:grpSpPr>
        <p:sp>
          <p:nvSpPr>
            <p:cNvPr id="330" name="KPIBox1"/>
            <p:cNvSpPr/>
            <p:nvPr/>
          </p:nvSpPr>
          <p:spPr>
            <a:xfrm>
              <a:off x="6641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43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пользователя</a:t>
              </a:r>
            </a:p>
          </p:txBody>
        </p:sp>
        <p:sp>
          <p:nvSpPr>
            <p:cNvPr id="331" name="KPIBox2"/>
            <p:cNvSpPr/>
            <p:nvPr/>
          </p:nvSpPr>
          <p:spPr>
            <a:xfrm>
              <a:off x="22770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113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сессий</a:t>
              </a:r>
            </a:p>
          </p:txBody>
        </p:sp>
        <p:sp>
          <p:nvSpPr>
            <p:cNvPr id="332" name="KPIBox3"/>
            <p:cNvSpPr/>
            <p:nvPr/>
          </p:nvSpPr>
          <p:spPr>
            <a:xfrm>
              <a:off x="38899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~1 ч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ср. сессия</a:t>
              </a:r>
            </a:p>
          </p:txBody>
        </p:sp>
      </p:grpSp>
      <p:sp>
        <p:nvSpPr>
          <p:cNvPr id="333" name="KPISubtitle"/>
          <p:cNvSpPr/>
          <p:nvPr/>
        </p:nvSpPr>
        <p:spPr>
          <a:xfrm>
            <a:off x="589934" y="1435220"/>
            <a:ext cx="469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009845"/>
                </a:solidFill>
                <a:latin typeface="Montserrat" pitchFamily="2" charset="0"/>
              </a:rPr>
              <a:t>СТАТИСТИКА ЗА ПОСЛЕДНИЕ 3 МЕСЯЦА</a:t>
            </a:r>
          </a:p>
        </p:txBody>
      </p:sp>
      <p:pic>
        <p:nvPicPr>
          <p:cNvPr id="334" name="Graphic 334" descr="Группа людей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4127500"/>
            <a:ext cx="508000" cy="508000"/>
          </a:xfrm>
          <a:prstGeom prst="rect">
            <a:avLst/>
          </a:prstGeom>
        </p:spPr>
      </p:pic>
      <p:pic>
        <p:nvPicPr>
          <p:cNvPr id="335" name="Graphic 335" descr="Шестерёнк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7300" y="4127500"/>
            <a:ext cx="508000" cy="508000"/>
          </a:xfrm>
          <a:prstGeom prst="rect">
            <a:avLst/>
          </a:prstGeom>
        </p:spPr>
      </p:pic>
      <p:pic>
        <p:nvPicPr>
          <p:cNvPr id="336" name="Graphic 336" descr="Графи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9400" y="41275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9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33195"/>
            <a:ext cx="4972507" cy="2115007"/>
          </a:xfrm>
          <a:prstGeom prst="roundRect">
            <a:avLst>
              <a:gd name="adj" fmla="val 3116"/>
            </a:avLst>
          </a:prstGeom>
          <a:solidFill>
            <a:srgbClr val="FFFFFF">
              <a:alpha val="0"/>
            </a:srgb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67805" y="1333195"/>
            <a:ext cx="4953305" cy="2115007"/>
          </a:xfrm>
          <a:prstGeom prst="roundRect">
            <a:avLst>
              <a:gd name="adj" fmla="val 3173"/>
            </a:avLst>
          </a:prstGeom>
          <a:solidFill>
            <a:srgbClr val="F0FAF5">
              <a:alpha val="798"/>
            </a:srgb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571500" y="4667098"/>
            <a:ext cx="2638044" cy="15435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3381451" y="4667098"/>
            <a:ext cx="2638044" cy="154350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6191402" y="4667098"/>
            <a:ext cx="2638044" cy="154350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22" b="-22"/>
          <a:stretch/>
        </p:blipFill>
        <p:spPr>
          <a:xfrm>
            <a:off x="9001354" y="4667098"/>
            <a:ext cx="2638044" cy="154350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/>
          <a:srcRect l="-390" r="-390"/>
          <a:stretch/>
        </p:blipFill>
        <p:spPr>
          <a:xfrm>
            <a:off x="9001354" y="4667098"/>
            <a:ext cx="38405" cy="152430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5928970" y="2133295"/>
            <a:ext cx="333756" cy="381305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571500" y="523951"/>
            <a:ext cx="11163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Стратегия оптимизации затрат на 2027-2030 год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6" name="Text 6"/>
          <p:cNvSpPr txBox="1"/>
          <p:nvPr/>
        </p:nvSpPr>
        <p:spPr>
          <a:xfrm>
            <a:off x="571500" y="952805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Сравнительный анализ сценариев и план реализации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7" name="Text 7"/>
          <p:cNvSpPr txBox="1"/>
          <p:nvPr/>
        </p:nvSpPr>
        <p:spPr>
          <a:xfrm>
            <a:off x="705002" y="1476756"/>
            <a:ext cx="4686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ТРАДИЦИОННЫЙ СЦЕНАРИЙ (2027–2030)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Text 8"/>
          <p:cNvSpPr txBox="1"/>
          <p:nvPr/>
        </p:nvSpPr>
        <p:spPr>
          <a:xfrm>
            <a:off x="666598" y="1714500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618 </a:t>
            </a:r>
            <a:r>
              <a:rPr lang="en-US" sz="24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 ₸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19" name="Text 9"/>
          <p:cNvSpPr txBox="1"/>
          <p:nvPr/>
        </p:nvSpPr>
        <p:spPr>
          <a:xfrm>
            <a:off x="705002" y="2619756"/>
            <a:ext cx="4686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Плановый бюджет на продление всех именных лицензий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524305" y="2915107"/>
            <a:ext cx="133502" cy="15270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809598" y="2885846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300 Professional </a:t>
            </a:r>
            <a:r>
              <a:rPr lang="en-US" sz="10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~66 млн ₸</a:t>
            </a:r>
            <a:endParaRPr lang="en-US" sz="1000" dirty="0">
              <a:latin typeface="Montserrat" pitchFamily="2" charset="0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524305" y="3152851"/>
            <a:ext cx="133502" cy="152705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809598" y="3124505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1062 Analyzer </a:t>
            </a:r>
            <a:r>
              <a:rPr lang="en-US" sz="10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~140 млн 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4" name="Text 12"/>
          <p:cNvSpPr txBox="1"/>
          <p:nvPr/>
        </p:nvSpPr>
        <p:spPr>
          <a:xfrm>
            <a:off x="5581498" y="2572207"/>
            <a:ext cx="10287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Оптимизация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5" name="Text 13"/>
          <p:cNvSpPr txBox="1"/>
          <p:nvPr/>
        </p:nvSpPr>
        <p:spPr>
          <a:xfrm>
            <a:off x="6801307" y="1476756"/>
            <a:ext cx="4686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ГИБРИДНЫЙ СЦЕНАРИЙ (2027–2030)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14"/>
          <p:cNvSpPr txBox="1"/>
          <p:nvPr/>
        </p:nvSpPr>
        <p:spPr>
          <a:xfrm>
            <a:off x="6762902" y="1714500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579 </a:t>
            </a:r>
            <a:r>
              <a:rPr lang="en-US" sz="2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 ₸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6801307" y="2619756"/>
            <a:ext cx="4686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 поэтапным переводом Analyzer на Capacity Licensing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6858000" y="2905049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300 Professional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6858000" y="3133649"/>
            <a:ext cx="2391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Analyzer (сокращ.)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~216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9235440" y="2905049"/>
            <a:ext cx="23170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Capacity (рост)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~144.8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9235440" y="3133649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Обучение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~6.6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714146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1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6" name="Text 24"/>
          <p:cNvSpPr txBox="1"/>
          <p:nvPr/>
        </p:nvSpPr>
        <p:spPr>
          <a:xfrm>
            <a:off x="714146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230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7" name="Text 25"/>
          <p:cNvSpPr txBox="1"/>
          <p:nvPr/>
        </p:nvSpPr>
        <p:spPr>
          <a:xfrm>
            <a:off x="714146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568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714146" y="5648249"/>
            <a:ext cx="2333549" cy="9144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14146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23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.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3524098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2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1" name="Text 28"/>
          <p:cNvSpPr txBox="1"/>
          <p:nvPr/>
        </p:nvSpPr>
        <p:spPr>
          <a:xfrm>
            <a:off x="3524098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80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Text 29"/>
          <p:cNvSpPr txBox="1"/>
          <p:nvPr/>
        </p:nvSpPr>
        <p:spPr>
          <a:xfrm>
            <a:off x="3524098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3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18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3524098" y="5648249"/>
            <a:ext cx="2333549" cy="9144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3524098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30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5" name="Text 31"/>
          <p:cNvSpPr txBox="1"/>
          <p:nvPr/>
        </p:nvSpPr>
        <p:spPr>
          <a:xfrm>
            <a:off x="6334049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3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6" name="Text 32"/>
          <p:cNvSpPr txBox="1"/>
          <p:nvPr/>
        </p:nvSpPr>
        <p:spPr>
          <a:xfrm>
            <a:off x="6334049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720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Text 33"/>
          <p:cNvSpPr txBox="1"/>
          <p:nvPr/>
        </p:nvSpPr>
        <p:spPr>
          <a:xfrm>
            <a:off x="6334049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120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6334049" y="5648249"/>
            <a:ext cx="2333549" cy="9144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334049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~99.3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0" name="Text 35"/>
          <p:cNvSpPr txBox="1"/>
          <p:nvPr/>
        </p:nvSpPr>
        <p:spPr>
          <a:xfrm>
            <a:off x="9144000" y="4809744"/>
            <a:ext cx="2410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Расходы на обучение и разработку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9144000" y="5266944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Обучение: ~6.6 млн ₸ за 3 года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9144000" y="5495544"/>
            <a:ext cx="24716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Разработка: ~2.25 млн ₸ (разово)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9144000" y="5781751"/>
            <a:ext cx="2333549" cy="914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9144000" y="5905195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Итого: ~6.6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514807" y="6334050"/>
            <a:ext cx="3863555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Предварительный расчёт — уточняется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итогам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пилота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6" name="Text 40"/>
          <p:cNvSpPr txBox="1"/>
          <p:nvPr/>
        </p:nvSpPr>
        <p:spPr>
          <a:xfrm>
            <a:off x="571500" y="657270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7" name="Text 41"/>
          <p:cNvSpPr txBox="1"/>
          <p:nvPr/>
        </p:nvSpPr>
        <p:spPr>
          <a:xfrm>
            <a:off x="9639605" y="6572707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4F59E461-4DDB-ECBE-7A19-C85AE1A4D518}"/>
              </a:ext>
            </a:extLst>
          </p:cNvPr>
          <p:cNvGrpSpPr/>
          <p:nvPr/>
        </p:nvGrpSpPr>
        <p:grpSpPr>
          <a:xfrm>
            <a:off x="584167" y="3938321"/>
            <a:ext cx="4209899" cy="521207"/>
            <a:chOff x="571499" y="3871569"/>
            <a:chExt cx="4209899" cy="521207"/>
          </a:xfrm>
        </p:grpSpPr>
        <p:sp>
          <p:nvSpPr>
            <p:cNvPr id="34" name="Text 22"/>
            <p:cNvSpPr txBox="1"/>
            <p:nvPr/>
          </p:nvSpPr>
          <p:spPr>
            <a:xfrm>
              <a:off x="571499" y="4228643"/>
              <a:ext cx="3503739" cy="164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888888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 учётом всех расходов на обучение и разработку</a:t>
              </a:r>
              <a:endParaRPr lang="en-US" sz="800" dirty="0">
                <a:latin typeface="Montserrat" pitchFamily="2" charset="0"/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33BA739F-8988-7882-DD24-0C8CFC6A51AE}"/>
                </a:ext>
              </a:extLst>
            </p:cNvPr>
            <p:cNvSpPr txBox="1"/>
            <p:nvPr/>
          </p:nvSpPr>
          <p:spPr>
            <a:xfrm>
              <a:off x="571500" y="3871569"/>
              <a:ext cx="4209898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ru-RU" sz="2000" b="1" kern="0" spc="-37" dirty="0">
                  <a:solidFill>
                    <a:srgbClr val="000000"/>
                  </a:solidFill>
                  <a:latin typeface="Montserrat" pitchFamily="2" charset="0"/>
                </a:rPr>
                <a:t>Экономия за 3 года: </a:t>
              </a:r>
              <a:r>
                <a:rPr lang="en-US" sz="2000" b="1" dirty="0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191 </a:t>
              </a:r>
              <a:r>
                <a:rPr lang="en-US" sz="2000" b="1" dirty="0" err="1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млн</a:t>
              </a:r>
              <a:r>
                <a:rPr lang="en-US" sz="2000" b="1" dirty="0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 ₸</a:t>
              </a:r>
              <a:r>
                <a:rPr lang="ru-RU" sz="2000" b="1" kern="0" spc="-37" dirty="0">
                  <a:solidFill>
                    <a:srgbClr val="000000"/>
                  </a:solidFill>
                  <a:latin typeface="Montserrat" pitchFamily="2" charset="0"/>
                </a:rPr>
                <a:t> </a:t>
              </a:r>
              <a:endParaRPr lang="en-US" sz="2000" dirty="0">
                <a:latin typeface="Montserrat" pitchFamily="2" charset="0"/>
              </a:endParaRPr>
            </a:p>
          </p:txBody>
        </p:sp>
      </p:grpSp>
      <p:pic>
        <p:nvPicPr>
          <p:cNvPr id="61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14D2C80-5F14-2C5D-AE7F-9DE47067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">
            <a:extLst>
              <a:ext uri="{FF2B5EF4-FFF2-40B4-BE49-F238E27FC236}">
                <a16:creationId xmlns:a16="http://schemas.microsoft.com/office/drawing/2014/main" id="{98A28DB1-FEA2-EE60-28BD-74E9FDDD43D9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A5BAECE-125D-ED3D-C476-C22AD40E5577}"/>
              </a:ext>
            </a:extLst>
          </p:cNvPr>
          <p:cNvSpPr/>
          <p:nvPr/>
        </p:nvSpPr>
        <p:spPr>
          <a:xfrm>
            <a:off x="6242689" y="1552652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523951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Корпоративное обучение Qlik Sense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71500" y="1000354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Инвестиции в обучение и ожидаемый результат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57707" y="2095805"/>
            <a:ext cx="487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Вкладываем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57707" y="2572207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Время: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47902" y="2876702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 материалов и платформы: 2 месяца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047902" y="309524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 поток обучения: 2 недели (6 занятий × 1.5 часа)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047902" y="3314700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 потока в месяц по 10 человек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57707" y="3666744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Стоимость: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47902" y="397215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 материалов: ~2.25 млн ₸ (разово)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047902" y="4190695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Проведение обучения: ~1.45 млн ₸/год (внутренние ресурсы)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047902" y="4410151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Рассматриваются альтернативы: внешние школы обучения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57707" y="4714646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Формат: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047902" y="5020056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 потока: аналитики и разработчики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047902" y="5238598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Домашние задания + тестирование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047902" y="545805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Сертификация по итогам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572707" y="2095805"/>
            <a:ext cx="487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Получаем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6476695" y="2476195"/>
            <a:ext cx="4953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240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6515100" y="3209544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сертифицированных сотрудников в год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762902" y="3762756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Пользователи эффективно используют Qlik и SSBI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762902" y="4019702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Готовы к переводу на Capacity Licensing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762902" y="4276649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Экономия от перевода: ~33 млн ₸ в первый год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6762902" y="4533595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Снижение нагрузки на серверы за счёт грамотного использования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762902" y="5048402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Качественная аналитика вместо хаотичного потребления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473389" y="6257240"/>
            <a:ext cx="11163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Старт —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новые пользователи (250 чел). Текущие пользователи не затрагиваются.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71500" y="6572707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96396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6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081C2C84-C766-7B35-B3DA-DD74F972B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14500"/>
            <a:ext cx="3448202" cy="3897174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81805" y="1714499"/>
            <a:ext cx="3448202" cy="3897173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448202" cy="3897172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571500" y="523951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Стратегия развития Qlik Sense в Halyk Bank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571500" y="9528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Ключевые направления и ожидаемые результаты</a:t>
            </a:r>
            <a:endParaRPr lang="en-US" sz="1200" dirty="0">
              <a:latin typeface="Montserrat" pitchFamily="2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742950" y="2385212"/>
            <a:ext cx="304495" cy="2670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2542" y="2247595"/>
            <a:ext cx="26481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Гибридное лицензирование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979A4D5-CFA5-FA02-52B7-7057977D9FD6}"/>
              </a:ext>
            </a:extLst>
          </p:cNvPr>
          <p:cNvGrpSpPr/>
          <p:nvPr/>
        </p:nvGrpSpPr>
        <p:grpSpPr>
          <a:xfrm>
            <a:off x="1161744" y="3138907"/>
            <a:ext cx="3029407" cy="800100"/>
            <a:chOff x="827531" y="2633930"/>
            <a:chExt cx="3029407" cy="800100"/>
          </a:xfrm>
        </p:grpSpPr>
        <p:sp>
          <p:nvSpPr>
            <p:cNvPr id="15" name="Text 9"/>
            <p:cNvSpPr txBox="1"/>
            <p:nvPr/>
          </p:nvSpPr>
          <p:spPr>
            <a:xfrm>
              <a:off x="827531" y="2633930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Именные лицензии для активных пользователей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827531" y="3071928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Capacity Licensing для нерегулярных пользователей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53255" y="2385212"/>
            <a:ext cx="333756" cy="2670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82108" y="2361438"/>
            <a:ext cx="2675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Корпоративное обучение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82D2FC5F-70E2-E8C2-BA2A-EB1FAF708E13}"/>
              </a:ext>
            </a:extLst>
          </p:cNvPr>
          <p:cNvGrpSpPr/>
          <p:nvPr/>
        </p:nvGrpSpPr>
        <p:grpSpPr>
          <a:xfrm>
            <a:off x="4982108" y="3138907"/>
            <a:ext cx="3067812" cy="876910"/>
            <a:chOff x="4634179" y="2618841"/>
            <a:chExt cx="3067812" cy="876910"/>
          </a:xfrm>
        </p:grpSpPr>
        <p:sp>
          <p:nvSpPr>
            <p:cNvPr id="20" name="Text 13"/>
            <p:cNvSpPr txBox="1"/>
            <p:nvPr/>
          </p:nvSpPr>
          <p:spPr>
            <a:xfrm>
              <a:off x="4634179" y="2618841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240 сотрудников</a:t>
              </a: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в год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4634179" y="2876702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Повышение качества Self-Service BI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2" name="Text 15"/>
            <p:cNvSpPr txBox="1"/>
            <p:nvPr/>
          </p:nvSpPr>
          <p:spPr>
            <a:xfrm>
              <a:off x="4634179" y="3133649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Мягкое внедрение: </a:t>
              </a:r>
              <a:r>
                <a:rPr lang="en-US" sz="1000" dirty="0" err="1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только</a:t>
              </a: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новые пользователи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63560" y="2385212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792413" y="2361438"/>
            <a:ext cx="2675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Оптимизация архитектуры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50DCA562-B799-43CB-3A7C-54D728F2C27D}"/>
              </a:ext>
            </a:extLst>
          </p:cNvPr>
          <p:cNvGrpSpPr/>
          <p:nvPr/>
        </p:nvGrpSpPr>
        <p:grpSpPr>
          <a:xfrm>
            <a:off x="8764067" y="3176397"/>
            <a:ext cx="2703880" cy="876910"/>
            <a:chOff x="8429854" y="2618841"/>
            <a:chExt cx="3067812" cy="876910"/>
          </a:xfrm>
        </p:grpSpPr>
        <p:sp>
          <p:nvSpPr>
            <p:cNvPr id="25" name="Text 17"/>
            <p:cNvSpPr txBox="1"/>
            <p:nvPr/>
          </p:nvSpPr>
          <p:spPr>
            <a:xfrm>
              <a:off x="8429854" y="2618841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Эффективные QVD/QVF файлы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6" name="Text 18"/>
            <p:cNvSpPr txBox="1"/>
            <p:nvPr/>
          </p:nvSpPr>
          <p:spPr>
            <a:xfrm>
              <a:off x="8429854" y="2876702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Мониторинг и контроль нагрузки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8429854" y="3133649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Инфраструктура мониторинга уже реализована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sp>
        <p:nvSpPr>
          <p:cNvPr id="34" name="Text 26"/>
          <p:cNvSpPr txBox="1"/>
          <p:nvPr/>
        </p:nvSpPr>
        <p:spPr>
          <a:xfrm>
            <a:off x="599846" y="6010809"/>
            <a:ext cx="11163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Предварительные расчёты — уточняются по итогам пилота Capacity (2–3 месяца)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571500" y="6572707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96396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1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13890AF0-80B5-52C4-50F7-AFF70902F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203B07-04A3-244F-939A-5843E058920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879c884-4163-4311-9641-20b7d19d9b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13516</TotalTime>
  <Words>1913</Words>
  <Application>Microsoft Macintosh PowerPoint</Application>
  <PresentationFormat>Широкоэкранный</PresentationFormat>
  <Paragraphs>473</Paragraphs>
  <Slides>16</Slides>
  <Notes>16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66</cp:revision>
  <dcterms:created xsi:type="dcterms:W3CDTF">2026-03-30T09:56:59Z</dcterms:created>
  <dcterms:modified xsi:type="dcterms:W3CDTF">2026-04-21T15:19:29Z</dcterms:modified>
</cp:coreProperties>
</file>