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"/>
          <c:y val="0.02"/>
          <c:w val="0.76"/>
          <c:h val="0.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Oracle</c:v>
                </c:pt>
              </c:strCache>
            </c:strRef>
          </c:tx>
          <c:spPr>
            <a:solidFill>
              <a:srgbClr val="C0C0C0"/>
            </a:solidFill>
            <a:ln w="0">
              <a:noFill/>
            </a:ln>
          </c:spPr>
          <c:invertIfNegative val="1"/>
          <c:cat>
            <c:strRef>
              <c:f>Лист1!$A$2:$A$20</c:f>
              <c:strCache>
                <c:ptCount val="19"/>
                <c:pt idx="0">
                  <c:v>Вклады CBS</c:v>
                </c:pt>
                <c:pt idx="1">
                  <c:v>Карт. счета W4</c:v>
                </c:pt>
                <c:pt idx="2">
                  <c:v>Займы CRS</c:v>
                </c:pt>
                <c:pt idx="3">
                  <c:v>Займы CBS</c:v>
                </c:pt>
                <c:pt idx="4">
                  <c:v>Вклады CRS</c:v>
                </c:pt>
                <c:pt idx="5">
                  <c:v>Отчет по ЦБ</c:v>
                </c:pt>
                <c:pt idx="6">
                  <c:v>Тек. счета CRS</c:v>
                </c:pt>
                <c:pt idx="7">
                  <c:v>Отчет по ПФИ</c:v>
                </c:pt>
                <c:pt idx="8">
                  <c:v>Счета 2718/5203</c:v>
                </c:pt>
                <c:pt idx="9">
                  <c:v>Сейфы CRS</c:v>
                </c:pt>
                <c:pt idx="10">
                  <c:v>Кор.счета</c:v>
                </c:pt>
                <c:pt idx="11">
                  <c:v>Тек. счета CBS</c:v>
                </c:pt>
                <c:pt idx="12">
                  <c:v>Сейфы CBS</c:v>
                </c:pt>
                <c:pt idx="13">
                  <c:v>Фин. CBS</c:v>
                </c:pt>
                <c:pt idx="14">
                  <c:v>МБД_МБК</c:v>
                </c:pt>
                <c:pt idx="15">
                  <c:v>Торговые</c:v>
                </c:pt>
                <c:pt idx="16">
                  <c:v>Фин. CRS3</c:v>
                </c:pt>
                <c:pt idx="17">
                  <c:v>Залоги МУО</c:v>
                </c:pt>
                <c:pt idx="18">
                  <c:v>Остатки ОС</c:v>
                </c:pt>
              </c:strCache>
            </c:strRef>
          </c:cat>
          <c:val>
            <c:numRef>
              <c:f>Лист1!$B$2:$B$20</c:f>
              <c:numCache>
                <c:formatCode>General</c:formatCode>
                <c:ptCount val="19"/>
                <c:pt idx="0">
                  <c:v>4.53</c:v>
                </c:pt>
                <c:pt idx="1">
                  <c:v>16.2</c:v>
                </c:pt>
                <c:pt idx="2">
                  <c:v>16.829999999999998</c:v>
                </c:pt>
                <c:pt idx="3">
                  <c:v>21.1</c:v>
                </c:pt>
                <c:pt idx="4">
                  <c:v>20.43</c:v>
                </c:pt>
                <c:pt idx="5">
                  <c:v>14.9</c:v>
                </c:pt>
                <c:pt idx="6">
                  <c:v>4.83</c:v>
                </c:pt>
                <c:pt idx="7">
                  <c:v>5.87</c:v>
                </c:pt>
                <c:pt idx="8">
                  <c:v>8.52</c:v>
                </c:pt>
                <c:pt idx="9">
                  <c:v>1.38</c:v>
                </c:pt>
                <c:pt idx="10">
                  <c:v>1.9</c:v>
                </c:pt>
                <c:pt idx="11">
                  <c:v>3</c:v>
                </c:pt>
                <c:pt idx="12">
                  <c:v>1.38</c:v>
                </c:pt>
                <c:pt idx="13">
                  <c:v>8.23</c:v>
                </c:pt>
                <c:pt idx="14">
                  <c:v>2.78</c:v>
                </c:pt>
                <c:pt idx="15">
                  <c:v>9.48</c:v>
                </c:pt>
                <c:pt idx="16">
                  <c:v>13.38</c:v>
                </c:pt>
                <c:pt idx="17">
                  <c:v>10.47</c:v>
                </c:pt>
                <c:pt idx="18">
                  <c:v>3.43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965-5D48-B68C-CE72D1F6A3D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YMatrix (Greenplum)</c:v>
                </c:pt>
              </c:strCache>
            </c:strRef>
          </c:tx>
          <c:spPr>
            <a:solidFill>
              <a:srgbClr val="009845"/>
            </a:solidFill>
            <a:ln w="0">
              <a:noFill/>
            </a:ln>
          </c:spPr>
          <c:invertIfNegative val="1"/>
          <c:cat>
            <c:strRef>
              <c:f>Лист1!$A$2:$A$20</c:f>
              <c:strCache>
                <c:ptCount val="19"/>
                <c:pt idx="0">
                  <c:v>Вклады CBS</c:v>
                </c:pt>
                <c:pt idx="1">
                  <c:v>Карт. счета W4</c:v>
                </c:pt>
                <c:pt idx="2">
                  <c:v>Займы CRS</c:v>
                </c:pt>
                <c:pt idx="3">
                  <c:v>Займы CBS</c:v>
                </c:pt>
                <c:pt idx="4">
                  <c:v>Вклады CRS</c:v>
                </c:pt>
                <c:pt idx="5">
                  <c:v>Отчет по ЦБ</c:v>
                </c:pt>
                <c:pt idx="6">
                  <c:v>Тек. счета CRS</c:v>
                </c:pt>
                <c:pt idx="7">
                  <c:v>Отчет по ПФИ</c:v>
                </c:pt>
                <c:pt idx="8">
                  <c:v>Счета 2718/5203</c:v>
                </c:pt>
                <c:pt idx="9">
                  <c:v>Сейфы CRS</c:v>
                </c:pt>
                <c:pt idx="10">
                  <c:v>Кор.счета</c:v>
                </c:pt>
                <c:pt idx="11">
                  <c:v>Тек. счета CBS</c:v>
                </c:pt>
                <c:pt idx="12">
                  <c:v>Сейфы CBS</c:v>
                </c:pt>
                <c:pt idx="13">
                  <c:v>Фин. CBS</c:v>
                </c:pt>
                <c:pt idx="14">
                  <c:v>МБД_МБК</c:v>
                </c:pt>
                <c:pt idx="15">
                  <c:v>Торговые</c:v>
                </c:pt>
                <c:pt idx="16">
                  <c:v>Фин. CRS3</c:v>
                </c:pt>
                <c:pt idx="17">
                  <c:v>Залоги МУО</c:v>
                </c:pt>
                <c:pt idx="18">
                  <c:v>Остатки ОС</c:v>
                </c:pt>
              </c:strCache>
            </c:strRef>
          </c:cat>
          <c:val>
            <c:numRef>
              <c:f>Лист1!$C$2:$C$20</c:f>
              <c:numCache>
                <c:formatCode>General</c:formatCode>
                <c:ptCount val="19"/>
                <c:pt idx="0">
                  <c:v>2.7</c:v>
                </c:pt>
                <c:pt idx="1">
                  <c:v>5.27</c:v>
                </c:pt>
                <c:pt idx="2">
                  <c:v>6.03</c:v>
                </c:pt>
                <c:pt idx="3">
                  <c:v>2.17</c:v>
                </c:pt>
                <c:pt idx="4">
                  <c:v>2.38</c:v>
                </c:pt>
                <c:pt idx="5">
                  <c:v>2.0499999999999998</c:v>
                </c:pt>
                <c:pt idx="6">
                  <c:v>0.72</c:v>
                </c:pt>
                <c:pt idx="7">
                  <c:v>0.4</c:v>
                </c:pt>
                <c:pt idx="8">
                  <c:v>0.4</c:v>
                </c:pt>
                <c:pt idx="9">
                  <c:v>0.38</c:v>
                </c:pt>
                <c:pt idx="10">
                  <c:v>0.42</c:v>
                </c:pt>
                <c:pt idx="11">
                  <c:v>0.47</c:v>
                </c:pt>
                <c:pt idx="12">
                  <c:v>0.38</c:v>
                </c:pt>
                <c:pt idx="13">
                  <c:v>0.37</c:v>
                </c:pt>
                <c:pt idx="14">
                  <c:v>0.38</c:v>
                </c:pt>
                <c:pt idx="15">
                  <c:v>0.82</c:v>
                </c:pt>
                <c:pt idx="16">
                  <c:v>0.32</c:v>
                </c:pt>
                <c:pt idx="17">
                  <c:v>4.55</c:v>
                </c:pt>
                <c:pt idx="18">
                  <c:v>0.63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965-5D48-B68C-CE72D1F6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sz="800" b="0">
                <a:solidFill>
                  <a:srgbClr val="555555"/>
                </a:solidFill>
                <a:latin typeface="Open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5"/>
        </c:scaling>
        <c:delete val="0"/>
        <c:axPos val="t"/>
        <c:majorGridlines>
          <c:spPr>
            <a:ln w="6350">
              <a:solidFill>
                <a:srgbClr val="E8E8E8"/>
              </a:solidFill>
            </a:ln>
          </c:spPr>
        </c:majorGridlines>
        <c:numFmt formatCode="0" sourceLinked="0"/>
        <c:majorTickMark val="out"/>
        <c:minorTickMark val="none"/>
        <c:tickLblPos val="low"/>
        <c:spPr>
          <a:ln w="0">
            <a:noFill/>
          </a:ln>
        </c:spPr>
        <c:txPr>
          <a:bodyPr/>
          <a:lstStyle/>
          <a:p>
            <a:pPr>
              <a:defRPr sz="800">
                <a:solidFill>
                  <a:srgbClr val="666666"/>
                </a:solidFill>
                <a:latin typeface="Open Sans"/>
              </a:defRPr>
            </a:pPr>
            <a:endParaRPr lang="en-US"/>
          </a:p>
        </c:txPr>
        <c:crossAx val="1"/>
        <c:crossesAt val="0"/>
        <c:crossBetween val="between"/>
        <c:majorUnit val="5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3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A416-FF2B-03C6-5858-8999C4FA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5FC1A-0DFE-CACA-BCC8-3A96CD851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D4A61-534B-E911-6010-501BF3FF0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9A8B-3F30-F8E7-314E-52A5D1B9F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2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D9C6-7B02-DC6C-5B63-1BD6DB89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43F97FF-72DB-BF5F-9E19-384026CA0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45" name="Text 42">
            <a:extLst>
              <a:ext uri="{FF2B5EF4-FFF2-40B4-BE49-F238E27FC236}">
                <a16:creationId xmlns:a16="http://schemas.microsoft.com/office/drawing/2014/main" id="{0870E80E-B539-E9BB-1610-22987A305344}"/>
              </a:ext>
            </a:extLst>
          </p:cNvPr>
          <p:cNvSpPr txBox="1"/>
          <p:nvPr/>
        </p:nvSpPr>
        <p:spPr>
          <a:xfrm>
            <a:off x="571500" y="495605"/>
            <a:ext cx="106975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производительности отчётов (YMATRIX vs ORACLE)</a:t>
            </a:r>
            <a:endParaRPr lang="en-US" sz="24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B3F3821D-345D-218B-81B9-CE729BCA810D}"/>
              </a:ext>
            </a:extLst>
          </p:cNvPr>
          <p:cNvSpPr txBox="1"/>
          <p:nvPr/>
        </p:nvSpPr>
        <p:spPr>
          <a:xfrm>
            <a:off x="571500" y="914400"/>
            <a:ext cx="7734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времени формирования ключевых сверочных отчётов</a:t>
            </a:r>
            <a:endParaRPr lang="en-US" sz="1200" dirty="0"/>
          </a:p>
        </p:txBody>
      </p:sp>
      <p:grpSp>
        <p:nvGrpSpPr>
          <p:cNvPr id="152" name="Группа 151">
            <a:extLst>
              <a:ext uri="{FF2B5EF4-FFF2-40B4-BE49-F238E27FC236}">
                <a16:creationId xmlns:a16="http://schemas.microsoft.com/office/drawing/2014/main" id="{94E0B2CE-757E-A264-BEFC-3228B9EFBC76}"/>
              </a:ext>
            </a:extLst>
          </p:cNvPr>
          <p:cNvGrpSpPr/>
          <p:nvPr/>
        </p:nvGrpSpPr>
        <p:grpSpPr>
          <a:xfrm>
            <a:off x="571500" y="1333195"/>
            <a:ext cx="6667805" cy="5000854"/>
            <a:chOff x="571500" y="1333195"/>
            <a:chExt cx="6667805" cy="5000854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A62793B6-EC57-8B27-5C53-05DF85EB49FE}"/>
                </a:ext>
              </a:extLst>
            </p:cNvPr>
            <p:cNvSpPr/>
            <p:nvPr/>
          </p:nvSpPr>
          <p:spPr>
            <a:xfrm>
              <a:off x="571500" y="1333195"/>
              <a:ext cx="6667805" cy="495330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B4964CC5-50AE-CE85-173C-27BC1AA38325}"/>
                </a:ext>
              </a:extLst>
            </p:cNvPr>
            <p:cNvSpPr/>
            <p:nvPr/>
          </p:nvSpPr>
          <p:spPr>
            <a:xfrm>
              <a:off x="571500" y="1333195"/>
              <a:ext cx="6667805" cy="304495"/>
            </a:xfrm>
            <a:prstGeom prst="rect">
              <a:avLst/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F9D90978-476F-A7CD-D7DB-7304F03FBB82}"/>
                </a:ext>
              </a:extLst>
            </p:cNvPr>
            <p:cNvSpPr/>
            <p:nvPr/>
          </p:nvSpPr>
          <p:spPr>
            <a:xfrm>
              <a:off x="571500" y="1618488"/>
              <a:ext cx="6667805" cy="19202"/>
            </a:xfrm>
            <a:prstGeom prst="rect">
              <a:avLst/>
            </a:prstGeom>
            <a:solidFill>
              <a:srgbClr val="009845"/>
            </a:solidFill>
            <a:ln w="12700">
              <a:solidFill>
                <a:srgbClr val="0098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6C8F9D01-51CC-0A5A-FF9D-F7525D2D2B20}"/>
                </a:ext>
              </a:extLst>
            </p:cNvPr>
            <p:cNvSpPr/>
            <p:nvPr/>
          </p:nvSpPr>
          <p:spPr>
            <a:xfrm>
              <a:off x="571500" y="1619402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2586B6A7-8C8C-BDAF-C305-FC680A916F22}"/>
                </a:ext>
              </a:extLst>
            </p:cNvPr>
            <p:cNvSpPr/>
            <p:nvPr/>
          </p:nvSpPr>
          <p:spPr>
            <a:xfrm>
              <a:off x="571500" y="1867205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1E7F48A8-7926-0726-F132-3D439BECE958}"/>
                </a:ext>
              </a:extLst>
            </p:cNvPr>
            <p:cNvSpPr/>
            <p:nvPr/>
          </p:nvSpPr>
          <p:spPr>
            <a:xfrm>
              <a:off x="571500" y="186720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519AE892-98CB-28B9-BB55-D0713F7B998B}"/>
                </a:ext>
              </a:extLst>
            </p:cNvPr>
            <p:cNvSpPr/>
            <p:nvPr/>
          </p:nvSpPr>
          <p:spPr>
            <a:xfrm>
              <a:off x="571500" y="2115007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2F40561D-D209-134C-C64A-3A34BAFBD23B}"/>
                </a:ext>
              </a:extLst>
            </p:cNvPr>
            <p:cNvSpPr/>
            <p:nvPr/>
          </p:nvSpPr>
          <p:spPr>
            <a:xfrm>
              <a:off x="571500" y="2115007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25F3802E-5881-CFC8-B72F-C330902E40C5}"/>
                </a:ext>
              </a:extLst>
            </p:cNvPr>
            <p:cNvSpPr/>
            <p:nvPr/>
          </p:nvSpPr>
          <p:spPr>
            <a:xfrm>
              <a:off x="571500" y="236281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5F30A1FF-5E61-18ED-1EF6-2075F026B4E1}"/>
                </a:ext>
              </a:extLst>
            </p:cNvPr>
            <p:cNvSpPr/>
            <p:nvPr/>
          </p:nvSpPr>
          <p:spPr>
            <a:xfrm>
              <a:off x="571500" y="236189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3D2CA103-E606-DA12-B40D-04B33C8F7A31}"/>
                </a:ext>
              </a:extLst>
            </p:cNvPr>
            <p:cNvSpPr/>
            <p:nvPr/>
          </p:nvSpPr>
          <p:spPr>
            <a:xfrm>
              <a:off x="571500" y="2609698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D4B80F50-F026-DBE2-9C2D-566DC77E8E57}"/>
                </a:ext>
              </a:extLst>
            </p:cNvPr>
            <p:cNvSpPr/>
            <p:nvPr/>
          </p:nvSpPr>
          <p:spPr>
            <a:xfrm>
              <a:off x="571500" y="2609698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B8C41ED3-9E50-78F3-FE9F-980919974CC0}"/>
                </a:ext>
              </a:extLst>
            </p:cNvPr>
            <p:cNvSpPr/>
            <p:nvPr/>
          </p:nvSpPr>
          <p:spPr>
            <a:xfrm>
              <a:off x="571500" y="285750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6717F793-44B4-5255-5287-CED53EAB5D84}"/>
                </a:ext>
              </a:extLst>
            </p:cNvPr>
            <p:cNvSpPr/>
            <p:nvPr/>
          </p:nvSpPr>
          <p:spPr>
            <a:xfrm>
              <a:off x="571500" y="2857500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6658CA16-3DE2-B5E5-ED80-130F95D4B6A7}"/>
                </a:ext>
              </a:extLst>
            </p:cNvPr>
            <p:cNvSpPr/>
            <p:nvPr/>
          </p:nvSpPr>
          <p:spPr>
            <a:xfrm>
              <a:off x="571500" y="3105302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20165C0D-E2B3-ED51-2C23-7FB40F1EC909}"/>
                </a:ext>
              </a:extLst>
            </p:cNvPr>
            <p:cNvSpPr/>
            <p:nvPr/>
          </p:nvSpPr>
          <p:spPr>
            <a:xfrm>
              <a:off x="571500" y="3105302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8AAE552B-7E87-37CD-3495-A34722CE3C8B}"/>
                </a:ext>
              </a:extLst>
            </p:cNvPr>
            <p:cNvSpPr/>
            <p:nvPr/>
          </p:nvSpPr>
          <p:spPr>
            <a:xfrm>
              <a:off x="571500" y="3353105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169FB25F-AC36-A8E6-61DC-75331CBB7EBB}"/>
                </a:ext>
              </a:extLst>
            </p:cNvPr>
            <p:cNvSpPr/>
            <p:nvPr/>
          </p:nvSpPr>
          <p:spPr>
            <a:xfrm>
              <a:off x="571500" y="335310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9E700AE2-8AC5-456B-7313-C91D572334DA}"/>
                </a:ext>
              </a:extLst>
            </p:cNvPr>
            <p:cNvSpPr/>
            <p:nvPr/>
          </p:nvSpPr>
          <p:spPr>
            <a:xfrm>
              <a:off x="571500" y="3600907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35B99872-9685-35C3-4454-5D24F608E958}"/>
                </a:ext>
              </a:extLst>
            </p:cNvPr>
            <p:cNvSpPr/>
            <p:nvPr/>
          </p:nvSpPr>
          <p:spPr>
            <a:xfrm>
              <a:off x="571500" y="3600907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7C99D23C-878F-5491-C030-B1B7E592E8E7}"/>
                </a:ext>
              </a:extLst>
            </p:cNvPr>
            <p:cNvSpPr/>
            <p:nvPr/>
          </p:nvSpPr>
          <p:spPr>
            <a:xfrm>
              <a:off x="571500" y="384871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52C9C5E8-90F7-624D-067C-21BD7D4037A6}"/>
                </a:ext>
              </a:extLst>
            </p:cNvPr>
            <p:cNvSpPr/>
            <p:nvPr/>
          </p:nvSpPr>
          <p:spPr>
            <a:xfrm>
              <a:off x="571500" y="384779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3AAC5982-843B-6A7D-01AF-F9E952276155}"/>
                </a:ext>
              </a:extLst>
            </p:cNvPr>
            <p:cNvSpPr/>
            <p:nvPr/>
          </p:nvSpPr>
          <p:spPr>
            <a:xfrm>
              <a:off x="571500" y="4095598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FEFB4A20-F6F8-03E5-F197-2E415F8750B4}"/>
                </a:ext>
              </a:extLst>
            </p:cNvPr>
            <p:cNvSpPr/>
            <p:nvPr/>
          </p:nvSpPr>
          <p:spPr>
            <a:xfrm>
              <a:off x="571500" y="4095598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28" name="Shape 25">
              <a:extLst>
                <a:ext uri="{FF2B5EF4-FFF2-40B4-BE49-F238E27FC236}">
                  <a16:creationId xmlns:a16="http://schemas.microsoft.com/office/drawing/2014/main" id="{5063B007-5ECD-9E95-7A34-6098281F55BE}"/>
                </a:ext>
              </a:extLst>
            </p:cNvPr>
            <p:cNvSpPr/>
            <p:nvPr/>
          </p:nvSpPr>
          <p:spPr>
            <a:xfrm>
              <a:off x="571500" y="434340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9" name="Shape 26">
              <a:extLst>
                <a:ext uri="{FF2B5EF4-FFF2-40B4-BE49-F238E27FC236}">
                  <a16:creationId xmlns:a16="http://schemas.microsoft.com/office/drawing/2014/main" id="{8FF5A6FD-53C1-851E-E37E-FEFBDD42881F}"/>
                </a:ext>
              </a:extLst>
            </p:cNvPr>
            <p:cNvSpPr/>
            <p:nvPr/>
          </p:nvSpPr>
          <p:spPr>
            <a:xfrm>
              <a:off x="571500" y="4343400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0" name="Shape 27">
              <a:extLst>
                <a:ext uri="{FF2B5EF4-FFF2-40B4-BE49-F238E27FC236}">
                  <a16:creationId xmlns:a16="http://schemas.microsoft.com/office/drawing/2014/main" id="{CFA53766-068D-B373-356C-4A4E2A748BEA}"/>
                </a:ext>
              </a:extLst>
            </p:cNvPr>
            <p:cNvSpPr/>
            <p:nvPr/>
          </p:nvSpPr>
          <p:spPr>
            <a:xfrm>
              <a:off x="571500" y="4591202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886BE8B3-85F0-3F6B-F980-E7D1B522AA6E}"/>
                </a:ext>
              </a:extLst>
            </p:cNvPr>
            <p:cNvSpPr/>
            <p:nvPr/>
          </p:nvSpPr>
          <p:spPr>
            <a:xfrm>
              <a:off x="571500" y="4591202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0151D242-7867-1E65-9213-5ABD7DF36B51}"/>
                </a:ext>
              </a:extLst>
            </p:cNvPr>
            <p:cNvSpPr/>
            <p:nvPr/>
          </p:nvSpPr>
          <p:spPr>
            <a:xfrm>
              <a:off x="571500" y="4839005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978621EE-3A2C-45FB-865E-DED9FF9001F5}"/>
                </a:ext>
              </a:extLst>
            </p:cNvPr>
            <p:cNvSpPr/>
            <p:nvPr/>
          </p:nvSpPr>
          <p:spPr>
            <a:xfrm>
              <a:off x="571500" y="483900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7C7D4715-9BFC-0FE4-A215-1D390E0B045E}"/>
                </a:ext>
              </a:extLst>
            </p:cNvPr>
            <p:cNvSpPr/>
            <p:nvPr/>
          </p:nvSpPr>
          <p:spPr>
            <a:xfrm>
              <a:off x="571500" y="5086807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86ADD75C-F61E-9BD2-E0CC-E59CBD269651}"/>
                </a:ext>
              </a:extLst>
            </p:cNvPr>
            <p:cNvSpPr/>
            <p:nvPr/>
          </p:nvSpPr>
          <p:spPr>
            <a:xfrm>
              <a:off x="571500" y="5086807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93A49FA4-17EE-618E-566B-B63724A67596}"/>
                </a:ext>
              </a:extLst>
            </p:cNvPr>
            <p:cNvSpPr/>
            <p:nvPr/>
          </p:nvSpPr>
          <p:spPr>
            <a:xfrm>
              <a:off x="571500" y="533461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7" name="Shape 34">
              <a:extLst>
                <a:ext uri="{FF2B5EF4-FFF2-40B4-BE49-F238E27FC236}">
                  <a16:creationId xmlns:a16="http://schemas.microsoft.com/office/drawing/2014/main" id="{33BCF621-0DFE-DBB7-1778-9B751F97F2F2}"/>
                </a:ext>
              </a:extLst>
            </p:cNvPr>
            <p:cNvSpPr/>
            <p:nvPr/>
          </p:nvSpPr>
          <p:spPr>
            <a:xfrm>
              <a:off x="571500" y="5333695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4B2EFB47-8EEF-3ABE-DA07-EEDF8BDE5192}"/>
                </a:ext>
              </a:extLst>
            </p:cNvPr>
            <p:cNvSpPr/>
            <p:nvPr/>
          </p:nvSpPr>
          <p:spPr>
            <a:xfrm>
              <a:off x="571500" y="5581498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9" name="Shape 36">
              <a:extLst>
                <a:ext uri="{FF2B5EF4-FFF2-40B4-BE49-F238E27FC236}">
                  <a16:creationId xmlns:a16="http://schemas.microsoft.com/office/drawing/2014/main" id="{46AD1695-C960-36A2-CC0A-1581D8E6B7C3}"/>
                </a:ext>
              </a:extLst>
            </p:cNvPr>
            <p:cNvSpPr/>
            <p:nvPr/>
          </p:nvSpPr>
          <p:spPr>
            <a:xfrm>
              <a:off x="571500" y="5581498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40" name="Shape 37">
              <a:extLst>
                <a:ext uri="{FF2B5EF4-FFF2-40B4-BE49-F238E27FC236}">
                  <a16:creationId xmlns:a16="http://schemas.microsoft.com/office/drawing/2014/main" id="{B89D0597-1F02-C8A7-F388-9230F0E31A39}"/>
                </a:ext>
              </a:extLst>
            </p:cNvPr>
            <p:cNvSpPr/>
            <p:nvPr/>
          </p:nvSpPr>
          <p:spPr>
            <a:xfrm>
              <a:off x="571500" y="5829300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1" name="Shape 38">
              <a:extLst>
                <a:ext uri="{FF2B5EF4-FFF2-40B4-BE49-F238E27FC236}">
                  <a16:creationId xmlns:a16="http://schemas.microsoft.com/office/drawing/2014/main" id="{EFFD8DFD-3946-6AEC-0E70-C00BE2FB3779}"/>
                </a:ext>
              </a:extLst>
            </p:cNvPr>
            <p:cNvSpPr/>
            <p:nvPr/>
          </p:nvSpPr>
          <p:spPr>
            <a:xfrm>
              <a:off x="571500" y="5829300"/>
              <a:ext cx="6667805" cy="256946"/>
            </a:xfrm>
            <a:prstGeom prst="rect">
              <a:avLst/>
            </a:prstGeom>
            <a:solidFill>
              <a:srgbClr val="F9F9F9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42" name="Shape 39">
              <a:extLst>
                <a:ext uri="{FF2B5EF4-FFF2-40B4-BE49-F238E27FC236}">
                  <a16:creationId xmlns:a16="http://schemas.microsoft.com/office/drawing/2014/main" id="{8DF30E2E-8B53-56A0-4E18-FC5311A4E195}"/>
                </a:ext>
              </a:extLst>
            </p:cNvPr>
            <p:cNvSpPr/>
            <p:nvPr/>
          </p:nvSpPr>
          <p:spPr>
            <a:xfrm>
              <a:off x="571500" y="6077102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3" name="Shape 40">
              <a:extLst>
                <a:ext uri="{FF2B5EF4-FFF2-40B4-BE49-F238E27FC236}">
                  <a16:creationId xmlns:a16="http://schemas.microsoft.com/office/drawing/2014/main" id="{322EF002-74C6-A259-6585-E653256B5348}"/>
                </a:ext>
              </a:extLst>
            </p:cNvPr>
            <p:cNvSpPr/>
            <p:nvPr/>
          </p:nvSpPr>
          <p:spPr>
            <a:xfrm>
              <a:off x="571500" y="6077102"/>
              <a:ext cx="6667805" cy="25694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ru-KZ"/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E4BD8E16-0F19-392D-5C38-C7C8511C40E2}"/>
                </a:ext>
              </a:extLst>
            </p:cNvPr>
            <p:cNvSpPr/>
            <p:nvPr/>
          </p:nvSpPr>
          <p:spPr>
            <a:xfrm>
              <a:off x="571500" y="6324905"/>
              <a:ext cx="666780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34CD52C9-B1E2-EA29-1144-644283DDC1C4}"/>
                </a:ext>
              </a:extLst>
            </p:cNvPr>
            <p:cNvSpPr txBox="1"/>
            <p:nvPr/>
          </p:nvSpPr>
          <p:spPr>
            <a:xfrm>
              <a:off x="714146" y="1410005"/>
              <a:ext cx="33055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НАИМЕНОВАНИЕ ОТЧЁТА</a:t>
              </a:r>
              <a:endParaRPr lang="en-US" sz="800" dirty="0"/>
            </a:p>
          </p:txBody>
        </p:sp>
        <p:sp>
          <p:nvSpPr>
            <p:cNvPr id="48" name="Text 45">
              <a:extLst>
                <a:ext uri="{FF2B5EF4-FFF2-40B4-BE49-F238E27FC236}">
                  <a16:creationId xmlns:a16="http://schemas.microsoft.com/office/drawing/2014/main" id="{C9D7BEED-37A6-30D4-7FF7-3310B496614F}"/>
                </a:ext>
              </a:extLst>
            </p:cNvPr>
            <p:cNvSpPr txBox="1"/>
            <p:nvPr/>
          </p:nvSpPr>
          <p:spPr>
            <a:xfrm>
              <a:off x="3771900" y="1410005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6666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ORACLE</a:t>
              </a:r>
              <a:endParaRPr lang="en-US" sz="800" dirty="0"/>
            </a:p>
          </p:txBody>
        </p:sp>
        <p:sp>
          <p:nvSpPr>
            <p:cNvPr id="49" name="Text 46">
              <a:extLst>
                <a:ext uri="{FF2B5EF4-FFF2-40B4-BE49-F238E27FC236}">
                  <a16:creationId xmlns:a16="http://schemas.microsoft.com/office/drawing/2014/main" id="{F0B86932-3886-E050-D5D6-0199DD124F0E}"/>
                </a:ext>
              </a:extLst>
            </p:cNvPr>
            <p:cNvSpPr txBox="1"/>
            <p:nvPr/>
          </p:nvSpPr>
          <p:spPr>
            <a:xfrm>
              <a:off x="4486046" y="1410005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YMATRIX</a:t>
              </a:r>
              <a:endParaRPr lang="en-US" sz="800" dirty="0"/>
            </a:p>
          </p:txBody>
        </p:sp>
        <p:sp>
          <p:nvSpPr>
            <p:cNvPr id="50" name="Text 47">
              <a:extLst>
                <a:ext uri="{FF2B5EF4-FFF2-40B4-BE49-F238E27FC236}">
                  <a16:creationId xmlns:a16="http://schemas.microsoft.com/office/drawing/2014/main" id="{AB55E175-B373-33CE-B0D1-16C637EBF40D}"/>
                </a:ext>
              </a:extLst>
            </p:cNvPr>
            <p:cNvSpPr txBox="1"/>
            <p:nvPr/>
          </p:nvSpPr>
          <p:spPr>
            <a:xfrm>
              <a:off x="5201107" y="1410005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РАЗНИЦА</a:t>
              </a:r>
              <a:endParaRPr lang="en-US" sz="800" dirty="0"/>
            </a:p>
          </p:txBody>
        </p:sp>
        <p:sp>
          <p:nvSpPr>
            <p:cNvPr id="51" name="Text 48">
              <a:extLst>
                <a:ext uri="{FF2B5EF4-FFF2-40B4-BE49-F238E27FC236}">
                  <a16:creationId xmlns:a16="http://schemas.microsoft.com/office/drawing/2014/main" id="{D63B49DC-080A-0442-027B-C368BB128CD7}"/>
                </a:ext>
              </a:extLst>
            </p:cNvPr>
            <p:cNvSpPr txBox="1"/>
            <p:nvPr/>
          </p:nvSpPr>
          <p:spPr>
            <a:xfrm>
              <a:off x="5915254" y="1410005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УСК.</a:t>
              </a:r>
              <a:endParaRPr lang="en-US" sz="800" dirty="0"/>
            </a:p>
          </p:txBody>
        </p:sp>
        <p:sp>
          <p:nvSpPr>
            <p:cNvPr id="52" name="Text 49">
              <a:extLst>
                <a:ext uri="{FF2B5EF4-FFF2-40B4-BE49-F238E27FC236}">
                  <a16:creationId xmlns:a16="http://schemas.microsoft.com/office/drawing/2014/main" id="{38E38D8A-75E5-2EDC-3213-39598D93E1B6}"/>
                </a:ext>
              </a:extLst>
            </p:cNvPr>
            <p:cNvSpPr txBox="1"/>
            <p:nvPr/>
          </p:nvSpPr>
          <p:spPr>
            <a:xfrm>
              <a:off x="714146" y="168615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вкладам CBS</a:t>
              </a:r>
              <a:endParaRPr lang="en-US" sz="800" dirty="0"/>
            </a:p>
          </p:txBody>
        </p:sp>
        <p:sp>
          <p:nvSpPr>
            <p:cNvPr id="53" name="Text 50">
              <a:extLst>
                <a:ext uri="{FF2B5EF4-FFF2-40B4-BE49-F238E27FC236}">
                  <a16:creationId xmlns:a16="http://schemas.microsoft.com/office/drawing/2014/main" id="{E0ED05E4-2F70-6A4B-9EF5-70DF02F9BB33}"/>
                </a:ext>
              </a:extLst>
            </p:cNvPr>
            <p:cNvSpPr txBox="1"/>
            <p:nvPr/>
          </p:nvSpPr>
          <p:spPr>
            <a:xfrm>
              <a:off x="3771900" y="16861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 мин 32 с</a:t>
              </a:r>
              <a:endParaRPr lang="en-US" sz="800" dirty="0"/>
            </a:p>
          </p:txBody>
        </p:sp>
        <p:sp>
          <p:nvSpPr>
            <p:cNvPr id="54" name="Text 51">
              <a:extLst>
                <a:ext uri="{FF2B5EF4-FFF2-40B4-BE49-F238E27FC236}">
                  <a16:creationId xmlns:a16="http://schemas.microsoft.com/office/drawing/2014/main" id="{AE7CF66D-F174-23D5-2F92-084CF1697976}"/>
                </a:ext>
              </a:extLst>
            </p:cNvPr>
            <p:cNvSpPr txBox="1"/>
            <p:nvPr/>
          </p:nvSpPr>
          <p:spPr>
            <a:xfrm>
              <a:off x="4486046" y="16861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 мин 42 с</a:t>
              </a:r>
              <a:endParaRPr lang="en-US" sz="800" dirty="0"/>
            </a:p>
          </p:txBody>
        </p:sp>
        <p:sp>
          <p:nvSpPr>
            <p:cNvPr id="55" name="Text 52">
              <a:extLst>
                <a:ext uri="{FF2B5EF4-FFF2-40B4-BE49-F238E27FC236}">
                  <a16:creationId xmlns:a16="http://schemas.microsoft.com/office/drawing/2014/main" id="{244F2C41-A679-FBD9-EC08-3011D733E647}"/>
                </a:ext>
              </a:extLst>
            </p:cNvPr>
            <p:cNvSpPr txBox="1"/>
            <p:nvPr/>
          </p:nvSpPr>
          <p:spPr>
            <a:xfrm>
              <a:off x="5201107" y="16861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 м 50 с</a:t>
              </a:r>
              <a:endParaRPr lang="en-US" sz="800" dirty="0"/>
            </a:p>
          </p:txBody>
        </p:sp>
        <p:sp>
          <p:nvSpPr>
            <p:cNvPr id="56" name="Text 53">
              <a:extLst>
                <a:ext uri="{FF2B5EF4-FFF2-40B4-BE49-F238E27FC236}">
                  <a16:creationId xmlns:a16="http://schemas.microsoft.com/office/drawing/2014/main" id="{264C6F7F-11F4-E909-ADBB-791B53CAE811}"/>
                </a:ext>
              </a:extLst>
            </p:cNvPr>
            <p:cNvSpPr txBox="1"/>
            <p:nvPr/>
          </p:nvSpPr>
          <p:spPr>
            <a:xfrm>
              <a:off x="5915254" y="168615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1.7x</a:t>
              </a:r>
              <a:endParaRPr lang="en-US" sz="800" dirty="0"/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E0238B26-6794-89A5-BC0A-84EEE6406EC0}"/>
                </a:ext>
              </a:extLst>
            </p:cNvPr>
            <p:cNvSpPr txBox="1"/>
            <p:nvPr/>
          </p:nvSpPr>
          <p:spPr>
            <a:xfrm>
              <a:off x="714146" y="193395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карт счетам W4 v2</a:t>
              </a:r>
              <a:endParaRPr lang="en-US" sz="800" dirty="0"/>
            </a:p>
          </p:txBody>
        </p:sp>
        <p:sp>
          <p:nvSpPr>
            <p:cNvPr id="58" name="Text 55">
              <a:extLst>
                <a:ext uri="{FF2B5EF4-FFF2-40B4-BE49-F238E27FC236}">
                  <a16:creationId xmlns:a16="http://schemas.microsoft.com/office/drawing/2014/main" id="{C3A1675A-AE36-DA0A-F26C-2828E6A10515}"/>
                </a:ext>
              </a:extLst>
            </p:cNvPr>
            <p:cNvSpPr txBox="1"/>
            <p:nvPr/>
          </p:nvSpPr>
          <p:spPr>
            <a:xfrm>
              <a:off x="3771900" y="19339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16 мин 12 с</a:t>
              </a:r>
              <a:endParaRPr lang="en-US" sz="800" dirty="0"/>
            </a:p>
          </p:txBody>
        </p:sp>
        <p:sp>
          <p:nvSpPr>
            <p:cNvPr id="59" name="Text 56">
              <a:extLst>
                <a:ext uri="{FF2B5EF4-FFF2-40B4-BE49-F238E27FC236}">
                  <a16:creationId xmlns:a16="http://schemas.microsoft.com/office/drawing/2014/main" id="{E43D22A4-8364-AA17-4A84-656EC022CE9F}"/>
                </a:ext>
              </a:extLst>
            </p:cNvPr>
            <p:cNvSpPr txBox="1"/>
            <p:nvPr/>
          </p:nvSpPr>
          <p:spPr>
            <a:xfrm>
              <a:off x="4486046" y="19339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 мин 16 с</a:t>
              </a:r>
              <a:endParaRPr lang="en-US" sz="800" dirty="0"/>
            </a:p>
          </p:txBody>
        </p:sp>
        <p:sp>
          <p:nvSpPr>
            <p:cNvPr id="60" name="Text 57">
              <a:extLst>
                <a:ext uri="{FF2B5EF4-FFF2-40B4-BE49-F238E27FC236}">
                  <a16:creationId xmlns:a16="http://schemas.microsoft.com/office/drawing/2014/main" id="{A7F2A239-1A89-3FAE-F761-0453EEDEE8B1}"/>
                </a:ext>
              </a:extLst>
            </p:cNvPr>
            <p:cNvSpPr txBox="1"/>
            <p:nvPr/>
          </p:nvSpPr>
          <p:spPr>
            <a:xfrm>
              <a:off x="5201107" y="19339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-10 м 56 с</a:t>
              </a:r>
              <a:endParaRPr lang="en-US" sz="800" dirty="0"/>
            </a:p>
          </p:txBody>
        </p:sp>
        <p:sp>
          <p:nvSpPr>
            <p:cNvPr id="61" name="Text 58">
              <a:extLst>
                <a:ext uri="{FF2B5EF4-FFF2-40B4-BE49-F238E27FC236}">
                  <a16:creationId xmlns:a16="http://schemas.microsoft.com/office/drawing/2014/main" id="{7A039DF7-8AE9-8289-2780-7742BEF79D47}"/>
                </a:ext>
              </a:extLst>
            </p:cNvPr>
            <p:cNvSpPr txBox="1"/>
            <p:nvPr/>
          </p:nvSpPr>
          <p:spPr>
            <a:xfrm>
              <a:off x="5915254" y="193395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3.1x</a:t>
              </a:r>
              <a:endParaRPr lang="en-US" sz="800" dirty="0"/>
            </a:p>
          </p:txBody>
        </p:sp>
        <p:sp>
          <p:nvSpPr>
            <p:cNvPr id="62" name="Text 59">
              <a:extLst>
                <a:ext uri="{FF2B5EF4-FFF2-40B4-BE49-F238E27FC236}">
                  <a16:creationId xmlns:a16="http://schemas.microsoft.com/office/drawing/2014/main" id="{B9987DAB-5120-98E6-D3EB-4DFABC3CEE2B}"/>
                </a:ext>
              </a:extLst>
            </p:cNvPr>
            <p:cNvSpPr txBox="1"/>
            <p:nvPr/>
          </p:nvSpPr>
          <p:spPr>
            <a:xfrm>
              <a:off x="714146" y="218084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займам и линиям CRS</a:t>
              </a:r>
              <a:endParaRPr lang="en-US" sz="800" dirty="0"/>
            </a:p>
          </p:txBody>
        </p:sp>
        <p:sp>
          <p:nvSpPr>
            <p:cNvPr id="63" name="Text 60">
              <a:extLst>
                <a:ext uri="{FF2B5EF4-FFF2-40B4-BE49-F238E27FC236}">
                  <a16:creationId xmlns:a16="http://schemas.microsoft.com/office/drawing/2014/main" id="{3198583D-284C-050D-BA9B-B79844135510}"/>
                </a:ext>
              </a:extLst>
            </p:cNvPr>
            <p:cNvSpPr txBox="1"/>
            <p:nvPr/>
          </p:nvSpPr>
          <p:spPr>
            <a:xfrm>
              <a:off x="3771900" y="21808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16 мин 50 с</a:t>
              </a:r>
              <a:endParaRPr lang="en-US" sz="800" dirty="0"/>
            </a:p>
          </p:txBody>
        </p:sp>
        <p:sp>
          <p:nvSpPr>
            <p:cNvPr id="64" name="Text 61">
              <a:extLst>
                <a:ext uri="{FF2B5EF4-FFF2-40B4-BE49-F238E27FC236}">
                  <a16:creationId xmlns:a16="http://schemas.microsoft.com/office/drawing/2014/main" id="{31766629-4FA0-A45F-04ED-8D33F460A661}"/>
                </a:ext>
              </a:extLst>
            </p:cNvPr>
            <p:cNvSpPr txBox="1"/>
            <p:nvPr/>
          </p:nvSpPr>
          <p:spPr>
            <a:xfrm>
              <a:off x="4486046" y="21808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 мин 2 с</a:t>
              </a:r>
              <a:endParaRPr lang="en-US" sz="800" dirty="0"/>
            </a:p>
          </p:txBody>
        </p:sp>
        <p:sp>
          <p:nvSpPr>
            <p:cNvPr id="65" name="Text 62">
              <a:extLst>
                <a:ext uri="{FF2B5EF4-FFF2-40B4-BE49-F238E27FC236}">
                  <a16:creationId xmlns:a16="http://schemas.microsoft.com/office/drawing/2014/main" id="{D5F96924-9316-6A33-7A01-238369E5990B}"/>
                </a:ext>
              </a:extLst>
            </p:cNvPr>
            <p:cNvSpPr txBox="1"/>
            <p:nvPr/>
          </p:nvSpPr>
          <p:spPr>
            <a:xfrm>
              <a:off x="5201107" y="21808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-10 м 48 с</a:t>
              </a:r>
              <a:endParaRPr lang="en-US" sz="800" dirty="0"/>
            </a:p>
          </p:txBody>
        </p:sp>
        <p:sp>
          <p:nvSpPr>
            <p:cNvPr id="66" name="Text 63">
              <a:extLst>
                <a:ext uri="{FF2B5EF4-FFF2-40B4-BE49-F238E27FC236}">
                  <a16:creationId xmlns:a16="http://schemas.microsoft.com/office/drawing/2014/main" id="{553335DE-E1CA-C925-DB9C-286CDEABD946}"/>
                </a:ext>
              </a:extLst>
            </p:cNvPr>
            <p:cNvSpPr txBox="1"/>
            <p:nvPr/>
          </p:nvSpPr>
          <p:spPr>
            <a:xfrm>
              <a:off x="5915254" y="218084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2.8x</a:t>
              </a:r>
              <a:endParaRPr lang="en-US" sz="800" dirty="0"/>
            </a:p>
          </p:txBody>
        </p:sp>
        <p:sp>
          <p:nvSpPr>
            <p:cNvPr id="67" name="Text 64">
              <a:extLst>
                <a:ext uri="{FF2B5EF4-FFF2-40B4-BE49-F238E27FC236}">
                  <a16:creationId xmlns:a16="http://schemas.microsoft.com/office/drawing/2014/main" id="{24D23F24-F9C3-E349-6B19-EE3CD8E4EBB2}"/>
                </a:ext>
              </a:extLst>
            </p:cNvPr>
            <p:cNvSpPr txBox="1"/>
            <p:nvPr/>
          </p:nvSpPr>
          <p:spPr>
            <a:xfrm>
              <a:off x="714146" y="242864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займам и линиям CBS</a:t>
              </a:r>
              <a:endParaRPr lang="en-US" sz="800" dirty="0"/>
            </a:p>
          </p:txBody>
        </p:sp>
        <p:sp>
          <p:nvSpPr>
            <p:cNvPr id="68" name="Text 65">
              <a:extLst>
                <a:ext uri="{FF2B5EF4-FFF2-40B4-BE49-F238E27FC236}">
                  <a16:creationId xmlns:a16="http://schemas.microsoft.com/office/drawing/2014/main" id="{6601F3FF-23C2-9190-DA96-42345497EC4D}"/>
                </a:ext>
              </a:extLst>
            </p:cNvPr>
            <p:cNvSpPr txBox="1"/>
            <p:nvPr/>
          </p:nvSpPr>
          <p:spPr>
            <a:xfrm>
              <a:off x="3771900" y="24286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21 мин 6 с</a:t>
              </a:r>
              <a:endParaRPr lang="en-US" sz="800" dirty="0"/>
            </a:p>
          </p:txBody>
        </p:sp>
        <p:sp>
          <p:nvSpPr>
            <p:cNvPr id="69" name="Text 66">
              <a:extLst>
                <a:ext uri="{FF2B5EF4-FFF2-40B4-BE49-F238E27FC236}">
                  <a16:creationId xmlns:a16="http://schemas.microsoft.com/office/drawing/2014/main" id="{1F069F85-6F99-5F80-D16A-E40A165A94EB}"/>
                </a:ext>
              </a:extLst>
            </p:cNvPr>
            <p:cNvSpPr txBox="1"/>
            <p:nvPr/>
          </p:nvSpPr>
          <p:spPr>
            <a:xfrm>
              <a:off x="4486046" y="24286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 мин 10 с</a:t>
              </a:r>
              <a:endParaRPr lang="en-US" sz="800" dirty="0"/>
            </a:p>
          </p:txBody>
        </p:sp>
        <p:sp>
          <p:nvSpPr>
            <p:cNvPr id="70" name="Text 67">
              <a:extLst>
                <a:ext uri="{FF2B5EF4-FFF2-40B4-BE49-F238E27FC236}">
                  <a16:creationId xmlns:a16="http://schemas.microsoft.com/office/drawing/2014/main" id="{B7A15DB7-2468-1D96-2AAC-7E3E85BC6866}"/>
                </a:ext>
              </a:extLst>
            </p:cNvPr>
            <p:cNvSpPr txBox="1"/>
            <p:nvPr/>
          </p:nvSpPr>
          <p:spPr>
            <a:xfrm>
              <a:off x="5201107" y="24286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-18 м 56 с</a:t>
              </a:r>
              <a:endParaRPr lang="en-US" sz="800" dirty="0"/>
            </a:p>
          </p:txBody>
        </p:sp>
        <p:sp>
          <p:nvSpPr>
            <p:cNvPr id="71" name="Text 68">
              <a:extLst>
                <a:ext uri="{FF2B5EF4-FFF2-40B4-BE49-F238E27FC236}">
                  <a16:creationId xmlns:a16="http://schemas.microsoft.com/office/drawing/2014/main" id="{B05165A2-CF41-C930-218D-D4C8897C69B6}"/>
                </a:ext>
              </a:extLst>
            </p:cNvPr>
            <p:cNvSpPr txBox="1"/>
            <p:nvPr/>
          </p:nvSpPr>
          <p:spPr>
            <a:xfrm>
              <a:off x="5915254" y="242864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9.7x</a:t>
              </a:r>
              <a:endParaRPr lang="en-US" sz="800" dirty="0"/>
            </a:p>
          </p:txBody>
        </p:sp>
        <p:sp>
          <p:nvSpPr>
            <p:cNvPr id="72" name="Text 69">
              <a:extLst>
                <a:ext uri="{FF2B5EF4-FFF2-40B4-BE49-F238E27FC236}">
                  <a16:creationId xmlns:a16="http://schemas.microsoft.com/office/drawing/2014/main" id="{71DA2E1B-A456-A7A8-0075-6119BFD53B5C}"/>
                </a:ext>
              </a:extLst>
            </p:cNvPr>
            <p:cNvSpPr txBox="1"/>
            <p:nvPr/>
          </p:nvSpPr>
          <p:spPr>
            <a:xfrm>
              <a:off x="714146" y="2676449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вкладам CRS</a:t>
              </a:r>
              <a:endParaRPr lang="en-US" sz="800" dirty="0"/>
            </a:p>
          </p:txBody>
        </p:sp>
        <p:sp>
          <p:nvSpPr>
            <p:cNvPr id="73" name="Text 70">
              <a:extLst>
                <a:ext uri="{FF2B5EF4-FFF2-40B4-BE49-F238E27FC236}">
                  <a16:creationId xmlns:a16="http://schemas.microsoft.com/office/drawing/2014/main" id="{48D2CBE5-F952-B6C1-5C6B-05899C5304DA}"/>
                </a:ext>
              </a:extLst>
            </p:cNvPr>
            <p:cNvSpPr txBox="1"/>
            <p:nvPr/>
          </p:nvSpPr>
          <p:spPr>
            <a:xfrm>
              <a:off x="3771900" y="26764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20 мин 26 с</a:t>
              </a:r>
              <a:endParaRPr lang="en-US" sz="800" dirty="0"/>
            </a:p>
          </p:txBody>
        </p:sp>
        <p:sp>
          <p:nvSpPr>
            <p:cNvPr id="74" name="Text 71">
              <a:extLst>
                <a:ext uri="{FF2B5EF4-FFF2-40B4-BE49-F238E27FC236}">
                  <a16:creationId xmlns:a16="http://schemas.microsoft.com/office/drawing/2014/main" id="{965A8DD2-4F1B-A614-10FA-D99F8A6013E8}"/>
                </a:ext>
              </a:extLst>
            </p:cNvPr>
            <p:cNvSpPr txBox="1"/>
            <p:nvPr/>
          </p:nvSpPr>
          <p:spPr>
            <a:xfrm>
              <a:off x="4486046" y="26764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 мин 23 с</a:t>
              </a:r>
              <a:endParaRPr lang="en-US" sz="800" dirty="0"/>
            </a:p>
          </p:txBody>
        </p:sp>
        <p:sp>
          <p:nvSpPr>
            <p:cNvPr id="75" name="Text 72">
              <a:extLst>
                <a:ext uri="{FF2B5EF4-FFF2-40B4-BE49-F238E27FC236}">
                  <a16:creationId xmlns:a16="http://schemas.microsoft.com/office/drawing/2014/main" id="{F6D49F45-99D2-E328-B55A-BBB83541749B}"/>
                </a:ext>
              </a:extLst>
            </p:cNvPr>
            <p:cNvSpPr txBox="1"/>
            <p:nvPr/>
          </p:nvSpPr>
          <p:spPr>
            <a:xfrm>
              <a:off x="5201107" y="26764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-18 м 3 с</a:t>
              </a:r>
              <a:endParaRPr lang="en-US" sz="800" dirty="0"/>
            </a:p>
          </p:txBody>
        </p:sp>
        <p:sp>
          <p:nvSpPr>
            <p:cNvPr id="76" name="Text 73">
              <a:extLst>
                <a:ext uri="{FF2B5EF4-FFF2-40B4-BE49-F238E27FC236}">
                  <a16:creationId xmlns:a16="http://schemas.microsoft.com/office/drawing/2014/main" id="{70B9A3F9-3035-EAB9-57A5-EBB63DD5EBCE}"/>
                </a:ext>
              </a:extLst>
            </p:cNvPr>
            <p:cNvSpPr txBox="1"/>
            <p:nvPr/>
          </p:nvSpPr>
          <p:spPr>
            <a:xfrm>
              <a:off x="5915254" y="2676449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8.6x</a:t>
              </a:r>
              <a:endParaRPr lang="en-US" sz="800" dirty="0"/>
            </a:p>
          </p:txBody>
        </p:sp>
        <p:sp>
          <p:nvSpPr>
            <p:cNvPr id="77" name="Text 74">
              <a:extLst>
                <a:ext uri="{FF2B5EF4-FFF2-40B4-BE49-F238E27FC236}">
                  <a16:creationId xmlns:a16="http://schemas.microsoft.com/office/drawing/2014/main" id="{91D073EC-98BF-0B3F-3513-AD85518DDFE0}"/>
                </a:ext>
              </a:extLst>
            </p:cNvPr>
            <p:cNvSpPr txBox="1"/>
            <p:nvPr/>
          </p:nvSpPr>
          <p:spPr>
            <a:xfrm>
              <a:off x="714146" y="2924251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ЦБ</a:t>
              </a:r>
              <a:endParaRPr lang="en-US" sz="800" dirty="0"/>
            </a:p>
          </p:txBody>
        </p:sp>
        <p:sp>
          <p:nvSpPr>
            <p:cNvPr id="78" name="Text 75">
              <a:extLst>
                <a:ext uri="{FF2B5EF4-FFF2-40B4-BE49-F238E27FC236}">
                  <a16:creationId xmlns:a16="http://schemas.microsoft.com/office/drawing/2014/main" id="{F213A6E3-01ED-86AB-EC1D-4F14F3241784}"/>
                </a:ext>
              </a:extLst>
            </p:cNvPr>
            <p:cNvSpPr txBox="1"/>
            <p:nvPr/>
          </p:nvSpPr>
          <p:spPr>
            <a:xfrm>
              <a:off x="3771900" y="29242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14 мин 54 с</a:t>
              </a:r>
              <a:endParaRPr lang="en-US" sz="800" dirty="0"/>
            </a:p>
          </p:txBody>
        </p:sp>
        <p:sp>
          <p:nvSpPr>
            <p:cNvPr id="79" name="Text 76">
              <a:extLst>
                <a:ext uri="{FF2B5EF4-FFF2-40B4-BE49-F238E27FC236}">
                  <a16:creationId xmlns:a16="http://schemas.microsoft.com/office/drawing/2014/main" id="{D90BB8E8-DB82-0682-4B07-59DE1B0A0EF0}"/>
                </a:ext>
              </a:extLst>
            </p:cNvPr>
            <p:cNvSpPr txBox="1"/>
            <p:nvPr/>
          </p:nvSpPr>
          <p:spPr>
            <a:xfrm>
              <a:off x="4486046" y="29242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 мин 3 с</a:t>
              </a:r>
              <a:endParaRPr lang="en-US" sz="800" dirty="0"/>
            </a:p>
          </p:txBody>
        </p:sp>
        <p:sp>
          <p:nvSpPr>
            <p:cNvPr id="80" name="Text 77">
              <a:extLst>
                <a:ext uri="{FF2B5EF4-FFF2-40B4-BE49-F238E27FC236}">
                  <a16:creationId xmlns:a16="http://schemas.microsoft.com/office/drawing/2014/main" id="{FF16F529-6859-F6FC-C92D-D22EB2F73B68}"/>
                </a:ext>
              </a:extLst>
            </p:cNvPr>
            <p:cNvSpPr txBox="1"/>
            <p:nvPr/>
          </p:nvSpPr>
          <p:spPr>
            <a:xfrm>
              <a:off x="5201107" y="29242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-12 м 51 с</a:t>
              </a:r>
              <a:endParaRPr lang="en-US" sz="800" dirty="0"/>
            </a:p>
          </p:txBody>
        </p:sp>
        <p:sp>
          <p:nvSpPr>
            <p:cNvPr id="81" name="Text 78">
              <a:extLst>
                <a:ext uri="{FF2B5EF4-FFF2-40B4-BE49-F238E27FC236}">
                  <a16:creationId xmlns:a16="http://schemas.microsoft.com/office/drawing/2014/main" id="{58B6F4B6-EEA6-9988-319B-172C550CD4B4}"/>
                </a:ext>
              </a:extLst>
            </p:cNvPr>
            <p:cNvSpPr txBox="1"/>
            <p:nvPr/>
          </p:nvSpPr>
          <p:spPr>
            <a:xfrm>
              <a:off x="5915254" y="2924251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7.3x</a:t>
              </a:r>
              <a:endParaRPr lang="en-US" sz="800" dirty="0"/>
            </a:p>
          </p:txBody>
        </p:sp>
        <p:sp>
          <p:nvSpPr>
            <p:cNvPr id="82" name="Text 79">
              <a:extLst>
                <a:ext uri="{FF2B5EF4-FFF2-40B4-BE49-F238E27FC236}">
                  <a16:creationId xmlns:a16="http://schemas.microsoft.com/office/drawing/2014/main" id="{8A721E37-15F6-70AD-237D-7F1BE8D6748C}"/>
                </a:ext>
              </a:extLst>
            </p:cNvPr>
            <p:cNvSpPr txBox="1"/>
            <p:nvPr/>
          </p:nvSpPr>
          <p:spPr>
            <a:xfrm>
              <a:off x="714146" y="317205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текущим счетам CRS</a:t>
              </a:r>
              <a:endParaRPr lang="en-US" sz="800" dirty="0"/>
            </a:p>
          </p:txBody>
        </p:sp>
        <p:sp>
          <p:nvSpPr>
            <p:cNvPr id="83" name="Text 80">
              <a:extLst>
                <a:ext uri="{FF2B5EF4-FFF2-40B4-BE49-F238E27FC236}">
                  <a16:creationId xmlns:a16="http://schemas.microsoft.com/office/drawing/2014/main" id="{3DAC37BD-1B6C-B828-249C-CCD66488A237}"/>
                </a:ext>
              </a:extLst>
            </p:cNvPr>
            <p:cNvSpPr txBox="1"/>
            <p:nvPr/>
          </p:nvSpPr>
          <p:spPr>
            <a:xfrm>
              <a:off x="3771900" y="31720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 мин 50 с</a:t>
              </a:r>
              <a:endParaRPr lang="en-US" sz="800" dirty="0"/>
            </a:p>
          </p:txBody>
        </p:sp>
        <p:sp>
          <p:nvSpPr>
            <p:cNvPr id="84" name="Text 81">
              <a:extLst>
                <a:ext uri="{FF2B5EF4-FFF2-40B4-BE49-F238E27FC236}">
                  <a16:creationId xmlns:a16="http://schemas.microsoft.com/office/drawing/2014/main" id="{32BFA3E5-A8B1-0351-8A9F-227E8C83200F}"/>
                </a:ext>
              </a:extLst>
            </p:cNvPr>
            <p:cNvSpPr txBox="1"/>
            <p:nvPr/>
          </p:nvSpPr>
          <p:spPr>
            <a:xfrm>
              <a:off x="4486046" y="31720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43 с</a:t>
              </a:r>
              <a:endParaRPr lang="en-US" sz="800" dirty="0"/>
            </a:p>
          </p:txBody>
        </p:sp>
        <p:sp>
          <p:nvSpPr>
            <p:cNvPr id="85" name="Text 82">
              <a:extLst>
                <a:ext uri="{FF2B5EF4-FFF2-40B4-BE49-F238E27FC236}">
                  <a16:creationId xmlns:a16="http://schemas.microsoft.com/office/drawing/2014/main" id="{BE6DE452-5CEF-1C6E-09FD-7B0ECEBE5926}"/>
                </a:ext>
              </a:extLst>
            </p:cNvPr>
            <p:cNvSpPr txBox="1"/>
            <p:nvPr/>
          </p:nvSpPr>
          <p:spPr>
            <a:xfrm>
              <a:off x="5201107" y="31720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-4 м 7 с</a:t>
              </a:r>
              <a:endParaRPr lang="en-US" sz="800" dirty="0"/>
            </a:p>
          </p:txBody>
        </p:sp>
        <p:sp>
          <p:nvSpPr>
            <p:cNvPr id="86" name="Text 83">
              <a:extLst>
                <a:ext uri="{FF2B5EF4-FFF2-40B4-BE49-F238E27FC236}">
                  <a16:creationId xmlns:a16="http://schemas.microsoft.com/office/drawing/2014/main" id="{365AF1FA-AC79-F1FD-EE3E-658C6A9CAF33}"/>
                </a:ext>
              </a:extLst>
            </p:cNvPr>
            <p:cNvSpPr txBox="1"/>
            <p:nvPr/>
          </p:nvSpPr>
          <p:spPr>
            <a:xfrm>
              <a:off x="5915254" y="317205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6.7x</a:t>
              </a:r>
              <a:endParaRPr lang="en-US" sz="800" dirty="0"/>
            </a:p>
          </p:txBody>
        </p:sp>
        <p:sp>
          <p:nvSpPr>
            <p:cNvPr id="87" name="Text 84">
              <a:extLst>
                <a:ext uri="{FF2B5EF4-FFF2-40B4-BE49-F238E27FC236}">
                  <a16:creationId xmlns:a16="http://schemas.microsoft.com/office/drawing/2014/main" id="{7C59E487-EFB5-9F75-1361-50CC507C6158}"/>
                </a:ext>
              </a:extLst>
            </p:cNvPr>
            <p:cNvSpPr txBox="1"/>
            <p:nvPr/>
          </p:nvSpPr>
          <p:spPr>
            <a:xfrm>
              <a:off x="714146" y="341985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ПФИ</a:t>
              </a:r>
              <a:endParaRPr lang="en-US" sz="800" dirty="0"/>
            </a:p>
          </p:txBody>
        </p:sp>
        <p:sp>
          <p:nvSpPr>
            <p:cNvPr id="88" name="Text 85">
              <a:extLst>
                <a:ext uri="{FF2B5EF4-FFF2-40B4-BE49-F238E27FC236}">
                  <a16:creationId xmlns:a16="http://schemas.microsoft.com/office/drawing/2014/main" id="{9D99FE7A-6F95-3777-2ABF-84BD26705A25}"/>
                </a:ext>
              </a:extLst>
            </p:cNvPr>
            <p:cNvSpPr txBox="1"/>
            <p:nvPr/>
          </p:nvSpPr>
          <p:spPr>
            <a:xfrm>
              <a:off x="3771900" y="34198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 мин 52 с</a:t>
              </a:r>
              <a:endParaRPr lang="en-US" sz="800" dirty="0"/>
            </a:p>
          </p:txBody>
        </p:sp>
        <p:sp>
          <p:nvSpPr>
            <p:cNvPr id="89" name="Text 86">
              <a:extLst>
                <a:ext uri="{FF2B5EF4-FFF2-40B4-BE49-F238E27FC236}">
                  <a16:creationId xmlns:a16="http://schemas.microsoft.com/office/drawing/2014/main" id="{BAB44718-530D-9597-37F4-8487DFCDED0B}"/>
                </a:ext>
              </a:extLst>
            </p:cNvPr>
            <p:cNvSpPr txBox="1"/>
            <p:nvPr/>
          </p:nvSpPr>
          <p:spPr>
            <a:xfrm>
              <a:off x="4486046" y="34198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24 с</a:t>
              </a:r>
              <a:endParaRPr lang="en-US" sz="800" dirty="0"/>
            </a:p>
          </p:txBody>
        </p:sp>
        <p:sp>
          <p:nvSpPr>
            <p:cNvPr id="90" name="Text 87">
              <a:extLst>
                <a:ext uri="{FF2B5EF4-FFF2-40B4-BE49-F238E27FC236}">
                  <a16:creationId xmlns:a16="http://schemas.microsoft.com/office/drawing/2014/main" id="{BE2565DC-DEC6-72EF-1999-5A539A9BEC34}"/>
                </a:ext>
              </a:extLst>
            </p:cNvPr>
            <p:cNvSpPr txBox="1"/>
            <p:nvPr/>
          </p:nvSpPr>
          <p:spPr>
            <a:xfrm>
              <a:off x="5201107" y="34198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-5 м 28 с</a:t>
              </a:r>
              <a:endParaRPr lang="en-US" sz="800" dirty="0"/>
            </a:p>
          </p:txBody>
        </p:sp>
        <p:sp>
          <p:nvSpPr>
            <p:cNvPr id="91" name="Text 88">
              <a:extLst>
                <a:ext uri="{FF2B5EF4-FFF2-40B4-BE49-F238E27FC236}">
                  <a16:creationId xmlns:a16="http://schemas.microsoft.com/office/drawing/2014/main" id="{AA7B366C-3DFE-57F7-D216-F0705D12DD0C}"/>
                </a:ext>
              </a:extLst>
            </p:cNvPr>
            <p:cNvSpPr txBox="1"/>
            <p:nvPr/>
          </p:nvSpPr>
          <p:spPr>
            <a:xfrm>
              <a:off x="5915254" y="341985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14.7x</a:t>
              </a:r>
              <a:endParaRPr lang="en-US" sz="800" dirty="0"/>
            </a:p>
          </p:txBody>
        </p:sp>
        <p:sp>
          <p:nvSpPr>
            <p:cNvPr id="92" name="Text 89">
              <a:extLst>
                <a:ext uri="{FF2B5EF4-FFF2-40B4-BE49-F238E27FC236}">
                  <a16:creationId xmlns:a16="http://schemas.microsoft.com/office/drawing/2014/main" id="{CB7755AF-09E2-5CD7-3820-A91D375727EE}"/>
                </a:ext>
              </a:extLst>
            </p:cNvPr>
            <p:cNvSpPr txBox="1"/>
            <p:nvPr/>
          </p:nvSpPr>
          <p:spPr>
            <a:xfrm>
              <a:off x="714146" y="366674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счетам 2718 и 5203</a:t>
              </a:r>
              <a:endParaRPr lang="en-US" sz="800" dirty="0"/>
            </a:p>
          </p:txBody>
        </p:sp>
        <p:sp>
          <p:nvSpPr>
            <p:cNvPr id="93" name="Text 90">
              <a:extLst>
                <a:ext uri="{FF2B5EF4-FFF2-40B4-BE49-F238E27FC236}">
                  <a16:creationId xmlns:a16="http://schemas.microsoft.com/office/drawing/2014/main" id="{DF55B838-12E4-E196-F73D-3AF227FBEB1F}"/>
                </a:ext>
              </a:extLst>
            </p:cNvPr>
            <p:cNvSpPr txBox="1"/>
            <p:nvPr/>
          </p:nvSpPr>
          <p:spPr>
            <a:xfrm>
              <a:off x="3771900" y="36667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 мин 31 с</a:t>
              </a:r>
              <a:endParaRPr lang="en-US" sz="800" dirty="0"/>
            </a:p>
          </p:txBody>
        </p:sp>
        <p:sp>
          <p:nvSpPr>
            <p:cNvPr id="94" name="Text 91">
              <a:extLst>
                <a:ext uri="{FF2B5EF4-FFF2-40B4-BE49-F238E27FC236}">
                  <a16:creationId xmlns:a16="http://schemas.microsoft.com/office/drawing/2014/main" id="{BC343701-23A6-7E2E-10DF-7DC98B94CD44}"/>
                </a:ext>
              </a:extLst>
            </p:cNvPr>
            <p:cNvSpPr txBox="1"/>
            <p:nvPr/>
          </p:nvSpPr>
          <p:spPr>
            <a:xfrm>
              <a:off x="4486046" y="36667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24 с</a:t>
              </a:r>
              <a:endParaRPr lang="en-US" sz="800" dirty="0"/>
            </a:p>
          </p:txBody>
        </p:sp>
        <p:sp>
          <p:nvSpPr>
            <p:cNvPr id="95" name="Text 92">
              <a:extLst>
                <a:ext uri="{FF2B5EF4-FFF2-40B4-BE49-F238E27FC236}">
                  <a16:creationId xmlns:a16="http://schemas.microsoft.com/office/drawing/2014/main" id="{FF64407B-5208-F175-C308-03A7950132B5}"/>
                </a:ext>
              </a:extLst>
            </p:cNvPr>
            <p:cNvSpPr txBox="1"/>
            <p:nvPr/>
          </p:nvSpPr>
          <p:spPr>
            <a:xfrm>
              <a:off x="5201107" y="36667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-8 м 7 с</a:t>
              </a:r>
              <a:endParaRPr lang="en-US" sz="800" dirty="0"/>
            </a:p>
          </p:txBody>
        </p:sp>
        <p:sp>
          <p:nvSpPr>
            <p:cNvPr id="96" name="Text 93">
              <a:extLst>
                <a:ext uri="{FF2B5EF4-FFF2-40B4-BE49-F238E27FC236}">
                  <a16:creationId xmlns:a16="http://schemas.microsoft.com/office/drawing/2014/main" id="{32215533-D690-34AC-FA9F-973357B5CDC2}"/>
                </a:ext>
              </a:extLst>
            </p:cNvPr>
            <p:cNvSpPr txBox="1"/>
            <p:nvPr/>
          </p:nvSpPr>
          <p:spPr>
            <a:xfrm>
              <a:off x="5915254" y="366674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21.3x</a:t>
              </a:r>
              <a:endParaRPr lang="en-US" sz="800" dirty="0"/>
            </a:p>
          </p:txBody>
        </p:sp>
        <p:sp>
          <p:nvSpPr>
            <p:cNvPr id="97" name="Text 94">
              <a:extLst>
                <a:ext uri="{FF2B5EF4-FFF2-40B4-BE49-F238E27FC236}">
                  <a16:creationId xmlns:a16="http://schemas.microsoft.com/office/drawing/2014/main" id="{B613C802-CEA1-F489-0689-CC5CC747F409}"/>
                </a:ext>
              </a:extLst>
            </p:cNvPr>
            <p:cNvSpPr txBox="1"/>
            <p:nvPr/>
          </p:nvSpPr>
          <p:spPr>
            <a:xfrm>
              <a:off x="714146" y="391454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сейфам CRS</a:t>
              </a:r>
              <a:endParaRPr lang="en-US" sz="800" dirty="0"/>
            </a:p>
          </p:txBody>
        </p:sp>
        <p:sp>
          <p:nvSpPr>
            <p:cNvPr id="98" name="Text 95">
              <a:extLst>
                <a:ext uri="{FF2B5EF4-FFF2-40B4-BE49-F238E27FC236}">
                  <a16:creationId xmlns:a16="http://schemas.microsoft.com/office/drawing/2014/main" id="{EEB4676F-A990-488C-D7A0-AD63ABFE90CB}"/>
                </a:ext>
              </a:extLst>
            </p:cNvPr>
            <p:cNvSpPr txBox="1"/>
            <p:nvPr/>
          </p:nvSpPr>
          <p:spPr>
            <a:xfrm>
              <a:off x="3771900" y="39145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 мин 23 с</a:t>
              </a:r>
              <a:endParaRPr lang="en-US" sz="800" dirty="0"/>
            </a:p>
          </p:txBody>
        </p:sp>
        <p:sp>
          <p:nvSpPr>
            <p:cNvPr id="99" name="Text 96">
              <a:extLst>
                <a:ext uri="{FF2B5EF4-FFF2-40B4-BE49-F238E27FC236}">
                  <a16:creationId xmlns:a16="http://schemas.microsoft.com/office/drawing/2014/main" id="{3C0735DE-593C-6004-AEBF-3D9062A95E40}"/>
                </a:ext>
              </a:extLst>
            </p:cNvPr>
            <p:cNvSpPr txBox="1"/>
            <p:nvPr/>
          </p:nvSpPr>
          <p:spPr>
            <a:xfrm>
              <a:off x="4486046" y="39145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23 с</a:t>
              </a:r>
              <a:endParaRPr lang="en-US" sz="800" dirty="0"/>
            </a:p>
          </p:txBody>
        </p:sp>
        <p:sp>
          <p:nvSpPr>
            <p:cNvPr id="100" name="Text 97">
              <a:extLst>
                <a:ext uri="{FF2B5EF4-FFF2-40B4-BE49-F238E27FC236}">
                  <a16:creationId xmlns:a16="http://schemas.microsoft.com/office/drawing/2014/main" id="{E9EB5632-EF86-A1D2-4469-4903758060B5}"/>
                </a:ext>
              </a:extLst>
            </p:cNvPr>
            <p:cNvSpPr txBox="1"/>
            <p:nvPr/>
          </p:nvSpPr>
          <p:spPr>
            <a:xfrm>
              <a:off x="5201107" y="39145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 м 00 с</a:t>
              </a:r>
              <a:endParaRPr lang="en-US" sz="800" dirty="0"/>
            </a:p>
          </p:txBody>
        </p:sp>
        <p:sp>
          <p:nvSpPr>
            <p:cNvPr id="101" name="Text 98">
              <a:extLst>
                <a:ext uri="{FF2B5EF4-FFF2-40B4-BE49-F238E27FC236}">
                  <a16:creationId xmlns:a16="http://schemas.microsoft.com/office/drawing/2014/main" id="{7279492F-1116-7367-8E5F-1B9BC7451AD2}"/>
                </a:ext>
              </a:extLst>
            </p:cNvPr>
            <p:cNvSpPr txBox="1"/>
            <p:nvPr/>
          </p:nvSpPr>
          <p:spPr>
            <a:xfrm>
              <a:off x="5915254" y="391454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3.6x</a:t>
              </a:r>
              <a:endParaRPr lang="en-US" sz="800" dirty="0"/>
            </a:p>
          </p:txBody>
        </p:sp>
        <p:sp>
          <p:nvSpPr>
            <p:cNvPr id="102" name="Text 99">
              <a:extLst>
                <a:ext uri="{FF2B5EF4-FFF2-40B4-BE49-F238E27FC236}">
                  <a16:creationId xmlns:a16="http://schemas.microsoft.com/office/drawing/2014/main" id="{6E9E659F-DE9A-7248-AB7B-EAD02770B00F}"/>
                </a:ext>
              </a:extLst>
            </p:cNvPr>
            <p:cNvSpPr txBox="1"/>
            <p:nvPr/>
          </p:nvSpPr>
          <p:spPr>
            <a:xfrm>
              <a:off x="714146" y="4162349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кор.счетам (CORACC)</a:t>
              </a:r>
              <a:endParaRPr lang="en-US" sz="800" dirty="0"/>
            </a:p>
          </p:txBody>
        </p:sp>
        <p:sp>
          <p:nvSpPr>
            <p:cNvPr id="103" name="Text 100">
              <a:extLst>
                <a:ext uri="{FF2B5EF4-FFF2-40B4-BE49-F238E27FC236}">
                  <a16:creationId xmlns:a16="http://schemas.microsoft.com/office/drawing/2014/main" id="{0EC28130-6D0F-4F62-CE6E-8A59ABA4D85E}"/>
                </a:ext>
              </a:extLst>
            </p:cNvPr>
            <p:cNvSpPr txBox="1"/>
            <p:nvPr/>
          </p:nvSpPr>
          <p:spPr>
            <a:xfrm>
              <a:off x="3771900" y="41623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 мин 54 с</a:t>
              </a:r>
              <a:endParaRPr lang="en-US" sz="800" dirty="0"/>
            </a:p>
          </p:txBody>
        </p:sp>
        <p:sp>
          <p:nvSpPr>
            <p:cNvPr id="104" name="Text 101">
              <a:extLst>
                <a:ext uri="{FF2B5EF4-FFF2-40B4-BE49-F238E27FC236}">
                  <a16:creationId xmlns:a16="http://schemas.microsoft.com/office/drawing/2014/main" id="{4A10A29C-AFD4-C12B-85D4-731CFAE9CE72}"/>
                </a:ext>
              </a:extLst>
            </p:cNvPr>
            <p:cNvSpPr txBox="1"/>
            <p:nvPr/>
          </p:nvSpPr>
          <p:spPr>
            <a:xfrm>
              <a:off x="4486046" y="41623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25 с</a:t>
              </a:r>
              <a:endParaRPr lang="en-US" sz="800" dirty="0"/>
            </a:p>
          </p:txBody>
        </p:sp>
        <p:sp>
          <p:nvSpPr>
            <p:cNvPr id="105" name="Text 102">
              <a:extLst>
                <a:ext uri="{FF2B5EF4-FFF2-40B4-BE49-F238E27FC236}">
                  <a16:creationId xmlns:a16="http://schemas.microsoft.com/office/drawing/2014/main" id="{CBDBFB2E-68CC-02F0-FEA1-FBC039BB0200}"/>
                </a:ext>
              </a:extLst>
            </p:cNvPr>
            <p:cNvSpPr txBox="1"/>
            <p:nvPr/>
          </p:nvSpPr>
          <p:spPr>
            <a:xfrm>
              <a:off x="5201107" y="41623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 м 29 с</a:t>
              </a:r>
              <a:endParaRPr lang="en-US" sz="800" dirty="0"/>
            </a:p>
          </p:txBody>
        </p:sp>
        <p:sp>
          <p:nvSpPr>
            <p:cNvPr id="106" name="Text 103">
              <a:extLst>
                <a:ext uri="{FF2B5EF4-FFF2-40B4-BE49-F238E27FC236}">
                  <a16:creationId xmlns:a16="http://schemas.microsoft.com/office/drawing/2014/main" id="{51FC6C1E-3241-931D-B780-357D612EF6C4}"/>
                </a:ext>
              </a:extLst>
            </p:cNvPr>
            <p:cNvSpPr txBox="1"/>
            <p:nvPr/>
          </p:nvSpPr>
          <p:spPr>
            <a:xfrm>
              <a:off x="5915254" y="4162349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4.6x</a:t>
              </a:r>
              <a:endParaRPr lang="en-US" sz="800" dirty="0"/>
            </a:p>
          </p:txBody>
        </p:sp>
        <p:sp>
          <p:nvSpPr>
            <p:cNvPr id="107" name="Text 104">
              <a:extLst>
                <a:ext uri="{FF2B5EF4-FFF2-40B4-BE49-F238E27FC236}">
                  <a16:creationId xmlns:a16="http://schemas.microsoft.com/office/drawing/2014/main" id="{DD7B5CD3-BA62-DDD2-6181-9A339146527E}"/>
                </a:ext>
              </a:extLst>
            </p:cNvPr>
            <p:cNvSpPr txBox="1"/>
            <p:nvPr/>
          </p:nvSpPr>
          <p:spPr>
            <a:xfrm>
              <a:off x="714146" y="4410151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текущим счетам CBS</a:t>
              </a:r>
              <a:endParaRPr lang="en-US" sz="800" dirty="0"/>
            </a:p>
          </p:txBody>
        </p:sp>
        <p:sp>
          <p:nvSpPr>
            <p:cNvPr id="108" name="Text 105">
              <a:extLst>
                <a:ext uri="{FF2B5EF4-FFF2-40B4-BE49-F238E27FC236}">
                  <a16:creationId xmlns:a16="http://schemas.microsoft.com/office/drawing/2014/main" id="{FF26BAAF-B638-AED6-C9BA-0311F890C0DF}"/>
                </a:ext>
              </a:extLst>
            </p:cNvPr>
            <p:cNvSpPr txBox="1"/>
            <p:nvPr/>
          </p:nvSpPr>
          <p:spPr>
            <a:xfrm>
              <a:off x="3771900" y="44101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 мин 00 с</a:t>
              </a:r>
              <a:endParaRPr lang="en-US" sz="800" dirty="0"/>
            </a:p>
          </p:txBody>
        </p:sp>
        <p:sp>
          <p:nvSpPr>
            <p:cNvPr id="109" name="Text 106">
              <a:extLst>
                <a:ext uri="{FF2B5EF4-FFF2-40B4-BE49-F238E27FC236}">
                  <a16:creationId xmlns:a16="http://schemas.microsoft.com/office/drawing/2014/main" id="{CEFAC5E7-6104-11DC-24F3-91546665FC20}"/>
                </a:ext>
              </a:extLst>
            </p:cNvPr>
            <p:cNvSpPr txBox="1"/>
            <p:nvPr/>
          </p:nvSpPr>
          <p:spPr>
            <a:xfrm>
              <a:off x="4486046" y="44101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28 с</a:t>
              </a:r>
              <a:endParaRPr lang="en-US" sz="800" dirty="0"/>
            </a:p>
          </p:txBody>
        </p:sp>
        <p:sp>
          <p:nvSpPr>
            <p:cNvPr id="110" name="Text 107">
              <a:extLst>
                <a:ext uri="{FF2B5EF4-FFF2-40B4-BE49-F238E27FC236}">
                  <a16:creationId xmlns:a16="http://schemas.microsoft.com/office/drawing/2014/main" id="{E43EE437-0E4B-8939-CEFD-A06ACAC754C2}"/>
                </a:ext>
              </a:extLst>
            </p:cNvPr>
            <p:cNvSpPr txBox="1"/>
            <p:nvPr/>
          </p:nvSpPr>
          <p:spPr>
            <a:xfrm>
              <a:off x="5201107" y="44101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-2 м 32 с</a:t>
              </a:r>
              <a:endParaRPr lang="en-US" sz="800" dirty="0"/>
            </a:p>
          </p:txBody>
        </p:sp>
        <p:sp>
          <p:nvSpPr>
            <p:cNvPr id="111" name="Text 108">
              <a:extLst>
                <a:ext uri="{FF2B5EF4-FFF2-40B4-BE49-F238E27FC236}">
                  <a16:creationId xmlns:a16="http://schemas.microsoft.com/office/drawing/2014/main" id="{E3808A52-D9A8-959D-EE74-043E907C80D8}"/>
                </a:ext>
              </a:extLst>
            </p:cNvPr>
            <p:cNvSpPr txBox="1"/>
            <p:nvPr/>
          </p:nvSpPr>
          <p:spPr>
            <a:xfrm>
              <a:off x="5915254" y="4410151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6.4x</a:t>
              </a:r>
              <a:endParaRPr lang="en-US" sz="800" dirty="0"/>
            </a:p>
          </p:txBody>
        </p:sp>
        <p:sp>
          <p:nvSpPr>
            <p:cNvPr id="112" name="Text 109">
              <a:extLst>
                <a:ext uri="{FF2B5EF4-FFF2-40B4-BE49-F238E27FC236}">
                  <a16:creationId xmlns:a16="http://schemas.microsoft.com/office/drawing/2014/main" id="{0B6C68FF-A215-8DC9-855C-26F187EA9001}"/>
                </a:ext>
              </a:extLst>
            </p:cNvPr>
            <p:cNvSpPr txBox="1"/>
            <p:nvPr/>
          </p:nvSpPr>
          <p:spPr>
            <a:xfrm>
              <a:off x="714146" y="465795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сейфам CBS</a:t>
              </a:r>
              <a:endParaRPr lang="en-US" sz="800" dirty="0"/>
            </a:p>
          </p:txBody>
        </p:sp>
        <p:sp>
          <p:nvSpPr>
            <p:cNvPr id="113" name="Text 110">
              <a:extLst>
                <a:ext uri="{FF2B5EF4-FFF2-40B4-BE49-F238E27FC236}">
                  <a16:creationId xmlns:a16="http://schemas.microsoft.com/office/drawing/2014/main" id="{6FE2200B-FD2C-2100-A31C-796F40137527}"/>
                </a:ext>
              </a:extLst>
            </p:cNvPr>
            <p:cNvSpPr txBox="1"/>
            <p:nvPr/>
          </p:nvSpPr>
          <p:spPr>
            <a:xfrm>
              <a:off x="3771900" y="46579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 мин 23 с</a:t>
              </a:r>
              <a:endParaRPr lang="en-US" sz="800" dirty="0"/>
            </a:p>
          </p:txBody>
        </p:sp>
        <p:sp>
          <p:nvSpPr>
            <p:cNvPr id="114" name="Text 111">
              <a:extLst>
                <a:ext uri="{FF2B5EF4-FFF2-40B4-BE49-F238E27FC236}">
                  <a16:creationId xmlns:a16="http://schemas.microsoft.com/office/drawing/2014/main" id="{ECE88E0E-292B-5379-3709-D9EB05335E54}"/>
                </a:ext>
              </a:extLst>
            </p:cNvPr>
            <p:cNvSpPr txBox="1"/>
            <p:nvPr/>
          </p:nvSpPr>
          <p:spPr>
            <a:xfrm>
              <a:off x="4486046" y="46579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23 с</a:t>
              </a:r>
              <a:endParaRPr lang="en-US" sz="800" dirty="0"/>
            </a:p>
          </p:txBody>
        </p:sp>
        <p:sp>
          <p:nvSpPr>
            <p:cNvPr id="115" name="Text 112">
              <a:extLst>
                <a:ext uri="{FF2B5EF4-FFF2-40B4-BE49-F238E27FC236}">
                  <a16:creationId xmlns:a16="http://schemas.microsoft.com/office/drawing/2014/main" id="{EEC25665-7607-6BE8-86CC-DAB71D57229D}"/>
                </a:ext>
              </a:extLst>
            </p:cNvPr>
            <p:cNvSpPr txBox="1"/>
            <p:nvPr/>
          </p:nvSpPr>
          <p:spPr>
            <a:xfrm>
              <a:off x="5201107" y="46579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 м 00 с</a:t>
              </a:r>
              <a:endParaRPr lang="en-US" sz="800" dirty="0"/>
            </a:p>
          </p:txBody>
        </p:sp>
        <p:sp>
          <p:nvSpPr>
            <p:cNvPr id="116" name="Text 113">
              <a:extLst>
                <a:ext uri="{FF2B5EF4-FFF2-40B4-BE49-F238E27FC236}">
                  <a16:creationId xmlns:a16="http://schemas.microsoft.com/office/drawing/2014/main" id="{031C0456-58D3-B695-805A-1BA03E11FD97}"/>
                </a:ext>
              </a:extLst>
            </p:cNvPr>
            <p:cNvSpPr txBox="1"/>
            <p:nvPr/>
          </p:nvSpPr>
          <p:spPr>
            <a:xfrm>
              <a:off x="5915254" y="465795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3.6x</a:t>
              </a:r>
              <a:endParaRPr lang="en-US" sz="800" dirty="0"/>
            </a:p>
          </p:txBody>
        </p:sp>
        <p:sp>
          <p:nvSpPr>
            <p:cNvPr id="117" name="Text 114">
              <a:extLst>
                <a:ext uri="{FF2B5EF4-FFF2-40B4-BE49-F238E27FC236}">
                  <a16:creationId xmlns:a16="http://schemas.microsoft.com/office/drawing/2014/main" id="{03CA9E56-1DDF-08F8-83D9-5771C974972B}"/>
                </a:ext>
              </a:extLst>
            </p:cNvPr>
            <p:cNvSpPr txBox="1"/>
            <p:nvPr/>
          </p:nvSpPr>
          <p:spPr>
            <a:xfrm>
              <a:off x="714146" y="490575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финансов CBS с ГГК</a:t>
              </a:r>
              <a:endParaRPr lang="en-US" sz="800" dirty="0"/>
            </a:p>
          </p:txBody>
        </p:sp>
        <p:sp>
          <p:nvSpPr>
            <p:cNvPr id="118" name="Text 115">
              <a:extLst>
                <a:ext uri="{FF2B5EF4-FFF2-40B4-BE49-F238E27FC236}">
                  <a16:creationId xmlns:a16="http://schemas.microsoft.com/office/drawing/2014/main" id="{9ADDCB59-E7A9-7158-B608-3C78093D7148}"/>
                </a:ext>
              </a:extLst>
            </p:cNvPr>
            <p:cNvSpPr txBox="1"/>
            <p:nvPr/>
          </p:nvSpPr>
          <p:spPr>
            <a:xfrm>
              <a:off x="3771900" y="49057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 мин 14 с</a:t>
              </a:r>
              <a:endParaRPr lang="en-US" sz="800" dirty="0"/>
            </a:p>
          </p:txBody>
        </p:sp>
        <p:sp>
          <p:nvSpPr>
            <p:cNvPr id="119" name="Text 116">
              <a:extLst>
                <a:ext uri="{FF2B5EF4-FFF2-40B4-BE49-F238E27FC236}">
                  <a16:creationId xmlns:a16="http://schemas.microsoft.com/office/drawing/2014/main" id="{B998947A-1D4C-B713-3805-0F4FEBF48C54}"/>
                </a:ext>
              </a:extLst>
            </p:cNvPr>
            <p:cNvSpPr txBox="1"/>
            <p:nvPr/>
          </p:nvSpPr>
          <p:spPr>
            <a:xfrm>
              <a:off x="4486046" y="49057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22 с</a:t>
              </a:r>
              <a:endParaRPr lang="en-US" sz="800" dirty="0"/>
            </a:p>
          </p:txBody>
        </p:sp>
        <p:sp>
          <p:nvSpPr>
            <p:cNvPr id="120" name="Text 117">
              <a:extLst>
                <a:ext uri="{FF2B5EF4-FFF2-40B4-BE49-F238E27FC236}">
                  <a16:creationId xmlns:a16="http://schemas.microsoft.com/office/drawing/2014/main" id="{C5011D52-51A0-5B66-B97E-68B37EB55E57}"/>
                </a:ext>
              </a:extLst>
            </p:cNvPr>
            <p:cNvSpPr txBox="1"/>
            <p:nvPr/>
          </p:nvSpPr>
          <p:spPr>
            <a:xfrm>
              <a:off x="5201107" y="490575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-7 м 52 с</a:t>
              </a:r>
              <a:endParaRPr lang="en-US" sz="800" dirty="0"/>
            </a:p>
          </p:txBody>
        </p:sp>
        <p:sp>
          <p:nvSpPr>
            <p:cNvPr id="121" name="Text 118">
              <a:extLst>
                <a:ext uri="{FF2B5EF4-FFF2-40B4-BE49-F238E27FC236}">
                  <a16:creationId xmlns:a16="http://schemas.microsoft.com/office/drawing/2014/main" id="{6B20C975-FD90-14D5-31B0-4215559CC8C4}"/>
                </a:ext>
              </a:extLst>
            </p:cNvPr>
            <p:cNvSpPr txBox="1"/>
            <p:nvPr/>
          </p:nvSpPr>
          <p:spPr>
            <a:xfrm>
              <a:off x="5915254" y="490575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22.5x</a:t>
              </a:r>
              <a:endParaRPr lang="en-US" sz="800" dirty="0"/>
            </a:p>
          </p:txBody>
        </p:sp>
        <p:sp>
          <p:nvSpPr>
            <p:cNvPr id="122" name="Text 119">
              <a:extLst>
                <a:ext uri="{FF2B5EF4-FFF2-40B4-BE49-F238E27FC236}">
                  <a16:creationId xmlns:a16="http://schemas.microsoft.com/office/drawing/2014/main" id="{07242A22-11AD-3EB1-C6DA-F26727CE344D}"/>
                </a:ext>
              </a:extLst>
            </p:cNvPr>
            <p:cNvSpPr txBox="1"/>
            <p:nvPr/>
          </p:nvSpPr>
          <p:spPr>
            <a:xfrm>
              <a:off x="714146" y="515264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по МБД_МБК</a:t>
              </a:r>
              <a:endParaRPr lang="en-US" sz="800" dirty="0"/>
            </a:p>
          </p:txBody>
        </p:sp>
        <p:sp>
          <p:nvSpPr>
            <p:cNvPr id="123" name="Text 120">
              <a:extLst>
                <a:ext uri="{FF2B5EF4-FFF2-40B4-BE49-F238E27FC236}">
                  <a16:creationId xmlns:a16="http://schemas.microsoft.com/office/drawing/2014/main" id="{F1D89BC7-9BB7-CA5D-A301-F02799C6D1C0}"/>
                </a:ext>
              </a:extLst>
            </p:cNvPr>
            <p:cNvSpPr txBox="1"/>
            <p:nvPr/>
          </p:nvSpPr>
          <p:spPr>
            <a:xfrm>
              <a:off x="3771900" y="51526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 мин 47 с</a:t>
              </a:r>
              <a:endParaRPr lang="en-US" sz="800" dirty="0"/>
            </a:p>
          </p:txBody>
        </p:sp>
        <p:sp>
          <p:nvSpPr>
            <p:cNvPr id="124" name="Text 121">
              <a:extLst>
                <a:ext uri="{FF2B5EF4-FFF2-40B4-BE49-F238E27FC236}">
                  <a16:creationId xmlns:a16="http://schemas.microsoft.com/office/drawing/2014/main" id="{20336EB9-01B9-104A-1D32-4DE63BC2A43B}"/>
                </a:ext>
              </a:extLst>
            </p:cNvPr>
            <p:cNvSpPr txBox="1"/>
            <p:nvPr/>
          </p:nvSpPr>
          <p:spPr>
            <a:xfrm>
              <a:off x="4486046" y="51526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23 с</a:t>
              </a:r>
              <a:endParaRPr lang="en-US" sz="800" dirty="0"/>
            </a:p>
          </p:txBody>
        </p:sp>
        <p:sp>
          <p:nvSpPr>
            <p:cNvPr id="125" name="Text 122">
              <a:extLst>
                <a:ext uri="{FF2B5EF4-FFF2-40B4-BE49-F238E27FC236}">
                  <a16:creationId xmlns:a16="http://schemas.microsoft.com/office/drawing/2014/main" id="{7F833629-08A4-D305-CD25-9F53DD108B06}"/>
                </a:ext>
              </a:extLst>
            </p:cNvPr>
            <p:cNvSpPr txBox="1"/>
            <p:nvPr/>
          </p:nvSpPr>
          <p:spPr>
            <a:xfrm>
              <a:off x="5201107" y="515264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-2 м 24 с</a:t>
              </a:r>
              <a:endParaRPr lang="en-US" sz="800" dirty="0"/>
            </a:p>
          </p:txBody>
        </p:sp>
        <p:sp>
          <p:nvSpPr>
            <p:cNvPr id="126" name="Text 123">
              <a:extLst>
                <a:ext uri="{FF2B5EF4-FFF2-40B4-BE49-F238E27FC236}">
                  <a16:creationId xmlns:a16="http://schemas.microsoft.com/office/drawing/2014/main" id="{3B08D9AC-1607-DDDA-F556-5FD30F2DB557}"/>
                </a:ext>
              </a:extLst>
            </p:cNvPr>
            <p:cNvSpPr txBox="1"/>
            <p:nvPr/>
          </p:nvSpPr>
          <p:spPr>
            <a:xfrm>
              <a:off x="5915254" y="515264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7.3x</a:t>
              </a:r>
              <a:endParaRPr lang="en-US" sz="800" dirty="0"/>
            </a:p>
          </p:txBody>
        </p:sp>
        <p:sp>
          <p:nvSpPr>
            <p:cNvPr id="127" name="Text 124">
              <a:extLst>
                <a:ext uri="{FF2B5EF4-FFF2-40B4-BE49-F238E27FC236}">
                  <a16:creationId xmlns:a16="http://schemas.microsoft.com/office/drawing/2014/main" id="{04FA65EC-7714-9CE4-54B5-454F1603CED3}"/>
                </a:ext>
              </a:extLst>
            </p:cNvPr>
            <p:cNvSpPr txBox="1"/>
            <p:nvPr/>
          </p:nvSpPr>
          <p:spPr>
            <a:xfrm>
              <a:off x="714146" y="5400446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Торговые операции CBS</a:t>
              </a:r>
              <a:endParaRPr lang="en-US" sz="800" dirty="0"/>
            </a:p>
          </p:txBody>
        </p:sp>
        <p:sp>
          <p:nvSpPr>
            <p:cNvPr id="128" name="Text 125">
              <a:extLst>
                <a:ext uri="{FF2B5EF4-FFF2-40B4-BE49-F238E27FC236}">
                  <a16:creationId xmlns:a16="http://schemas.microsoft.com/office/drawing/2014/main" id="{8DB28E34-7021-EA2A-DA89-3F971D1DE0AD}"/>
                </a:ext>
              </a:extLst>
            </p:cNvPr>
            <p:cNvSpPr txBox="1"/>
            <p:nvPr/>
          </p:nvSpPr>
          <p:spPr>
            <a:xfrm>
              <a:off x="3771900" y="54004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9 мин 29 с</a:t>
              </a:r>
              <a:endParaRPr lang="en-US" sz="800" dirty="0"/>
            </a:p>
          </p:txBody>
        </p:sp>
        <p:sp>
          <p:nvSpPr>
            <p:cNvPr id="129" name="Text 126">
              <a:extLst>
                <a:ext uri="{FF2B5EF4-FFF2-40B4-BE49-F238E27FC236}">
                  <a16:creationId xmlns:a16="http://schemas.microsoft.com/office/drawing/2014/main" id="{87FD9965-3336-ECEB-3451-F3BF4C90B5E9}"/>
                </a:ext>
              </a:extLst>
            </p:cNvPr>
            <p:cNvSpPr txBox="1"/>
            <p:nvPr/>
          </p:nvSpPr>
          <p:spPr>
            <a:xfrm>
              <a:off x="4486046" y="54004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49 с</a:t>
              </a:r>
              <a:endParaRPr lang="en-US" sz="800" dirty="0"/>
            </a:p>
          </p:txBody>
        </p:sp>
        <p:sp>
          <p:nvSpPr>
            <p:cNvPr id="130" name="Text 127">
              <a:extLst>
                <a:ext uri="{FF2B5EF4-FFF2-40B4-BE49-F238E27FC236}">
                  <a16:creationId xmlns:a16="http://schemas.microsoft.com/office/drawing/2014/main" id="{320E411B-6D0D-3AF8-F830-94614776EBA6}"/>
                </a:ext>
              </a:extLst>
            </p:cNvPr>
            <p:cNvSpPr txBox="1"/>
            <p:nvPr/>
          </p:nvSpPr>
          <p:spPr>
            <a:xfrm>
              <a:off x="5201107" y="5400446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-8 м 40 с</a:t>
              </a:r>
              <a:endParaRPr lang="en-US" sz="800" dirty="0"/>
            </a:p>
          </p:txBody>
        </p:sp>
        <p:sp>
          <p:nvSpPr>
            <p:cNvPr id="131" name="Text 128">
              <a:extLst>
                <a:ext uri="{FF2B5EF4-FFF2-40B4-BE49-F238E27FC236}">
                  <a16:creationId xmlns:a16="http://schemas.microsoft.com/office/drawing/2014/main" id="{18991B70-E797-CDB0-CBFD-F34399433D12}"/>
                </a:ext>
              </a:extLst>
            </p:cNvPr>
            <p:cNvSpPr txBox="1"/>
            <p:nvPr/>
          </p:nvSpPr>
          <p:spPr>
            <a:xfrm>
              <a:off x="5915254" y="5400446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11.6x</a:t>
              </a:r>
              <a:endParaRPr lang="en-US" sz="800" dirty="0"/>
            </a:p>
          </p:txBody>
        </p:sp>
        <p:sp>
          <p:nvSpPr>
            <p:cNvPr id="132" name="Text 129">
              <a:extLst>
                <a:ext uri="{FF2B5EF4-FFF2-40B4-BE49-F238E27FC236}">
                  <a16:creationId xmlns:a16="http://schemas.microsoft.com/office/drawing/2014/main" id="{6ECCA61B-FF4F-FC68-85CB-5FD5E43907EC}"/>
                </a:ext>
              </a:extLst>
            </p:cNvPr>
            <p:cNvSpPr txBox="1"/>
            <p:nvPr/>
          </p:nvSpPr>
          <p:spPr>
            <a:xfrm>
              <a:off x="714146" y="5648249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Сверочный отчет финансов CRS3 с ГГК</a:t>
              </a:r>
              <a:endParaRPr lang="en-US" sz="800" dirty="0"/>
            </a:p>
          </p:txBody>
        </p:sp>
        <p:sp>
          <p:nvSpPr>
            <p:cNvPr id="133" name="Text 130">
              <a:extLst>
                <a:ext uri="{FF2B5EF4-FFF2-40B4-BE49-F238E27FC236}">
                  <a16:creationId xmlns:a16="http://schemas.microsoft.com/office/drawing/2014/main" id="{A26383B4-095A-6DE5-0596-CBB0DC98D26C}"/>
                </a:ext>
              </a:extLst>
            </p:cNvPr>
            <p:cNvSpPr txBox="1"/>
            <p:nvPr/>
          </p:nvSpPr>
          <p:spPr>
            <a:xfrm>
              <a:off x="3771900" y="56482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13 мин 23 с</a:t>
              </a:r>
              <a:endParaRPr lang="en-US" sz="800" dirty="0"/>
            </a:p>
          </p:txBody>
        </p:sp>
        <p:sp>
          <p:nvSpPr>
            <p:cNvPr id="134" name="Text 131">
              <a:extLst>
                <a:ext uri="{FF2B5EF4-FFF2-40B4-BE49-F238E27FC236}">
                  <a16:creationId xmlns:a16="http://schemas.microsoft.com/office/drawing/2014/main" id="{BF0DE70A-F7C6-2780-7F1A-0CC1B270AAAF}"/>
                </a:ext>
              </a:extLst>
            </p:cNvPr>
            <p:cNvSpPr txBox="1"/>
            <p:nvPr/>
          </p:nvSpPr>
          <p:spPr>
            <a:xfrm>
              <a:off x="4486046" y="56482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19 с</a:t>
              </a:r>
              <a:endParaRPr lang="en-US" sz="800" dirty="0"/>
            </a:p>
          </p:txBody>
        </p:sp>
        <p:sp>
          <p:nvSpPr>
            <p:cNvPr id="135" name="Text 132">
              <a:extLst>
                <a:ext uri="{FF2B5EF4-FFF2-40B4-BE49-F238E27FC236}">
                  <a16:creationId xmlns:a16="http://schemas.microsoft.com/office/drawing/2014/main" id="{8AD006F5-E729-1671-65EA-BE4197340FD4}"/>
                </a:ext>
              </a:extLst>
            </p:cNvPr>
            <p:cNvSpPr txBox="1"/>
            <p:nvPr/>
          </p:nvSpPr>
          <p:spPr>
            <a:xfrm>
              <a:off x="5201107" y="5648249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-13 м 4 с</a:t>
              </a:r>
              <a:endParaRPr lang="en-US" sz="800" dirty="0"/>
            </a:p>
          </p:txBody>
        </p:sp>
        <p:sp>
          <p:nvSpPr>
            <p:cNvPr id="136" name="Text 133">
              <a:extLst>
                <a:ext uri="{FF2B5EF4-FFF2-40B4-BE49-F238E27FC236}">
                  <a16:creationId xmlns:a16="http://schemas.microsoft.com/office/drawing/2014/main" id="{150EB94C-5005-FD29-8A2D-080BE090F195}"/>
                </a:ext>
              </a:extLst>
            </p:cNvPr>
            <p:cNvSpPr txBox="1"/>
            <p:nvPr/>
          </p:nvSpPr>
          <p:spPr>
            <a:xfrm>
              <a:off x="5915254" y="5648249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42.3x</a:t>
              </a:r>
              <a:endParaRPr lang="en-US" sz="800" dirty="0"/>
            </a:p>
          </p:txBody>
        </p:sp>
        <p:sp>
          <p:nvSpPr>
            <p:cNvPr id="137" name="Text 134">
              <a:extLst>
                <a:ext uri="{FF2B5EF4-FFF2-40B4-BE49-F238E27FC236}">
                  <a16:creationId xmlns:a16="http://schemas.microsoft.com/office/drawing/2014/main" id="{2E7FAD95-61C3-E809-34F7-785730C73282}"/>
                </a:ext>
              </a:extLst>
            </p:cNvPr>
            <p:cNvSpPr txBox="1"/>
            <p:nvPr/>
          </p:nvSpPr>
          <p:spPr>
            <a:xfrm>
              <a:off x="714146" y="5896051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Сверка по Залогам МУО</a:t>
              </a:r>
              <a:endParaRPr lang="en-US" sz="800" dirty="0"/>
            </a:p>
          </p:txBody>
        </p:sp>
        <p:sp>
          <p:nvSpPr>
            <p:cNvPr id="138" name="Text 135">
              <a:extLst>
                <a:ext uri="{FF2B5EF4-FFF2-40B4-BE49-F238E27FC236}">
                  <a16:creationId xmlns:a16="http://schemas.microsoft.com/office/drawing/2014/main" id="{383560A3-2F6A-13E3-45CE-B3B4C253578D}"/>
                </a:ext>
              </a:extLst>
            </p:cNvPr>
            <p:cNvSpPr txBox="1"/>
            <p:nvPr/>
          </p:nvSpPr>
          <p:spPr>
            <a:xfrm>
              <a:off x="3771900" y="58960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10 мин 28 с</a:t>
              </a:r>
              <a:endParaRPr lang="en-US" sz="800" dirty="0"/>
            </a:p>
          </p:txBody>
        </p:sp>
        <p:sp>
          <p:nvSpPr>
            <p:cNvPr id="139" name="Text 136">
              <a:extLst>
                <a:ext uri="{FF2B5EF4-FFF2-40B4-BE49-F238E27FC236}">
                  <a16:creationId xmlns:a16="http://schemas.microsoft.com/office/drawing/2014/main" id="{9DF27602-7B6D-63A6-BC1B-B6C39DDC9EFD}"/>
                </a:ext>
              </a:extLst>
            </p:cNvPr>
            <p:cNvSpPr txBox="1"/>
            <p:nvPr/>
          </p:nvSpPr>
          <p:spPr>
            <a:xfrm>
              <a:off x="4486046" y="58960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 мин 33 с</a:t>
              </a:r>
              <a:endParaRPr lang="en-US" sz="800" dirty="0"/>
            </a:p>
          </p:txBody>
        </p:sp>
        <p:sp>
          <p:nvSpPr>
            <p:cNvPr id="140" name="Text 137">
              <a:extLst>
                <a:ext uri="{FF2B5EF4-FFF2-40B4-BE49-F238E27FC236}">
                  <a16:creationId xmlns:a16="http://schemas.microsoft.com/office/drawing/2014/main" id="{D7903433-80D4-9757-62C5-152F28506EB7}"/>
                </a:ext>
              </a:extLst>
            </p:cNvPr>
            <p:cNvSpPr txBox="1"/>
            <p:nvPr/>
          </p:nvSpPr>
          <p:spPr>
            <a:xfrm>
              <a:off x="5201107" y="5896051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-5 м 55 с</a:t>
              </a:r>
              <a:endParaRPr lang="en-US" sz="800" dirty="0"/>
            </a:p>
          </p:txBody>
        </p:sp>
        <p:sp>
          <p:nvSpPr>
            <p:cNvPr id="141" name="Text 138">
              <a:extLst>
                <a:ext uri="{FF2B5EF4-FFF2-40B4-BE49-F238E27FC236}">
                  <a16:creationId xmlns:a16="http://schemas.microsoft.com/office/drawing/2014/main" id="{C1BCAC6E-6376-D242-1379-F3FB5EDCAEA6}"/>
                </a:ext>
              </a:extLst>
            </p:cNvPr>
            <p:cNvSpPr txBox="1"/>
            <p:nvPr/>
          </p:nvSpPr>
          <p:spPr>
            <a:xfrm>
              <a:off x="5915254" y="5896051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2.3x</a:t>
              </a:r>
              <a:endParaRPr lang="en-US" sz="800" dirty="0"/>
            </a:p>
          </p:txBody>
        </p:sp>
        <p:sp>
          <p:nvSpPr>
            <p:cNvPr id="142" name="Text 139">
              <a:extLst>
                <a:ext uri="{FF2B5EF4-FFF2-40B4-BE49-F238E27FC236}">
                  <a16:creationId xmlns:a16="http://schemas.microsoft.com/office/drawing/2014/main" id="{880C8061-E0C0-C156-6750-806301EE7C49}"/>
                </a:ext>
              </a:extLst>
            </p:cNvPr>
            <p:cNvSpPr txBox="1"/>
            <p:nvPr/>
          </p:nvSpPr>
          <p:spPr>
            <a:xfrm>
              <a:off x="714146" y="6143854"/>
              <a:ext cx="33055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Отчет по остаткам ОС и ДК</a:t>
              </a:r>
              <a:endParaRPr lang="en-US" sz="800" dirty="0"/>
            </a:p>
          </p:txBody>
        </p:sp>
        <p:sp>
          <p:nvSpPr>
            <p:cNvPr id="143" name="Text 140">
              <a:extLst>
                <a:ext uri="{FF2B5EF4-FFF2-40B4-BE49-F238E27FC236}">
                  <a16:creationId xmlns:a16="http://schemas.microsoft.com/office/drawing/2014/main" id="{15FA9913-EA84-1C2A-1ED3-970B9A154259}"/>
                </a:ext>
              </a:extLst>
            </p:cNvPr>
            <p:cNvSpPr txBox="1"/>
            <p:nvPr/>
          </p:nvSpPr>
          <p:spPr>
            <a:xfrm>
              <a:off x="3771900" y="61438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 мин 26 с</a:t>
              </a:r>
              <a:endParaRPr lang="en-US" sz="800" dirty="0"/>
            </a:p>
          </p:txBody>
        </p:sp>
        <p:sp>
          <p:nvSpPr>
            <p:cNvPr id="144" name="Text 141">
              <a:extLst>
                <a:ext uri="{FF2B5EF4-FFF2-40B4-BE49-F238E27FC236}">
                  <a16:creationId xmlns:a16="http://schemas.microsoft.com/office/drawing/2014/main" id="{555DF6D0-9478-336F-21DE-2EB77365F59D}"/>
                </a:ext>
              </a:extLst>
            </p:cNvPr>
            <p:cNvSpPr txBox="1"/>
            <p:nvPr/>
          </p:nvSpPr>
          <p:spPr>
            <a:xfrm>
              <a:off x="4486046" y="61438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38 с</a:t>
              </a:r>
              <a:endParaRPr lang="en-US" sz="800" dirty="0"/>
            </a:p>
          </p:txBody>
        </p:sp>
        <p:sp>
          <p:nvSpPr>
            <p:cNvPr id="145" name="Text 142">
              <a:extLst>
                <a:ext uri="{FF2B5EF4-FFF2-40B4-BE49-F238E27FC236}">
                  <a16:creationId xmlns:a16="http://schemas.microsoft.com/office/drawing/2014/main" id="{BE860895-EB2D-2F66-5165-FFB390F97578}"/>
                </a:ext>
              </a:extLst>
            </p:cNvPr>
            <p:cNvSpPr txBox="1"/>
            <p:nvPr/>
          </p:nvSpPr>
          <p:spPr>
            <a:xfrm>
              <a:off x="5201107" y="6143854"/>
              <a:ext cx="790956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333333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-2 м 48 с</a:t>
              </a:r>
              <a:endParaRPr lang="en-US" sz="800" dirty="0"/>
            </a:p>
          </p:txBody>
        </p:sp>
        <p:sp>
          <p:nvSpPr>
            <p:cNvPr id="146" name="Text 143">
              <a:extLst>
                <a:ext uri="{FF2B5EF4-FFF2-40B4-BE49-F238E27FC236}">
                  <a16:creationId xmlns:a16="http://schemas.microsoft.com/office/drawing/2014/main" id="{DBF75170-14D2-1DD1-4FFC-E5A398C382A5}"/>
                </a:ext>
              </a:extLst>
            </p:cNvPr>
            <p:cNvSpPr txBox="1"/>
            <p:nvPr/>
          </p:nvSpPr>
          <p:spPr>
            <a:xfrm>
              <a:off x="5915254" y="6143854"/>
              <a:ext cx="79095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09845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5.4x</a:t>
              </a:r>
              <a:endParaRPr lang="en-US" sz="800" dirty="0"/>
            </a:p>
          </p:txBody>
        </p:sp>
      </p:grpSp>
      <p:sp>
        <p:nvSpPr>
          <p:cNvPr id="147" name="Text 144">
            <a:extLst>
              <a:ext uri="{FF2B5EF4-FFF2-40B4-BE49-F238E27FC236}">
                <a16:creationId xmlns:a16="http://schemas.microsoft.com/office/drawing/2014/main" id="{15F43ACC-7C2A-25F4-1B63-9F58DFEC6EE0}"/>
              </a:ext>
            </a:extLst>
          </p:cNvPr>
          <p:cNvSpPr txBox="1"/>
          <p:nvPr/>
        </p:nvSpPr>
        <p:spPr>
          <a:xfrm>
            <a:off x="7572342" y="1380745"/>
            <a:ext cx="4105459" cy="10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ВИЗУАЛЬНОЕ СРАВНЕНИЕ ВРЕМЕНИ (мин)</a:t>
            </a:r>
            <a:endParaRPr lang="en-US" sz="1000" dirty="0"/>
          </a:p>
        </p:txBody>
      </p:sp>
      <p:sp>
        <p:nvSpPr>
          <p:cNvPr id="149" name="Text 145">
            <a:extLst>
              <a:ext uri="{FF2B5EF4-FFF2-40B4-BE49-F238E27FC236}">
                <a16:creationId xmlns:a16="http://schemas.microsoft.com/office/drawing/2014/main" id="{417FE05E-5596-0716-69F0-8F05596004EC}"/>
              </a:ext>
            </a:extLst>
          </p:cNvPr>
          <p:cNvSpPr txBox="1"/>
          <p:nvPr/>
        </p:nvSpPr>
        <p:spPr>
          <a:xfrm>
            <a:off x="2097534" y="6456184"/>
            <a:ext cx="4267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Значительное сокращение времени формирования на платформе YMatrix </a:t>
            </a:r>
            <a:endParaRPr lang="en-US" sz="800" dirty="0"/>
          </a:p>
        </p:txBody>
      </p:sp>
      <p:sp>
        <p:nvSpPr>
          <p:cNvPr id="150" name="Text 146">
            <a:extLst>
              <a:ext uri="{FF2B5EF4-FFF2-40B4-BE49-F238E27FC236}">
                <a16:creationId xmlns:a16="http://schemas.microsoft.com/office/drawing/2014/main" id="{09E55329-92C4-FAAA-0C51-F836FF235E4D}"/>
              </a:ext>
            </a:extLst>
          </p:cNvPr>
          <p:cNvSpPr txBox="1"/>
          <p:nvPr/>
        </p:nvSpPr>
        <p:spPr>
          <a:xfrm>
            <a:off x="571500" y="6476695"/>
            <a:ext cx="228600" cy="18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D38C906-A0B2-F5CF-F0FD-C3FE7CB379AC}"/>
              </a:ext>
            </a:extLst>
          </p:cNvPr>
          <p:cNvSpPr txBox="1"/>
          <p:nvPr/>
        </p:nvSpPr>
        <p:spPr>
          <a:xfrm>
            <a:off x="8131449" y="6397799"/>
            <a:ext cx="1106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Oracle </a:t>
            </a:r>
            <a:endParaRPr lang="ru-KZ" sz="11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C619876-DB2A-1FDA-7159-31E7323929D3}"/>
              </a:ext>
            </a:extLst>
          </p:cNvPr>
          <p:cNvSpPr txBox="1"/>
          <p:nvPr/>
        </p:nvSpPr>
        <p:spPr>
          <a:xfrm>
            <a:off x="9238081" y="6391814"/>
            <a:ext cx="1712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98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YMatrix (Greenplum) </a:t>
            </a:r>
            <a:endParaRPr lang="ru-KZ" sz="11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B0BA121-757F-6D93-3CCA-1EBEAD675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105152"/>
              </p:ext>
            </p:extLst>
          </p:nvPr>
        </p:nvGraphicFramePr>
        <p:xfrm>
          <a:off x="7572343" y="1637691"/>
          <a:ext cx="4105459" cy="4605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7208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95605"/>
            <a:ext cx="10592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результаты миграции на YMATRIX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914400"/>
            <a:ext cx="7734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Показатели эффективности на основе анализа 19 ключевых отчётов</a:t>
            </a:r>
            <a:endParaRPr lang="en-US" sz="1200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63BA177C-0A87-0CE4-4439-682B1DE7DCA9}"/>
              </a:ext>
            </a:extLst>
          </p:cNvPr>
          <p:cNvGrpSpPr/>
          <p:nvPr/>
        </p:nvGrpSpPr>
        <p:grpSpPr>
          <a:xfrm>
            <a:off x="571500" y="1422400"/>
            <a:ext cx="5410200" cy="1549400"/>
            <a:chOff x="571500" y="1429207"/>
            <a:chExt cx="5352898" cy="1543507"/>
          </a:xfrm>
        </p:grpSpPr>
        <p:sp>
          <p:nvSpPr>
            <p:cNvPr id="6" name="Shape 3"/>
            <p:cNvSpPr/>
            <p:nvPr/>
          </p:nvSpPr>
          <p:spPr>
            <a:xfrm>
              <a:off x="571500" y="1429207"/>
              <a:ext cx="5352898" cy="1543507"/>
            </a:xfrm>
            <a:prstGeom prst="roundRect">
              <a:avLst>
                <a:gd name="adj" fmla="val 5851"/>
              </a:avLst>
            </a:prstGeom>
            <a:solidFill>
              <a:srgbClr val="F0FDF4"/>
            </a:solidFill>
            <a:ln w="12700">
              <a:solidFill>
                <a:srgbClr val="DCFCE7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52805" y="1802282"/>
              <a:ext cx="476402" cy="476402"/>
            </a:xfrm>
            <a:prstGeom prst="rect">
              <a:avLst/>
            </a:prstGeom>
          </p:spPr>
        </p:pic>
        <p:sp>
          <p:nvSpPr>
            <p:cNvPr id="8" name="Text 4"/>
            <p:cNvSpPr txBox="1"/>
            <p:nvPr/>
          </p:nvSpPr>
          <p:spPr>
            <a:xfrm>
              <a:off x="1809598" y="1666951"/>
              <a:ext cx="3810305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0984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9.8x</a:t>
              </a:r>
              <a:endParaRPr lang="en-US" sz="3600" dirty="0"/>
            </a:p>
          </p:txBody>
        </p:sp>
        <p:sp>
          <p:nvSpPr>
            <p:cNvPr id="9" name="Text 5"/>
            <p:cNvSpPr txBox="1"/>
            <p:nvPr/>
          </p:nvSpPr>
          <p:spPr>
            <a:xfrm>
              <a:off x="1809598" y="2238451"/>
              <a:ext cx="3696005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65F4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Среднее ускорение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65F4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формирования</a:t>
              </a:r>
              <a:endParaRPr lang="en-US" sz="13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2EC780D2-DE47-765E-3B10-2B133C1A68D5}"/>
              </a:ext>
            </a:extLst>
          </p:cNvPr>
          <p:cNvGrpSpPr/>
          <p:nvPr/>
        </p:nvGrpSpPr>
        <p:grpSpPr>
          <a:xfrm>
            <a:off x="6210300" y="1422400"/>
            <a:ext cx="5410200" cy="1549400"/>
            <a:chOff x="6286500" y="1429207"/>
            <a:chExt cx="5352898" cy="1543507"/>
          </a:xfrm>
        </p:grpSpPr>
        <p:sp>
          <p:nvSpPr>
            <p:cNvPr id="10" name="Shape 6"/>
            <p:cNvSpPr/>
            <p:nvPr/>
          </p:nvSpPr>
          <p:spPr>
            <a:xfrm>
              <a:off x="6286500" y="1429207"/>
              <a:ext cx="5352898" cy="1543507"/>
            </a:xfrm>
            <a:prstGeom prst="roundRect">
              <a:avLst>
                <a:gd name="adj" fmla="val 5851"/>
              </a:avLst>
            </a:prstGeom>
            <a:solidFill>
              <a:srgbClr val="F0FDF4"/>
            </a:solidFill>
            <a:ln w="12700">
              <a:solidFill>
                <a:srgbClr val="DCFCE7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rcRect l="-233" r="-233"/>
            <a:stretch/>
          </p:blipFill>
          <p:spPr>
            <a:xfrm>
              <a:off x="6667805" y="1802282"/>
              <a:ext cx="418795" cy="476402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7524598" y="1666951"/>
              <a:ext cx="3810305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0984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Все отчёты</a:t>
              </a:r>
              <a:endParaRPr lang="en-US" sz="36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7524598" y="2238451"/>
              <a:ext cx="3696005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65F4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 ускорением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65F4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более чем в 2 раза</a:t>
              </a:r>
              <a:endParaRPr lang="en-US" sz="1300" dirty="0"/>
            </a:p>
          </p:txBody>
        </p:sp>
      </p:grp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571500" y="3200400"/>
            <a:ext cx="11049000" cy="91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1500" y="3429000"/>
            <a:ext cx="1104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нам дало внедрение?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71500" y="3784600"/>
            <a:ext cx="3530600" cy="2311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1"/>
          <p:cNvSpPr/>
          <p:nvPr/>
        </p:nvSpPr>
        <p:spPr>
          <a:xfrm>
            <a:off x="774700" y="3987800"/>
            <a:ext cx="558800" cy="5588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127500"/>
            <a:ext cx="2794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74700" y="4699000"/>
            <a:ext cx="312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Оперативная проверка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774700" y="4978400"/>
            <a:ext cx="312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Мгновенная доступность 19 ключевых сверочных отчетов позволяет быстрее закрывать операционные дни и выявлять расхождения.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330700" y="3784600"/>
            <a:ext cx="3530600" cy="2311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5"/>
          <p:cNvSpPr/>
          <p:nvPr/>
        </p:nvSpPr>
        <p:spPr>
          <a:xfrm>
            <a:off x="4533900" y="3987800"/>
            <a:ext cx="558800" cy="5588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3600" y="4127500"/>
            <a:ext cx="279400" cy="2794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533900" y="4699000"/>
            <a:ext cx="312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Больше времени на анализ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4533900" y="4978400"/>
            <a:ext cx="312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Сотрудники экономят в среднем 7 минут на каждом отчёте, что суммарно освобождает часы рабочего времени для качественного анализа.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8089900" y="3784600"/>
            <a:ext cx="3530600" cy="2311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19"/>
          <p:cNvSpPr/>
          <p:nvPr/>
        </p:nvSpPr>
        <p:spPr>
          <a:xfrm>
            <a:off x="8293100" y="3987800"/>
            <a:ext cx="558800" cy="5588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32800" y="4127500"/>
            <a:ext cx="279400" cy="2794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293100" y="4699000"/>
            <a:ext cx="312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нагрузки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8293100" y="4978400"/>
            <a:ext cx="312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Снижение нагрузки на Oracle за счет переноса тяжелых запросов (до 42x быстрее) на YMATRIX, освобождая ресурсы для транзакционных задач.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571500" y="6477000"/>
            <a:ext cx="12469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434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8ED4517-0632-FC49-BC7A-4ED0430CEABB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494</Words>
  <Application>Microsoft Macintosh PowerPoint</Application>
  <PresentationFormat>Широкоэкранный</PresentationFormat>
  <Paragraphs>125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Montserrat</vt:lpstr>
      <vt:lpstr>Open Sans</vt:lpstr>
      <vt:lpstr>Office Theme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3</cp:revision>
  <dcterms:created xsi:type="dcterms:W3CDTF">2026-03-26T09:39:08Z</dcterms:created>
  <dcterms:modified xsi:type="dcterms:W3CDTF">2026-03-26T10:18:40Z</dcterms:modified>
</cp:coreProperties>
</file>