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13" d="100"/>
          <a:sy n="113" d="100"/>
        </p:scale>
        <p:origin x="71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1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7.png"/><Relationship Id="rId5" Type="http://schemas.openxmlformats.org/officeDocument/2006/relationships/image" Target="../media/image15.png"/><Relationship Id="rId10" Type="http://schemas.openxmlformats.org/officeDocument/2006/relationships/image" Target="../media/image26.png"/><Relationship Id="rId4" Type="http://schemas.openxmlformats.org/officeDocument/2006/relationships/image" Target="../media/image14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0" y="607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2053743" y="4034920"/>
            <a:ext cx="8229600" cy="192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2500884" y="4034920"/>
            <a:ext cx="19202" cy="2286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4939589" y="4034920"/>
            <a:ext cx="19202" cy="2286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378294" y="4034920"/>
            <a:ext cx="19202" cy="2286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816084" y="4034920"/>
            <a:ext cx="19202" cy="2286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0"/>
            <a:ext cx="12191695" cy="14666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457200" y="267005"/>
            <a:ext cx="457200" cy="38405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028700" y="190195"/>
            <a:ext cx="5296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Департамент информационных технологий и данных</a:t>
            </a:r>
            <a:endParaRPr lang="en-US" sz="1000" dirty="0"/>
          </a:p>
        </p:txBody>
      </p:sp>
      <p:sp>
        <p:nvSpPr>
          <p:cNvPr id="13" name="Text 4"/>
          <p:cNvSpPr txBox="1"/>
          <p:nvPr/>
        </p:nvSpPr>
        <p:spPr>
          <a:xfrm>
            <a:off x="457200" y="418795"/>
            <a:ext cx="7996428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Штатное расписание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Управления развития систем отчетности</a:t>
            </a:r>
            <a:endParaRPr lang="en-US" sz="2700" dirty="0"/>
          </a:p>
        </p:txBody>
      </p:sp>
      <p:sp>
        <p:nvSpPr>
          <p:cNvPr id="14" name="Shape 5"/>
          <p:cNvSpPr/>
          <p:nvPr/>
        </p:nvSpPr>
        <p:spPr>
          <a:xfrm>
            <a:off x="9965131" y="1901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6"/>
          <p:cNvSpPr txBox="1"/>
          <p:nvPr/>
        </p:nvSpPr>
        <p:spPr>
          <a:xfrm>
            <a:off x="9936785" y="1901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10422331" y="2286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158484" y="2587424"/>
            <a:ext cx="19202" cy="228600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4644238" y="1787324"/>
            <a:ext cx="30476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9"/>
          <p:cNvSpPr/>
          <p:nvPr/>
        </p:nvSpPr>
        <p:spPr>
          <a:xfrm>
            <a:off x="4644238" y="1787324"/>
            <a:ext cx="47549" cy="800100"/>
          </a:xfrm>
          <a:prstGeom prst="roundRect">
            <a:avLst>
              <a:gd name="adj" fmla="val 18314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20" name="Text 10"/>
          <p:cNvSpPr txBox="1"/>
          <p:nvPr/>
        </p:nvSpPr>
        <p:spPr>
          <a:xfrm>
            <a:off x="4920387" y="1920827"/>
            <a:ext cx="22887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Начальник управления</a:t>
            </a:r>
            <a:endParaRPr lang="en-US" sz="1300" dirty="0"/>
          </a:p>
        </p:txBody>
      </p:sp>
      <p:sp>
        <p:nvSpPr>
          <p:cNvPr id="21" name="Text 11"/>
          <p:cNvSpPr txBox="1"/>
          <p:nvPr/>
        </p:nvSpPr>
        <p:spPr>
          <a:xfrm>
            <a:off x="4920387" y="2225322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Руководство</a:t>
            </a:r>
            <a:endParaRPr lang="en-US" sz="1200" dirty="0"/>
          </a:p>
        </p:txBody>
      </p:sp>
      <p:sp>
        <p:nvSpPr>
          <p:cNvPr id="22" name="Shape 12"/>
          <p:cNvSpPr/>
          <p:nvPr/>
        </p:nvSpPr>
        <p:spPr>
          <a:xfrm>
            <a:off x="7182612" y="2244524"/>
            <a:ext cx="286207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3"/>
          <p:cNvSpPr txBox="1"/>
          <p:nvPr/>
        </p:nvSpPr>
        <p:spPr>
          <a:xfrm>
            <a:off x="7144208" y="2244524"/>
            <a:ext cx="3621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7263994" y="1929971"/>
            <a:ext cx="200254" cy="228600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158484" y="3806320"/>
            <a:ext cx="19202" cy="22860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644238" y="2816024"/>
            <a:ext cx="3047695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15"/>
          <p:cNvSpPr/>
          <p:nvPr/>
        </p:nvSpPr>
        <p:spPr>
          <a:xfrm>
            <a:off x="4644238" y="2816024"/>
            <a:ext cx="47549" cy="990295"/>
          </a:xfrm>
          <a:prstGeom prst="roundRect">
            <a:avLst>
              <a:gd name="adj" fmla="val 14792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28" name="Text 16"/>
          <p:cNvSpPr txBox="1"/>
          <p:nvPr/>
        </p:nvSpPr>
        <p:spPr>
          <a:xfrm>
            <a:off x="4920387" y="2930324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Lead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4920387" y="3234820"/>
            <a:ext cx="2315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3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командами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7156095" y="3368322"/>
            <a:ext cx="314554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19"/>
          <p:cNvSpPr txBox="1"/>
          <p:nvPr/>
        </p:nvSpPr>
        <p:spPr>
          <a:xfrm>
            <a:off x="7117690" y="3368322"/>
            <a:ext cx="3913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7206387" y="3053768"/>
            <a:ext cx="256946" cy="228600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1443838" y="4263520"/>
            <a:ext cx="2133295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1"/>
          <p:cNvSpPr/>
          <p:nvPr/>
        </p:nvSpPr>
        <p:spPr>
          <a:xfrm>
            <a:off x="1443838" y="4263520"/>
            <a:ext cx="47549" cy="1686154"/>
          </a:xfrm>
          <a:prstGeom prst="roundRect">
            <a:avLst>
              <a:gd name="adj" fmla="val 8691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35" name="Shape 22"/>
          <p:cNvSpPr/>
          <p:nvPr/>
        </p:nvSpPr>
        <p:spPr>
          <a:xfrm>
            <a:off x="2306117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2393815" y="4539336"/>
            <a:ext cx="282761" cy="245059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608430" y="4987724"/>
            <a:ext cx="185257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разработчик</a:t>
            </a:r>
            <a:endParaRPr lang="en-US" sz="1200" dirty="0"/>
          </a:p>
        </p:txBody>
      </p:sp>
      <p:sp>
        <p:nvSpPr>
          <p:cNvPr id="38" name="Shape 24"/>
          <p:cNvSpPr/>
          <p:nvPr/>
        </p:nvSpPr>
        <p:spPr>
          <a:xfrm>
            <a:off x="2337207" y="5492473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2298802" y="5492473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Shape 26"/>
          <p:cNvSpPr/>
          <p:nvPr/>
        </p:nvSpPr>
        <p:spPr>
          <a:xfrm>
            <a:off x="3882543" y="4263520"/>
            <a:ext cx="2133295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27"/>
          <p:cNvSpPr/>
          <p:nvPr/>
        </p:nvSpPr>
        <p:spPr>
          <a:xfrm>
            <a:off x="3882543" y="4263520"/>
            <a:ext cx="47549" cy="1686154"/>
          </a:xfrm>
          <a:prstGeom prst="roundRect">
            <a:avLst>
              <a:gd name="adj" fmla="val 8691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4743908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46237" y="4539336"/>
            <a:ext cx="245059" cy="245059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4046220" y="4987724"/>
            <a:ext cx="185257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разработчик</a:t>
            </a:r>
            <a:endParaRPr lang="en-US" sz="1200" dirty="0"/>
          </a:p>
        </p:txBody>
      </p:sp>
      <p:sp>
        <p:nvSpPr>
          <p:cNvPr id="45" name="Shape 30"/>
          <p:cNvSpPr/>
          <p:nvPr/>
        </p:nvSpPr>
        <p:spPr>
          <a:xfrm>
            <a:off x="4774997" y="5492473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1"/>
          <p:cNvSpPr txBox="1"/>
          <p:nvPr/>
        </p:nvSpPr>
        <p:spPr>
          <a:xfrm>
            <a:off x="4737507" y="5492473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47" name="Shape 32"/>
          <p:cNvSpPr/>
          <p:nvPr/>
        </p:nvSpPr>
        <p:spPr>
          <a:xfrm>
            <a:off x="6320333" y="4263520"/>
            <a:ext cx="2133295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33"/>
          <p:cNvSpPr/>
          <p:nvPr/>
        </p:nvSpPr>
        <p:spPr>
          <a:xfrm>
            <a:off x="6320333" y="4263520"/>
            <a:ext cx="47549" cy="1686154"/>
          </a:xfrm>
          <a:prstGeom prst="roundRect">
            <a:avLst>
              <a:gd name="adj" fmla="val 8691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9" name="Shape 34"/>
          <p:cNvSpPr/>
          <p:nvPr/>
        </p:nvSpPr>
        <p:spPr>
          <a:xfrm>
            <a:off x="7182612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295333" y="4528945"/>
            <a:ext cx="245059" cy="245059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6484925" y="4987724"/>
            <a:ext cx="185257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Старший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разработчик</a:t>
            </a:r>
            <a:endParaRPr lang="en-US" sz="1200" dirty="0"/>
          </a:p>
        </p:txBody>
      </p:sp>
      <p:sp>
        <p:nvSpPr>
          <p:cNvPr id="52" name="Shape 36"/>
          <p:cNvSpPr/>
          <p:nvPr/>
        </p:nvSpPr>
        <p:spPr>
          <a:xfrm>
            <a:off x="7213702" y="5492473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7"/>
          <p:cNvSpPr txBox="1"/>
          <p:nvPr/>
        </p:nvSpPr>
        <p:spPr>
          <a:xfrm>
            <a:off x="7175297" y="5492473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Shape 38"/>
          <p:cNvSpPr/>
          <p:nvPr/>
        </p:nvSpPr>
        <p:spPr>
          <a:xfrm>
            <a:off x="8759038" y="4263520"/>
            <a:ext cx="2133295" cy="1686154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39"/>
          <p:cNvSpPr/>
          <p:nvPr/>
        </p:nvSpPr>
        <p:spPr>
          <a:xfrm>
            <a:off x="8759038" y="4263520"/>
            <a:ext cx="56146" cy="1743762"/>
          </a:xfrm>
          <a:prstGeom prst="roundRect">
            <a:avLst>
              <a:gd name="adj" fmla="val 992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56" name="Shape 40"/>
          <p:cNvSpPr/>
          <p:nvPr/>
        </p:nvSpPr>
        <p:spPr>
          <a:xfrm>
            <a:off x="9621317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710263" y="4539336"/>
            <a:ext cx="306324" cy="245059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8920887" y="4987724"/>
            <a:ext cx="18580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59" name="Shape 42"/>
          <p:cNvSpPr/>
          <p:nvPr/>
        </p:nvSpPr>
        <p:spPr>
          <a:xfrm>
            <a:off x="9653505" y="5491557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3"/>
          <p:cNvSpPr txBox="1"/>
          <p:nvPr/>
        </p:nvSpPr>
        <p:spPr>
          <a:xfrm>
            <a:off x="9625224" y="5492015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704173" y="1843900"/>
            <a:ext cx="738869" cy="738869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96B65B66-2B2D-2352-E21B-9988A6872940}"/>
              </a:ext>
            </a:extLst>
          </p:cNvPr>
          <p:cNvSpPr/>
          <p:nvPr/>
        </p:nvSpPr>
        <p:spPr>
          <a:xfrm>
            <a:off x="8630107" y="1784603"/>
            <a:ext cx="2262226" cy="861322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4"/>
          <a:srcRect l="-607" r="-607"/>
          <a:stretch/>
        </p:blipFill>
        <p:spPr>
          <a:xfrm>
            <a:off x="8859289" y="2014429"/>
            <a:ext cx="438668" cy="346725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9554315" y="1798504"/>
            <a:ext cx="1271851" cy="2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Общий штат</a:t>
            </a:r>
            <a:endParaRPr lang="en-US" sz="1000" dirty="0"/>
          </a:p>
        </p:txBody>
      </p:sp>
      <p:sp>
        <p:nvSpPr>
          <p:cNvPr id="65" name="Text 45"/>
          <p:cNvSpPr txBox="1"/>
          <p:nvPr/>
        </p:nvSpPr>
        <p:spPr>
          <a:xfrm>
            <a:off x="9608498" y="2012517"/>
            <a:ext cx="611767" cy="55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457200" y="1319479"/>
            <a:ext cx="11277295" cy="8193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50053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777" y="1633118"/>
            <a:ext cx="237744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28954" y="1481328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228954" y="1671523"/>
            <a:ext cx="1552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человека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31619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285439" y="1652321"/>
            <a:ext cx="133502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664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590849" y="1652321"/>
            <a:ext cx="133502" cy="1527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77190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895344" y="1652321"/>
            <a:ext cx="133502" cy="15270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494215" y="1633118"/>
            <a:ext cx="2243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в ODS / DDS слои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457200" y="2443277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9"/>
          <p:cNvSpPr/>
          <p:nvPr/>
        </p:nvSpPr>
        <p:spPr>
          <a:xfrm>
            <a:off x="457200" y="2443277"/>
            <a:ext cx="38405" cy="1371600"/>
          </a:xfrm>
          <a:prstGeom prst="roundRect">
            <a:avLst>
              <a:gd name="adj" fmla="val 132274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3077" y="2766974"/>
            <a:ext cx="142646" cy="1901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295705" y="263347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бизнес требований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1295705" y="2938882"/>
            <a:ext cx="4534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требований на интеграцию новых источников, расширение таблиц в ODS/DDS слоях, перегрузку и дозагрузку данных.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6248095" y="2443277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6248095" y="2443277"/>
            <a:ext cx="38405" cy="1371600"/>
          </a:xfrm>
          <a:prstGeom prst="roundRect">
            <a:avLst>
              <a:gd name="adj" fmla="val 132274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6476695" y="26334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6596482" y="2766974"/>
            <a:ext cx="219456" cy="1901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086600" y="263347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Системный анализ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7086600" y="2938882"/>
            <a:ext cx="4534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Понимание бизнес-процесса и архитектуры. Определение политик доступа и типов загрузки в ODS для корректного хранения.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457200" y="4037076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457200" y="4037076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685800" y="4227271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04672" y="4360774"/>
            <a:ext cx="219456" cy="1901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295705" y="4227271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ТЗ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295705" y="453268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согласование технических заданий на интеграцию данных в ODS и DDS слои хранилища.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6248095" y="4037076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6248095" y="4037076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6476695" y="4227271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10198" y="4360774"/>
            <a:ext cx="190195" cy="19019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7086600" y="4227271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 ODS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7086600" y="453268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загруженных данных в слой ODS на полное соответствие с источником данных.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457200" y="5447081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457200" y="5447081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685800" y="5638190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95528" y="5771693"/>
            <a:ext cx="237744" cy="190195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295705" y="563819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 DDS с заказчиком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1295705" y="5942686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Совместное с бизнес-заказчиком тестирование и верификация данных, загруженных в слой DDS.</a:t>
            </a:r>
            <a:endParaRPr lang="en-US" sz="1000" dirty="0"/>
          </a:p>
        </p:txBody>
      </p:sp>
      <p:sp>
        <p:nvSpPr>
          <p:cNvPr id="46" name="Shape 33"/>
          <p:cNvSpPr/>
          <p:nvPr/>
        </p:nvSpPr>
        <p:spPr>
          <a:xfrm>
            <a:off x="6248095" y="5447081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6248095" y="5447081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8" name="Shape 35"/>
          <p:cNvSpPr/>
          <p:nvPr/>
        </p:nvSpPr>
        <p:spPr>
          <a:xfrm>
            <a:off x="6476695" y="5638190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10198" y="5771693"/>
            <a:ext cx="190195" cy="19019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086600" y="563819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Консультация</a:t>
            </a:r>
            <a:endParaRPr lang="en-US" sz="1300" dirty="0"/>
          </a:p>
        </p:txBody>
      </p:sp>
      <p:sp>
        <p:nvSpPr>
          <p:cNvPr id="51" name="Text 37"/>
          <p:cNvSpPr txBox="1"/>
          <p:nvPr/>
        </p:nvSpPr>
        <p:spPr>
          <a:xfrm>
            <a:off x="7086600" y="5942686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Консультирование бизнес-подразделений о наличии данных в хранилище и маршрутах доступа к ним.</a:t>
            </a:r>
            <a:endParaRPr lang="en-US" sz="1000" dirty="0"/>
          </a:p>
        </p:txBody>
      </p:sp>
      <p:sp>
        <p:nvSpPr>
          <p:cNvPr id="53" name="Shape 38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39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3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1028700" y="304495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систем отчетности</a:t>
            </a:r>
            <a:endParaRPr lang="en-US" sz="1000" dirty="0"/>
          </a:p>
        </p:txBody>
      </p:sp>
      <p:sp>
        <p:nvSpPr>
          <p:cNvPr id="57" name="Text 41"/>
          <p:cNvSpPr txBox="1"/>
          <p:nvPr/>
        </p:nvSpPr>
        <p:spPr>
          <a:xfrm>
            <a:off x="457200" y="571500"/>
            <a:ext cx="63633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новых источников</a:t>
            </a:r>
            <a:endParaRPr lang="en-US" sz="2200" dirty="0"/>
          </a:p>
        </p:txBody>
      </p:sp>
      <p:sp>
        <p:nvSpPr>
          <p:cNvPr id="58" name="Shape 42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3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0" name="Text 44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61" name="Image 5" descr="preencoded.png">
            <a:extLst>
              <a:ext uri="{FF2B5EF4-FFF2-40B4-BE49-F238E27FC236}">
                <a16:creationId xmlns:a16="http://schemas.microsoft.com/office/drawing/2014/main" id="{887064A7-069A-8D99-D36E-24FB51EEFF5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457200" y="1319479"/>
            <a:ext cx="11277295" cy="8193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50053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777" y="1633118"/>
            <a:ext cx="237744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28954" y="1481328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228954" y="1671523"/>
            <a:ext cx="1552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человек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31619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285439" y="1652321"/>
            <a:ext cx="133502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664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590849" y="1652321"/>
            <a:ext cx="133502" cy="1527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77190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895344" y="1652321"/>
            <a:ext cx="133502" cy="15270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0763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199839" y="1652321"/>
            <a:ext cx="133502" cy="15270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3808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505249" y="1652321"/>
            <a:ext cx="133502" cy="1527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927287" y="1633118"/>
            <a:ext cx="31519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Qlik Sense • Qlik Nprinting • Отчетность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457200" y="2367382"/>
            <a:ext cx="5486400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1"/>
          <p:cNvSpPr/>
          <p:nvPr/>
        </p:nvSpPr>
        <p:spPr>
          <a:xfrm>
            <a:off x="457200" y="2367382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22" name="Shape 12"/>
          <p:cNvSpPr/>
          <p:nvPr/>
        </p:nvSpPr>
        <p:spPr>
          <a:xfrm>
            <a:off x="647395" y="25191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2652674"/>
            <a:ext cx="190195" cy="19019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257300" y="251917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Администрирование Qlik Sense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1257300" y="2824582"/>
            <a:ext cx="4610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пользователей, предоставление доступов, рассмотрение инцидентов, подготовка материалов на закуп лицензии.</a:t>
            </a:r>
            <a:endParaRPr lang="en-US" sz="1000" dirty="0"/>
          </a:p>
        </p:txBody>
      </p:sp>
      <p:sp>
        <p:nvSpPr>
          <p:cNvPr id="26" name="Shape 15"/>
          <p:cNvSpPr/>
          <p:nvPr/>
        </p:nvSpPr>
        <p:spPr>
          <a:xfrm>
            <a:off x="6248095" y="2367382"/>
            <a:ext cx="5486400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6248095" y="2367382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6439205" y="25191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2652674"/>
            <a:ext cx="190195" cy="19019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048195" y="251917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Администрирование Nprinting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7048195" y="2824582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 рассылок отчетов из Qlik Sense по маршруту заказчика (почта или сетевая папка), поддержка и доступы.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457200" y="4034333"/>
            <a:ext cx="5486400" cy="1295705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457200" y="4034333"/>
            <a:ext cx="38405" cy="1295705"/>
          </a:xfrm>
          <a:prstGeom prst="roundRect">
            <a:avLst>
              <a:gd name="adj" fmla="val 1400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647395" y="4187038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767182" y="4320540"/>
            <a:ext cx="219456" cy="1901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257300" y="418703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SSBI платформы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1257300" y="4491533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модели данных в разрезе продуктов (на QVD файлах) и построение конструктора отчетов (визуализация).</a:t>
            </a:r>
            <a:endParaRPr lang="en-US" sz="1000" dirty="0"/>
          </a:p>
        </p:txBody>
      </p:sp>
      <p:sp>
        <p:nvSpPr>
          <p:cNvPr id="38" name="Shape 25"/>
          <p:cNvSpPr/>
          <p:nvPr/>
        </p:nvSpPr>
        <p:spPr>
          <a:xfrm>
            <a:off x="6248095" y="4034333"/>
            <a:ext cx="5486400" cy="1295705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6"/>
          <p:cNvSpPr/>
          <p:nvPr/>
        </p:nvSpPr>
        <p:spPr>
          <a:xfrm>
            <a:off x="6248095" y="4034333"/>
            <a:ext cx="38405" cy="1295705"/>
          </a:xfrm>
          <a:prstGeom prst="roundRect">
            <a:avLst>
              <a:gd name="adj" fmla="val 1400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6439205" y="4187038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48018" y="4320540"/>
            <a:ext cx="237744" cy="19019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048195" y="418703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Внутреннее обучение</a:t>
            </a:r>
            <a:endParaRPr lang="en-US" sz="1300" dirty="0"/>
          </a:p>
        </p:txBody>
      </p:sp>
      <p:sp>
        <p:nvSpPr>
          <p:cNvPr id="43" name="Text 29"/>
          <p:cNvSpPr txBox="1"/>
          <p:nvPr/>
        </p:nvSpPr>
        <p:spPr>
          <a:xfrm>
            <a:off x="7048195" y="4491533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культуры SSBI: проведение внутреннего обучения работников Банка инструментам Qlik Sense.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457200" y="5518404"/>
            <a:ext cx="11277295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457200" y="5518404"/>
            <a:ext cx="38405" cy="1114654"/>
          </a:xfrm>
          <a:prstGeom prst="roundRect">
            <a:avLst>
              <a:gd name="adj" fmla="val 1627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647395" y="5671109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767182" y="5804611"/>
            <a:ext cx="219456" cy="19019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257300" y="5671109"/>
            <a:ext cx="7372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отчетность</a:t>
            </a:r>
            <a:endParaRPr lang="en-US" sz="1300" dirty="0"/>
          </a:p>
        </p:txBody>
      </p:sp>
      <p:sp>
        <p:nvSpPr>
          <p:cNvPr id="49" name="Text 34"/>
          <p:cNvSpPr txBox="1"/>
          <p:nvPr/>
        </p:nvSpPr>
        <p:spPr>
          <a:xfrm>
            <a:off x="1257300" y="5975604"/>
            <a:ext cx="7555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новых и доработка существующих управленческих отчетов для принятия бизнес-решений.</a:t>
            </a:r>
            <a:endParaRPr lang="en-US" sz="1000" dirty="0"/>
          </a:p>
        </p:txBody>
      </p:sp>
      <p:sp>
        <p:nvSpPr>
          <p:cNvPr id="51" name="Shape 35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36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1028700" y="304495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систем отчетности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457200" y="571500"/>
            <a:ext cx="596097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 развитие SSBI</a:t>
            </a:r>
            <a:endParaRPr lang="en-US" sz="2200" dirty="0"/>
          </a:p>
        </p:txBody>
      </p:sp>
      <p:sp>
        <p:nvSpPr>
          <p:cNvPr id="56" name="Shape 39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0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58" name="Text 41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59" name="Image 5" descr="preencoded.png">
            <a:extLst>
              <a:ext uri="{FF2B5EF4-FFF2-40B4-BE49-F238E27FC236}">
                <a16:creationId xmlns:a16="http://schemas.microsoft.com/office/drawing/2014/main" id="{687E97A0-A12B-1C9C-29CD-499F3DB299A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8" b="-28"/>
          <a:stretch/>
        </p:blipFill>
        <p:spPr>
          <a:xfrm>
            <a:off x="457200" y="1319479"/>
            <a:ext cx="11277295" cy="8577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481328"/>
            <a:ext cx="533095" cy="5330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43407" y="1633118"/>
            <a:ext cx="286207" cy="228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304849" y="1481328"/>
            <a:ext cx="1629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304849" y="1671523"/>
            <a:ext cx="16568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человек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33110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3453689" y="1652321"/>
            <a:ext cx="171907" cy="19019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6539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3796589" y="1652321"/>
            <a:ext cx="171907" cy="1901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9968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139489" y="1652321"/>
            <a:ext cx="171907" cy="19019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3397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482389" y="1652321"/>
            <a:ext cx="171907" cy="19019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6826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825289" y="1652321"/>
            <a:ext cx="171907" cy="190195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50255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168189" y="1652321"/>
            <a:ext cx="171907" cy="190195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53684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511089" y="1652321"/>
            <a:ext cx="171907" cy="190195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57113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853989" y="1652321"/>
            <a:ext cx="171907" cy="190195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60542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196889" y="1652321"/>
            <a:ext cx="171907" cy="190195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7993685" y="1633118"/>
            <a:ext cx="3680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Регуляторная отчетность и модели данных</a:t>
            </a:r>
            <a:endParaRPr lang="en-US" sz="1200" dirty="0"/>
          </a:p>
        </p:txBody>
      </p:sp>
      <p:sp>
        <p:nvSpPr>
          <p:cNvPr id="28" name="Shape 14"/>
          <p:cNvSpPr/>
          <p:nvPr/>
        </p:nvSpPr>
        <p:spPr>
          <a:xfrm>
            <a:off x="457200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15"/>
          <p:cNvSpPr/>
          <p:nvPr/>
        </p:nvSpPr>
        <p:spPr>
          <a:xfrm>
            <a:off x="457200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30" name="Shape 16"/>
          <p:cNvSpPr/>
          <p:nvPr/>
        </p:nvSpPr>
        <p:spPr>
          <a:xfrm>
            <a:off x="733349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2812694"/>
            <a:ext cx="228600" cy="22860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1419149" y="2788006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требований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733349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Системный анализ бизнес-требований к регуляторным отчетам и составление ТЗ.</a:t>
            </a:r>
            <a:endParaRPr lang="en-US" sz="1000" dirty="0"/>
          </a:p>
        </p:txBody>
      </p:sp>
      <p:sp>
        <p:nvSpPr>
          <p:cNvPr id="34" name="Shape 19"/>
          <p:cNvSpPr/>
          <p:nvPr/>
        </p:nvSpPr>
        <p:spPr>
          <a:xfrm>
            <a:off x="3333902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Shape 20"/>
          <p:cNvSpPr/>
          <p:nvPr/>
        </p:nvSpPr>
        <p:spPr>
          <a:xfrm>
            <a:off x="3333902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36" name="Shape 21"/>
          <p:cNvSpPr/>
          <p:nvPr/>
        </p:nvSpPr>
        <p:spPr>
          <a:xfrm>
            <a:off x="3610051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3733495" y="2812694"/>
            <a:ext cx="286207" cy="22860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4295851" y="2788006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(ТЗ)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3610051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ТЗ на интеграцию в ODS/DDS новых источников (КБО, ГГК).</a:t>
            </a:r>
            <a:endParaRPr lang="en-US" sz="1000" dirty="0"/>
          </a:p>
        </p:txBody>
      </p:sp>
      <p:sp>
        <p:nvSpPr>
          <p:cNvPr id="40" name="Shape 24"/>
          <p:cNvSpPr/>
          <p:nvPr/>
        </p:nvSpPr>
        <p:spPr>
          <a:xfrm>
            <a:off x="6210605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25"/>
          <p:cNvSpPr/>
          <p:nvPr/>
        </p:nvSpPr>
        <p:spPr>
          <a:xfrm>
            <a:off x="6210605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>
            <a:off x="6486754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38544" y="2812694"/>
            <a:ext cx="228600" cy="228600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7172554" y="2895905"/>
            <a:ext cx="14008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45" name="Text 28"/>
          <p:cNvSpPr txBox="1"/>
          <p:nvPr/>
        </p:nvSpPr>
        <p:spPr>
          <a:xfrm>
            <a:off x="6486754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загрузок в ODS и совместное тестирование с заказчиком в DDS.</a:t>
            </a:r>
            <a:endParaRPr lang="en-US" sz="1000" dirty="0"/>
          </a:p>
        </p:txBody>
      </p:sp>
      <p:sp>
        <p:nvSpPr>
          <p:cNvPr id="46" name="Shape 29"/>
          <p:cNvSpPr/>
          <p:nvPr/>
        </p:nvSpPr>
        <p:spPr>
          <a:xfrm>
            <a:off x="9087307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7" name="Shape 30"/>
          <p:cNvSpPr/>
          <p:nvPr/>
        </p:nvSpPr>
        <p:spPr>
          <a:xfrm>
            <a:off x="9087307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48" name="Shape 31"/>
          <p:cNvSpPr/>
          <p:nvPr/>
        </p:nvSpPr>
        <p:spPr>
          <a:xfrm>
            <a:off x="9363456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9544507" y="2812694"/>
            <a:ext cx="171907" cy="228600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10049256" y="2788006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отчетов</a:t>
            </a:r>
            <a:endParaRPr lang="en-US" sz="1300" dirty="0"/>
          </a:p>
        </p:txBody>
      </p:sp>
      <p:sp>
        <p:nvSpPr>
          <p:cNvPr id="51" name="Text 33"/>
          <p:cNvSpPr txBox="1"/>
          <p:nvPr/>
        </p:nvSpPr>
        <p:spPr>
          <a:xfrm>
            <a:off x="9363456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отчетов и моделей (QVD), автообновление и поддержка работы.</a:t>
            </a:r>
            <a:endParaRPr lang="en-US" sz="1000" dirty="0"/>
          </a:p>
        </p:txBody>
      </p:sp>
      <p:sp>
        <p:nvSpPr>
          <p:cNvPr id="52" name="Shape 34"/>
          <p:cNvSpPr/>
          <p:nvPr/>
        </p:nvSpPr>
        <p:spPr>
          <a:xfrm>
            <a:off x="457200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35"/>
          <p:cNvSpPr/>
          <p:nvPr/>
        </p:nvSpPr>
        <p:spPr>
          <a:xfrm>
            <a:off x="457200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733349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6054" y="5000854"/>
            <a:ext cx="228600" cy="228600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1419149" y="4977079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Доработка Sap BW</a:t>
            </a:r>
            <a:endParaRPr lang="en-US" sz="1300" dirty="0"/>
          </a:p>
        </p:txBody>
      </p:sp>
      <p:sp>
        <p:nvSpPr>
          <p:cNvPr id="57" name="Text 38"/>
          <p:cNvSpPr txBox="1"/>
          <p:nvPr/>
        </p:nvSpPr>
        <p:spPr>
          <a:xfrm>
            <a:off x="733349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Доработка функционала регуляторной отчетности в системе SAP BW.</a:t>
            </a:r>
            <a:endParaRPr lang="en-US" sz="1000" dirty="0"/>
          </a:p>
        </p:txBody>
      </p:sp>
      <p:sp>
        <p:nvSpPr>
          <p:cNvPr id="58" name="Shape 39"/>
          <p:cNvSpPr/>
          <p:nvPr/>
        </p:nvSpPr>
        <p:spPr>
          <a:xfrm>
            <a:off x="3333902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9" name="Shape 40"/>
          <p:cNvSpPr/>
          <p:nvPr/>
        </p:nvSpPr>
        <p:spPr>
          <a:xfrm>
            <a:off x="3333902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60" name="Shape 41"/>
          <p:cNvSpPr/>
          <p:nvPr/>
        </p:nvSpPr>
        <p:spPr>
          <a:xfrm>
            <a:off x="3610051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3776472" y="5000854"/>
            <a:ext cx="200254" cy="228600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4295851" y="4977079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Ad-hoc запросы</a:t>
            </a:r>
            <a:endParaRPr lang="en-US" sz="1300" dirty="0"/>
          </a:p>
        </p:txBody>
      </p:sp>
      <p:sp>
        <p:nvSpPr>
          <p:cNvPr id="63" name="Text 43"/>
          <p:cNvSpPr txBox="1"/>
          <p:nvPr/>
        </p:nvSpPr>
        <p:spPr>
          <a:xfrm>
            <a:off x="3610051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Выгрузка данных по запросам регуляторов в Qlik Sense и Sap BW.</a:t>
            </a:r>
            <a:endParaRPr lang="en-US" sz="1000" dirty="0"/>
          </a:p>
        </p:txBody>
      </p:sp>
      <p:sp>
        <p:nvSpPr>
          <p:cNvPr id="64" name="Shape 44"/>
          <p:cNvSpPr/>
          <p:nvPr/>
        </p:nvSpPr>
        <p:spPr>
          <a:xfrm>
            <a:off x="6210605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5" name="Shape 45"/>
          <p:cNvSpPr/>
          <p:nvPr/>
        </p:nvSpPr>
        <p:spPr>
          <a:xfrm>
            <a:off x="6210605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66" name="Shape 46"/>
          <p:cNvSpPr/>
          <p:nvPr/>
        </p:nvSpPr>
        <p:spPr>
          <a:xfrm>
            <a:off x="6486754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7" name="Image 18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6610198" y="5000854"/>
            <a:ext cx="286207" cy="228600"/>
          </a:xfrm>
          <a:prstGeom prst="rect">
            <a:avLst/>
          </a:prstGeom>
        </p:spPr>
      </p:pic>
      <p:sp>
        <p:nvSpPr>
          <p:cNvPr id="68" name="Text 47"/>
          <p:cNvSpPr txBox="1"/>
          <p:nvPr/>
        </p:nvSpPr>
        <p:spPr>
          <a:xfrm>
            <a:off x="7172554" y="4977079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и SSBI</a:t>
            </a:r>
            <a:endParaRPr lang="en-US" sz="1300" dirty="0"/>
          </a:p>
        </p:txBody>
      </p:sp>
      <p:sp>
        <p:nvSpPr>
          <p:cNvPr id="69" name="Text 48"/>
          <p:cNvSpPr txBox="1"/>
          <p:nvPr/>
        </p:nvSpPr>
        <p:spPr>
          <a:xfrm>
            <a:off x="6486754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Внутреннее обучение Qlik Sense, инструкции, консультации пользователей.</a:t>
            </a:r>
            <a:endParaRPr lang="en-US" sz="1000" dirty="0"/>
          </a:p>
        </p:txBody>
      </p:sp>
      <p:sp>
        <p:nvSpPr>
          <p:cNvPr id="70" name="Shape 49"/>
          <p:cNvSpPr/>
          <p:nvPr/>
        </p:nvSpPr>
        <p:spPr>
          <a:xfrm>
            <a:off x="9087307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1" name="Shape 50"/>
          <p:cNvSpPr/>
          <p:nvPr/>
        </p:nvSpPr>
        <p:spPr>
          <a:xfrm>
            <a:off x="9087307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</p:sp>
      <p:sp>
        <p:nvSpPr>
          <p:cNvPr id="72" name="Shape 51"/>
          <p:cNvSpPr/>
          <p:nvPr/>
        </p:nvSpPr>
        <p:spPr>
          <a:xfrm>
            <a:off x="9363456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3" name="Image 19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15246" y="5000854"/>
            <a:ext cx="228600" cy="228600"/>
          </a:xfrm>
          <a:prstGeom prst="rect">
            <a:avLst/>
          </a:prstGeom>
        </p:spPr>
      </p:pic>
      <p:sp>
        <p:nvSpPr>
          <p:cNvPr id="74" name="Text 52"/>
          <p:cNvSpPr txBox="1"/>
          <p:nvPr/>
        </p:nvSpPr>
        <p:spPr>
          <a:xfrm>
            <a:off x="10049256" y="5084064"/>
            <a:ext cx="1162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</a:t>
            </a:r>
            <a:endParaRPr lang="en-US" sz="1300" dirty="0"/>
          </a:p>
        </p:txBody>
      </p:sp>
      <p:sp>
        <p:nvSpPr>
          <p:cNvPr id="75" name="Text 53"/>
          <p:cNvSpPr txBox="1"/>
          <p:nvPr/>
        </p:nvSpPr>
        <p:spPr>
          <a:xfrm>
            <a:off x="9363456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Рассмотрение и решение инцидентов по регуляторной отчетности.</a:t>
            </a:r>
            <a:endParaRPr lang="en-US" sz="1000" dirty="0"/>
          </a:p>
        </p:txBody>
      </p:sp>
      <p:sp>
        <p:nvSpPr>
          <p:cNvPr id="77" name="Shape 54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55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15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80" name="Text 56"/>
          <p:cNvSpPr txBox="1"/>
          <p:nvPr/>
        </p:nvSpPr>
        <p:spPr>
          <a:xfrm>
            <a:off x="1028700" y="304495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систем отчетности</a:t>
            </a:r>
            <a:endParaRPr lang="en-US" sz="1000" dirty="0"/>
          </a:p>
        </p:txBody>
      </p:sp>
      <p:sp>
        <p:nvSpPr>
          <p:cNvPr id="81" name="Text 57"/>
          <p:cNvSpPr txBox="1"/>
          <p:nvPr/>
        </p:nvSpPr>
        <p:spPr>
          <a:xfrm>
            <a:off x="457200" y="571500"/>
            <a:ext cx="72009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регуляторной отчетности</a:t>
            </a:r>
            <a:endParaRPr lang="en-US" sz="2200" dirty="0"/>
          </a:p>
        </p:txBody>
      </p:sp>
      <p:sp>
        <p:nvSpPr>
          <p:cNvPr id="82" name="Shape 58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59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84" name="Text 60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85" name="Image 5" descr="preencoded.png">
            <a:extLst>
              <a:ext uri="{FF2B5EF4-FFF2-40B4-BE49-F238E27FC236}">
                <a16:creationId xmlns:a16="http://schemas.microsoft.com/office/drawing/2014/main" id="{D0E1BD0A-9DA6-B0DD-BBFE-9AB3DE43989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407</Words>
  <Application>Microsoft Macintosh PowerPoint</Application>
  <PresentationFormat>Широкоэкранный</PresentationFormat>
  <Paragraphs>87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zhumabay azamatov</cp:lastModifiedBy>
  <cp:revision>6</cp:revision>
  <dcterms:created xsi:type="dcterms:W3CDTF">2026-01-29T15:29:14Z</dcterms:created>
  <dcterms:modified xsi:type="dcterms:W3CDTF">2026-01-29T16:18:24Z</dcterms:modified>
</cp:coreProperties>
</file>