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7" r:id="rId19"/>
    <p:sldId id="285" r:id="rId20"/>
    <p:sldId id="286" r:id="rId21"/>
    <p:sldId id="281" r:id="rId22"/>
    <p:sldId id="282" r:id="rId23"/>
    <p:sldId id="283" r:id="rId24"/>
    <p:sldId id="284" r:id="rId25"/>
    <p:sldId id="272" r:id="rId26"/>
    <p:sldId id="273" r:id="rId27"/>
    <p:sldId id="274" r:id="rId28"/>
    <p:sldId id="27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651"/>
    <a:srgbClr val="14B8A6"/>
    <a:srgbClr val="06B6D4"/>
    <a:srgbClr val="3B81F4"/>
    <a:srgbClr val="CBD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94"/>
    <p:restoredTop sz="94610"/>
  </p:normalViewPr>
  <p:slideViewPr>
    <p:cSldViewPr snapToGrid="0" snapToObjects="1">
      <p:cViewPr>
        <p:scale>
          <a:sx n="47" d="100"/>
          <a:sy n="47" d="100"/>
        </p:scale>
        <p:origin x="2440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60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26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microsoft.com/office/2007/relationships/hdphoto" Target="../media/hdphoto1.wdp"/><Relationship Id="rId18" Type="http://schemas.openxmlformats.org/officeDocument/2006/relationships/image" Target="../media/image63.png"/><Relationship Id="rId3" Type="http://schemas.openxmlformats.org/officeDocument/2006/relationships/image" Target="../media/image16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microsoft.com/office/2007/relationships/hdphoto" Target="../media/hdphoto2.wdp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11" Type="http://schemas.openxmlformats.org/officeDocument/2006/relationships/image" Target="../media/image58.png"/><Relationship Id="rId5" Type="http://schemas.openxmlformats.org/officeDocument/2006/relationships/image" Target="../media/image52.jpeg"/><Relationship Id="rId15" Type="http://schemas.openxmlformats.org/officeDocument/2006/relationships/image" Target="../media/image61.png"/><Relationship Id="rId10" Type="http://schemas.openxmlformats.org/officeDocument/2006/relationships/image" Target="../media/image57.png"/><Relationship Id="rId19" Type="http://schemas.openxmlformats.org/officeDocument/2006/relationships/image" Target="../media/image64.png"/><Relationship Id="rId4" Type="http://schemas.openxmlformats.org/officeDocument/2006/relationships/image" Target="../media/image26.png"/><Relationship Id="rId9" Type="http://schemas.openxmlformats.org/officeDocument/2006/relationships/image" Target="../media/image56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26.png"/><Relationship Id="rId9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2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7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77.png"/><Relationship Id="rId7" Type="http://schemas.openxmlformats.org/officeDocument/2006/relationships/image" Target="../media/image99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107.png"/><Relationship Id="rId4" Type="http://schemas.openxmlformats.org/officeDocument/2006/relationships/image" Target="../media/image10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4.png"/><Relationship Id="rId3" Type="http://schemas.openxmlformats.org/officeDocument/2006/relationships/image" Target="../media/image111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.png"/><Relationship Id="rId10" Type="http://schemas.openxmlformats.org/officeDocument/2006/relationships/image" Target="../media/image117.png"/><Relationship Id="rId4" Type="http://schemas.openxmlformats.org/officeDocument/2006/relationships/image" Target="../media/image112.png"/><Relationship Id="rId9" Type="http://schemas.openxmlformats.org/officeDocument/2006/relationships/image" Target="../media/image116.png"/><Relationship Id="rId1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.png"/><Relationship Id="rId3" Type="http://schemas.openxmlformats.org/officeDocument/2006/relationships/image" Target="../media/image123.png"/><Relationship Id="rId7" Type="http://schemas.openxmlformats.org/officeDocument/2006/relationships/image" Target="../media/image134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20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image" Target="../media/image120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20.png"/><Relationship Id="rId3" Type="http://schemas.openxmlformats.org/officeDocument/2006/relationships/image" Target="../media/image121.png"/><Relationship Id="rId7" Type="http://schemas.openxmlformats.org/officeDocument/2006/relationships/image" Target="../media/image150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54.png"/><Relationship Id="rId5" Type="http://schemas.openxmlformats.org/officeDocument/2006/relationships/image" Target="../media/image123.png"/><Relationship Id="rId10" Type="http://schemas.openxmlformats.org/officeDocument/2006/relationships/image" Target="../media/image153.png"/><Relationship Id="rId4" Type="http://schemas.openxmlformats.org/officeDocument/2006/relationships/image" Target="../media/image122.png"/><Relationship Id="rId9" Type="http://schemas.openxmlformats.org/officeDocument/2006/relationships/image" Target="../media/image1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3" Type="http://schemas.openxmlformats.org/officeDocument/2006/relationships/image" Target="../media/image155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.png"/><Relationship Id="rId10" Type="http://schemas.openxmlformats.org/officeDocument/2006/relationships/image" Target="../media/image161.png"/><Relationship Id="rId4" Type="http://schemas.openxmlformats.org/officeDocument/2006/relationships/image" Target="../media/image156.png"/><Relationship Id="rId9" Type="http://schemas.openxmlformats.org/officeDocument/2006/relationships/image" Target="../media/image160.png"/><Relationship Id="rId14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4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20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5" Type="http://schemas.openxmlformats.org/officeDocument/2006/relationships/image" Target="../media/image187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9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5" Type="http://schemas.openxmlformats.org/officeDocument/2006/relationships/image" Target="../media/image15.png"/><Relationship Id="rId10" Type="http://schemas.openxmlformats.org/officeDocument/2006/relationships/image" Target="../media/image19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0.png"/><Relationship Id="rId3" Type="http://schemas.openxmlformats.org/officeDocument/2006/relationships/image" Target="../media/image189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5" Type="http://schemas.openxmlformats.org/officeDocument/2006/relationships/image" Target="../media/image21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189.png"/><Relationship Id="rId7" Type="http://schemas.openxmlformats.org/officeDocument/2006/relationships/image" Target="../media/image2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5.png"/><Relationship Id="rId11" Type="http://schemas.openxmlformats.org/officeDocument/2006/relationships/image" Target="../media/image199.png"/><Relationship Id="rId5" Type="http://schemas.openxmlformats.org/officeDocument/2006/relationships/image" Target="../media/image214.png"/><Relationship Id="rId10" Type="http://schemas.openxmlformats.org/officeDocument/2006/relationships/image" Target="../media/image219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-57607" y="5982005"/>
            <a:ext cx="12306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Февраль 2026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39E9448-CFE2-6E72-91FD-46E38B23AAAB}"/>
              </a:ext>
            </a:extLst>
          </p:cNvPr>
          <p:cNvGrpSpPr/>
          <p:nvPr/>
        </p:nvGrpSpPr>
        <p:grpSpPr>
          <a:xfrm>
            <a:off x="4608576" y="1384402"/>
            <a:ext cx="2980944" cy="342900"/>
            <a:chOff x="4608576" y="1384402"/>
            <a:chExt cx="2980944" cy="342900"/>
          </a:xfrm>
        </p:grpSpPr>
        <p:sp>
          <p:nvSpPr>
            <p:cNvPr id="6" name="Shape 3"/>
            <p:cNvSpPr/>
            <p:nvPr/>
          </p:nvSpPr>
          <p:spPr>
            <a:xfrm>
              <a:off x="4608576" y="1384402"/>
              <a:ext cx="2980944" cy="342900"/>
            </a:xfrm>
            <a:prstGeom prst="roundRect">
              <a:avLst>
                <a:gd name="adj" fmla="val 266667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Text 4"/>
            <p:cNvSpPr txBox="1"/>
            <p:nvPr/>
          </p:nvSpPr>
          <p:spPr>
            <a:xfrm>
              <a:off x="5018808" y="1498928"/>
              <a:ext cx="2342111" cy="1202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b="1" kern="0" spc="48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Презентация для руководства</a:t>
              </a:r>
              <a:endParaRPr lang="en-US" sz="900" dirty="0"/>
            </a:p>
          </p:txBody>
        </p:sp>
      </p:grpSp>
      <p:sp>
        <p:nvSpPr>
          <p:cNvPr id="8" name="Text 5"/>
          <p:cNvSpPr txBox="1"/>
          <p:nvPr/>
        </p:nvSpPr>
        <p:spPr>
          <a:xfrm>
            <a:off x="1352398" y="2177186"/>
            <a:ext cx="94969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Департамент технологичных</a:t>
            </a:r>
            <a:endParaRPr lang="en-US" sz="4500" dirty="0"/>
          </a:p>
        </p:txBody>
      </p:sp>
      <p:sp>
        <p:nvSpPr>
          <p:cNvPr id="9" name="Text 6"/>
          <p:cNvSpPr txBox="1"/>
          <p:nvPr/>
        </p:nvSpPr>
        <p:spPr>
          <a:xfrm>
            <a:off x="1352398" y="2968142"/>
            <a:ext cx="94969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 данных</a:t>
            </a:r>
            <a:endParaRPr lang="en-US" sz="4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524805" y="3986784"/>
            <a:ext cx="1143000" cy="384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37230" y="4786884"/>
            <a:ext cx="5324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Директор департамента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398825" y="5092294"/>
            <a:ext cx="5401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Тлешпаев Даурен Изатович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9523476" y="3813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 txBox="1"/>
          <p:nvPr/>
        </p:nvSpPr>
        <p:spPr>
          <a:xfrm>
            <a:off x="9494215" y="381305"/>
            <a:ext cx="514807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0094976" y="437998"/>
            <a:ext cx="17739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/>
          <p:cNvSpPr/>
          <p:nvPr/>
        </p:nvSpPr>
        <p:spPr>
          <a:xfrm>
            <a:off x="609905" y="3794194"/>
            <a:ext cx="2572207" cy="2866644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3"/>
          <p:cNvSpPr/>
          <p:nvPr/>
        </p:nvSpPr>
        <p:spPr>
          <a:xfrm>
            <a:off x="609905" y="3794194"/>
            <a:ext cx="2572207" cy="38405"/>
          </a:xfrm>
          <a:prstGeom prst="roundRect">
            <a:avLst>
              <a:gd name="adj" fmla="val 10582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4"/>
          <p:cNvSpPr/>
          <p:nvPr/>
        </p:nvSpPr>
        <p:spPr>
          <a:xfrm>
            <a:off x="1628546" y="4061199"/>
            <a:ext cx="533095" cy="53309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81251" y="4212989"/>
            <a:ext cx="228600" cy="228600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1604772" y="4609213"/>
            <a:ext cx="581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УНХД</a:t>
            </a:r>
            <a:endParaRPr lang="en-US" sz="1300" dirty="0"/>
          </a:p>
        </p:txBody>
      </p:sp>
      <p:sp>
        <p:nvSpPr>
          <p:cNvPr id="16" name="Text 6"/>
          <p:cNvSpPr txBox="1"/>
          <p:nvPr/>
        </p:nvSpPr>
        <p:spPr>
          <a:xfrm>
            <a:off x="800100" y="5091377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нереляционного хранилища данных</a:t>
            </a:r>
            <a:endParaRPr lang="en-US" sz="900" dirty="0"/>
          </a:p>
        </p:txBody>
      </p:sp>
      <p:sp>
        <p:nvSpPr>
          <p:cNvPr id="17" name="Shape 7"/>
          <p:cNvSpPr/>
          <p:nvPr/>
        </p:nvSpPr>
        <p:spPr>
          <a:xfrm>
            <a:off x="838505" y="5448369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8"/>
          <p:cNvSpPr txBox="1"/>
          <p:nvPr/>
        </p:nvSpPr>
        <p:spPr>
          <a:xfrm>
            <a:off x="795528" y="5572640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Начальник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800100" y="5788437"/>
            <a:ext cx="219090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Жакаев Нурсултан Оразбекович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3409798" y="3794194"/>
            <a:ext cx="2572207" cy="2866644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1"/>
          <p:cNvSpPr/>
          <p:nvPr/>
        </p:nvSpPr>
        <p:spPr>
          <a:xfrm>
            <a:off x="3409798" y="3794194"/>
            <a:ext cx="2572207" cy="38405"/>
          </a:xfrm>
          <a:prstGeom prst="roundRect">
            <a:avLst>
              <a:gd name="adj" fmla="val 10582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2"/>
          <p:cNvSpPr/>
          <p:nvPr/>
        </p:nvSpPr>
        <p:spPr>
          <a:xfrm>
            <a:off x="4429354" y="4061199"/>
            <a:ext cx="533095" cy="5330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4595774" y="4212989"/>
            <a:ext cx="200254" cy="2286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4413809" y="4609213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УРХД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3600907" y="5091377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реляционного хранилища данных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3676802" y="5457513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16"/>
          <p:cNvSpPr txBox="1"/>
          <p:nvPr/>
        </p:nvSpPr>
        <p:spPr>
          <a:xfrm>
            <a:off x="3596335" y="5572640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Начальник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3586832" y="5786609"/>
            <a:ext cx="219913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Зекеев </a:t>
            </a:r>
            <a:r>
              <a:rPr lang="en-US" sz="1000" b="1" dirty="0" err="1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Максат</a:t>
            </a:r>
            <a:r>
              <a:rPr lang="en-US" sz="10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1000" b="1" dirty="0">
              <a:solidFill>
                <a:srgbClr val="3B82F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Смагулович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6210605" y="3794194"/>
            <a:ext cx="2572207" cy="2866644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19"/>
          <p:cNvSpPr/>
          <p:nvPr/>
        </p:nvSpPr>
        <p:spPr>
          <a:xfrm>
            <a:off x="6210605" y="3794194"/>
            <a:ext cx="2572207" cy="38405"/>
          </a:xfrm>
          <a:prstGeom prst="roundRect">
            <a:avLst>
              <a:gd name="adj" fmla="val 105820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Shape 20"/>
          <p:cNvSpPr/>
          <p:nvPr/>
        </p:nvSpPr>
        <p:spPr>
          <a:xfrm>
            <a:off x="7229246" y="4061199"/>
            <a:ext cx="533095" cy="53309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7410298" y="4212989"/>
            <a:ext cx="171907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212787" y="4609213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УРСО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6400800" y="5091377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систем отчетности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6439205" y="5448369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24"/>
          <p:cNvSpPr txBox="1"/>
          <p:nvPr/>
        </p:nvSpPr>
        <p:spPr>
          <a:xfrm>
            <a:off x="6396228" y="5572640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Начальник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6400800" y="5763750"/>
            <a:ext cx="2190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Кусаинова </a:t>
            </a:r>
            <a:r>
              <a:rPr lang="en-US" sz="1000" b="1" dirty="0" err="1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Жамбы</a:t>
            </a:r>
            <a:r>
              <a:rPr lang="en-US" sz="10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1000" b="1" dirty="0">
              <a:solidFill>
                <a:srgbClr val="059669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Токеновна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9010498" y="3794194"/>
            <a:ext cx="2572207" cy="2866644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9" name="Shape 27"/>
          <p:cNvSpPr/>
          <p:nvPr/>
        </p:nvSpPr>
        <p:spPr>
          <a:xfrm>
            <a:off x="9010498" y="3794194"/>
            <a:ext cx="2572207" cy="38405"/>
          </a:xfrm>
          <a:prstGeom prst="roundRect">
            <a:avLst>
              <a:gd name="adj" fmla="val 10582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Shape 28"/>
          <p:cNvSpPr/>
          <p:nvPr/>
        </p:nvSpPr>
        <p:spPr>
          <a:xfrm>
            <a:off x="10030054" y="4061199"/>
            <a:ext cx="533095" cy="533095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0168128" y="4212989"/>
            <a:ext cx="256946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0019081" y="4609213"/>
            <a:ext cx="562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УРАС</a:t>
            </a:r>
            <a:endParaRPr lang="en-US" sz="1300" dirty="0"/>
          </a:p>
        </p:txBody>
      </p:sp>
      <p:sp>
        <p:nvSpPr>
          <p:cNvPr id="43" name="Text 30"/>
          <p:cNvSpPr txBox="1"/>
          <p:nvPr/>
        </p:nvSpPr>
        <p:spPr>
          <a:xfrm>
            <a:off x="9201607" y="5091377"/>
            <a:ext cx="2190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 аналитических систем</a:t>
            </a:r>
            <a:endParaRPr lang="en-US" sz="900" dirty="0"/>
          </a:p>
        </p:txBody>
      </p:sp>
      <p:sp>
        <p:nvSpPr>
          <p:cNvPr id="44" name="Shape 31"/>
          <p:cNvSpPr/>
          <p:nvPr/>
        </p:nvSpPr>
        <p:spPr>
          <a:xfrm>
            <a:off x="9197035" y="5468094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32"/>
          <p:cNvSpPr txBox="1"/>
          <p:nvPr/>
        </p:nvSpPr>
        <p:spPr>
          <a:xfrm>
            <a:off x="9237726" y="5572639"/>
            <a:ext cx="21991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Начальник</a:t>
            </a:r>
            <a:endParaRPr lang="en-US" sz="900" dirty="0"/>
          </a:p>
        </p:txBody>
      </p:sp>
      <p:sp>
        <p:nvSpPr>
          <p:cNvPr id="46" name="Text 33"/>
          <p:cNvSpPr txBox="1"/>
          <p:nvPr/>
        </p:nvSpPr>
        <p:spPr>
          <a:xfrm>
            <a:off x="9197035" y="5786609"/>
            <a:ext cx="2199132" cy="25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Секимов </a:t>
            </a:r>
            <a:r>
              <a:rPr lang="en-US" sz="1000" b="1" dirty="0" err="1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Рауан</a:t>
            </a:r>
            <a:r>
              <a:rPr lang="en-US" sz="10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1000" b="1" dirty="0">
              <a:solidFill>
                <a:srgbClr val="14B8A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1000" b="1" dirty="0" err="1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Толегенович</a:t>
            </a:r>
            <a:endParaRPr lang="en-US" sz="10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1" y="6779880"/>
            <a:ext cx="12191999" cy="93201"/>
          </a:xfrm>
          <a:prstGeom prst="rect">
            <a:avLst/>
          </a:prstGeom>
          <a:ln>
            <a:noFill/>
          </a:ln>
        </p:spPr>
      </p:pic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131DE2F2-9BC6-708F-AAFB-1636CE1F5E32}"/>
              </a:ext>
            </a:extLst>
          </p:cNvPr>
          <p:cNvGrpSpPr/>
          <p:nvPr/>
        </p:nvGrpSpPr>
        <p:grpSpPr>
          <a:xfrm>
            <a:off x="3937590" y="770839"/>
            <a:ext cx="4284878" cy="1961388"/>
            <a:chOff x="3937590" y="770839"/>
            <a:chExt cx="4284878" cy="1961388"/>
          </a:xfrm>
        </p:grpSpPr>
        <p:pic>
          <p:nvPicPr>
            <p:cNvPr id="48" name="Image 12" descr="preencoded.png"/>
            <p:cNvPicPr>
              <a:picLocks noChangeAspect="1"/>
            </p:cNvPicPr>
            <p:nvPr/>
          </p:nvPicPr>
          <p:blipFill>
            <a:blip r:embed="rId8"/>
            <a:srcRect l="-9" r="-9"/>
            <a:stretch/>
          </p:blipFill>
          <p:spPr>
            <a:xfrm>
              <a:off x="3937590" y="1056132"/>
              <a:ext cx="4284878" cy="1676095"/>
            </a:xfrm>
            <a:prstGeom prst="rect">
              <a:avLst/>
            </a:prstGeom>
          </p:spPr>
        </p:pic>
        <p:grpSp>
          <p:nvGrpSpPr>
            <p:cNvPr id="59" name="Группа 58">
              <a:extLst>
                <a:ext uri="{FF2B5EF4-FFF2-40B4-BE49-F238E27FC236}">
                  <a16:creationId xmlns:a16="http://schemas.microsoft.com/office/drawing/2014/main" id="{3BD8FE8E-A0E4-E299-9D7C-4EAA92A0A7B8}"/>
                </a:ext>
              </a:extLst>
            </p:cNvPr>
            <p:cNvGrpSpPr/>
            <p:nvPr/>
          </p:nvGrpSpPr>
          <p:grpSpPr>
            <a:xfrm>
              <a:off x="5498470" y="770839"/>
              <a:ext cx="1143000" cy="1143000"/>
              <a:chOff x="5790896" y="685800"/>
              <a:chExt cx="1143000" cy="1143000"/>
            </a:xfrm>
          </p:grpSpPr>
          <p:pic>
            <p:nvPicPr>
              <p:cNvPr id="49" name="Image 13" descr="preencoded.png"/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5790896" y="685800"/>
                <a:ext cx="1143000" cy="1143000"/>
              </a:xfrm>
              <a:prstGeom prst="rect">
                <a:avLst/>
              </a:prstGeom>
            </p:spPr>
          </p:pic>
          <p:pic>
            <p:nvPicPr>
              <p:cNvPr id="50" name="Image 14" descr="preencoded.png"/>
              <p:cNvPicPr>
                <a:picLocks noChangeAspect="1"/>
              </p:cNvPicPr>
              <p:nvPr/>
            </p:nvPicPr>
            <p:blipFill>
              <a:blip r:embed="rId10"/>
              <a:srcRect t="-530" b="-530"/>
              <a:stretch/>
            </p:blipFill>
            <p:spPr>
              <a:xfrm>
                <a:off x="6130197" y="950710"/>
                <a:ext cx="464397" cy="536370"/>
              </a:xfrm>
              <a:prstGeom prst="rect">
                <a:avLst/>
              </a:prstGeom>
            </p:spPr>
          </p:pic>
        </p:grpSp>
        <p:sp>
          <p:nvSpPr>
            <p:cNvPr id="51" name="Text 34"/>
            <p:cNvSpPr txBox="1"/>
            <p:nvPr/>
          </p:nvSpPr>
          <p:spPr>
            <a:xfrm>
              <a:off x="5108022" y="2008937"/>
              <a:ext cx="19431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45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Директор департамента</a:t>
              </a:r>
              <a:endParaRPr lang="en-US" sz="1000" dirty="0"/>
            </a:p>
          </p:txBody>
        </p:sp>
        <p:sp>
          <p:nvSpPr>
            <p:cNvPr id="52" name="Text 35"/>
            <p:cNvSpPr txBox="1"/>
            <p:nvPr/>
          </p:nvSpPr>
          <p:spPr>
            <a:xfrm>
              <a:off x="4259916" y="2280778"/>
              <a:ext cx="363931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Тлешпаев Даурен Изатович</a:t>
              </a:r>
              <a:endParaRPr lang="en-US" sz="1800" dirty="0"/>
            </a:p>
          </p:txBody>
        </p:sp>
      </p:grpSp>
      <p:sp>
        <p:nvSpPr>
          <p:cNvPr id="55" name="Shape 37"/>
          <p:cNvSpPr/>
          <p:nvPr/>
        </p:nvSpPr>
        <p:spPr>
          <a:xfrm>
            <a:off x="992764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38"/>
          <p:cNvSpPr txBox="1"/>
          <p:nvPr/>
        </p:nvSpPr>
        <p:spPr>
          <a:xfrm>
            <a:off x="9898380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7" name="Text 39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C424813-B1EB-7C15-CC3E-7AE19C170C51}"/>
              </a:ext>
            </a:extLst>
          </p:cNvPr>
          <p:cNvGrpSpPr/>
          <p:nvPr/>
        </p:nvGrpSpPr>
        <p:grpSpPr>
          <a:xfrm>
            <a:off x="615653" y="3429000"/>
            <a:ext cx="10972800" cy="218060"/>
            <a:chOff x="615653" y="3083008"/>
            <a:chExt cx="10972800" cy="218060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11"/>
            <a:srcRect t="-400" b="-400"/>
            <a:stretch/>
          </p:blipFill>
          <p:spPr>
            <a:xfrm>
              <a:off x="615653" y="3281866"/>
              <a:ext cx="10972800" cy="19202"/>
            </a:xfrm>
            <a:prstGeom prst="rect">
              <a:avLst/>
            </a:prstGeom>
          </p:spPr>
        </p:pic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id="{5119128C-C26A-1599-E0DB-0EA8F5075AF9}"/>
                </a:ext>
              </a:extLst>
            </p:cNvPr>
            <p:cNvCxnSpPr>
              <a:cxnSpLocks/>
            </p:cNvCxnSpPr>
            <p:nvPr/>
          </p:nvCxnSpPr>
          <p:spPr>
            <a:xfrm>
              <a:off x="6079572" y="3083008"/>
              <a:ext cx="457" cy="198858"/>
            </a:xfrm>
            <a:prstGeom prst="line">
              <a:avLst/>
            </a:prstGeom>
            <a:ln w="19050">
              <a:solidFill>
                <a:srgbClr val="CBD6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 27">
            <a:extLst>
              <a:ext uri="{FF2B5EF4-FFF2-40B4-BE49-F238E27FC236}">
                <a16:creationId xmlns:a16="http://schemas.microsoft.com/office/drawing/2014/main" id="{6E69B3F6-4023-5F19-9C16-603980D062CA}"/>
              </a:ext>
            </a:extLst>
          </p:cNvPr>
          <p:cNvSpPr txBox="1"/>
          <p:nvPr/>
        </p:nvSpPr>
        <p:spPr>
          <a:xfrm>
            <a:off x="419770" y="287775"/>
            <a:ext cx="4688252" cy="45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департамента</a:t>
            </a:r>
            <a:endParaRPr lang="en-US" sz="2700" dirty="0"/>
          </a:p>
        </p:txBody>
      </p: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A0E00048-D3EF-A172-445A-708303FAD694}"/>
              </a:ext>
            </a:extLst>
          </p:cNvPr>
          <p:cNvGrpSpPr/>
          <p:nvPr/>
        </p:nvGrpSpPr>
        <p:grpSpPr>
          <a:xfrm>
            <a:off x="1548399" y="6206344"/>
            <a:ext cx="693388" cy="252306"/>
            <a:chOff x="1468253" y="7031369"/>
            <a:chExt cx="693388" cy="252306"/>
          </a:xfrm>
        </p:grpSpPr>
        <p:sp>
          <p:nvSpPr>
            <p:cNvPr id="68" name="Shape 25">
              <a:extLst>
                <a:ext uri="{FF2B5EF4-FFF2-40B4-BE49-F238E27FC236}">
                  <a16:creationId xmlns:a16="http://schemas.microsoft.com/office/drawing/2014/main" id="{4AC44B83-F09B-AB53-A69F-BB1158AE0A38}"/>
                </a:ext>
              </a:extLst>
            </p:cNvPr>
            <p:cNvSpPr/>
            <p:nvPr/>
          </p:nvSpPr>
          <p:spPr>
            <a:xfrm>
              <a:off x="1767078" y="7037030"/>
              <a:ext cx="328614" cy="228600"/>
            </a:xfrm>
            <a:prstGeom prst="roundRect">
              <a:avLst>
                <a:gd name="adj" fmla="val 113540"/>
              </a:avLst>
            </a:prstGeom>
            <a:solidFill>
              <a:srgbClr val="06B6D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6B6D4">
                  <a:alpha val="20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69" name="Text 26">
              <a:extLst>
                <a:ext uri="{FF2B5EF4-FFF2-40B4-BE49-F238E27FC236}">
                  <a16:creationId xmlns:a16="http://schemas.microsoft.com/office/drawing/2014/main" id="{A80B0027-27AA-8350-5CBB-6A0B1DC001C9}"/>
                </a:ext>
              </a:extLst>
            </p:cNvPr>
            <p:cNvSpPr txBox="1"/>
            <p:nvPr/>
          </p:nvSpPr>
          <p:spPr>
            <a:xfrm>
              <a:off x="1710017" y="7031369"/>
              <a:ext cx="451624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</a:rPr>
                <a:t>10</a:t>
              </a:r>
              <a:endParaRPr lang="en-US" sz="1200" dirty="0"/>
            </a:p>
          </p:txBody>
        </p:sp>
        <p:pic>
          <p:nvPicPr>
            <p:cNvPr id="70" name="Image 3" descr="preencoded.png">
              <a:extLst>
                <a:ext uri="{FF2B5EF4-FFF2-40B4-BE49-F238E27FC236}">
                  <a16:creationId xmlns:a16="http://schemas.microsoft.com/office/drawing/2014/main" id="{BB5A598B-2F8B-2A02-C18B-5E65A613C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80000"/>
            </a:blip>
            <a:srcRect l="-1648" r="-1648"/>
            <a:stretch/>
          </p:blipFill>
          <p:spPr>
            <a:xfrm>
              <a:off x="1468253" y="7037030"/>
              <a:ext cx="222929" cy="246645"/>
            </a:xfrm>
            <a:prstGeom prst="rect">
              <a:avLst/>
            </a:prstGeom>
          </p:spPr>
        </p:pic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5A07B410-18C2-6C0A-4885-5E476B096A4B}"/>
              </a:ext>
            </a:extLst>
          </p:cNvPr>
          <p:cNvGrpSpPr/>
          <p:nvPr/>
        </p:nvGrpSpPr>
        <p:grpSpPr>
          <a:xfrm>
            <a:off x="4398912" y="6215093"/>
            <a:ext cx="593977" cy="246645"/>
            <a:chOff x="6019763" y="7380369"/>
            <a:chExt cx="593977" cy="246645"/>
          </a:xfrm>
        </p:grpSpPr>
        <p:pic>
          <p:nvPicPr>
            <p:cNvPr id="73" name="Image 15" descr="preencoded.png">
              <a:extLst>
                <a:ext uri="{FF2B5EF4-FFF2-40B4-BE49-F238E27FC236}">
                  <a16:creationId xmlns:a16="http://schemas.microsoft.com/office/drawing/2014/main" id="{699182E2-FB1D-5468-F48E-595F32FBD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80000"/>
            </a:blip>
            <a:srcRect t="-2725" b="-2725"/>
            <a:stretch/>
          </p:blipFill>
          <p:spPr>
            <a:xfrm>
              <a:off x="6019763" y="7380369"/>
              <a:ext cx="204662" cy="246645"/>
            </a:xfrm>
            <a:prstGeom prst="rect">
              <a:avLst/>
            </a:prstGeom>
          </p:spPr>
        </p:pic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4A1A907E-7FDA-9241-C9D8-C1CFD2E93748}"/>
                </a:ext>
              </a:extLst>
            </p:cNvPr>
            <p:cNvGrpSpPr/>
            <p:nvPr/>
          </p:nvGrpSpPr>
          <p:grpSpPr>
            <a:xfrm>
              <a:off x="6285127" y="7380370"/>
              <a:ext cx="328613" cy="235065"/>
              <a:chOff x="6341042" y="7380370"/>
              <a:chExt cx="328613" cy="235065"/>
            </a:xfrm>
          </p:grpSpPr>
          <p:sp>
            <p:nvSpPr>
              <p:cNvPr id="75" name="Shape 24">
                <a:extLst>
                  <a:ext uri="{FF2B5EF4-FFF2-40B4-BE49-F238E27FC236}">
                    <a16:creationId xmlns:a16="http://schemas.microsoft.com/office/drawing/2014/main" id="{2CE1C722-16E2-67BF-EDCD-566451DA285E}"/>
                  </a:ext>
                </a:extLst>
              </p:cNvPr>
              <p:cNvSpPr/>
              <p:nvPr/>
            </p:nvSpPr>
            <p:spPr>
              <a:xfrm>
                <a:off x="6341042" y="7380370"/>
                <a:ext cx="328613" cy="228600"/>
              </a:xfrm>
              <a:prstGeom prst="roundRect">
                <a:avLst>
                  <a:gd name="adj" fmla="val 100000"/>
                </a:avLst>
              </a:prstGeom>
              <a:solidFill>
                <a:srgbClr val="3B82F6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  <a:effectLst>
                <a:outerShdw blurRad="38100" dist="25400" dir="16200000" algn="bl" rotWithShape="0">
                  <a:srgbClr val="3B82F6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76" name="Text 25">
                <a:extLst>
                  <a:ext uri="{FF2B5EF4-FFF2-40B4-BE49-F238E27FC236}">
                    <a16:creationId xmlns:a16="http://schemas.microsoft.com/office/drawing/2014/main" id="{FF25AED2-3314-B598-85B1-E08F76710F5E}"/>
                  </a:ext>
                </a:extLst>
              </p:cNvPr>
              <p:cNvSpPr txBox="1"/>
              <p:nvPr/>
            </p:nvSpPr>
            <p:spPr>
              <a:xfrm>
                <a:off x="6399395" y="7386834"/>
                <a:ext cx="226044" cy="22860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Montserrat" pitchFamily="34" charset="0"/>
                  </a:rPr>
                  <a:t>19</a:t>
                </a:r>
                <a:endParaRPr lang="en-US" sz="1000" dirty="0"/>
              </a:p>
            </p:txBody>
          </p:sp>
        </p:grp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B612C5DF-4A21-1539-F453-E0E69BF0C934}"/>
              </a:ext>
            </a:extLst>
          </p:cNvPr>
          <p:cNvGrpSpPr/>
          <p:nvPr/>
        </p:nvGrpSpPr>
        <p:grpSpPr>
          <a:xfrm>
            <a:off x="7185040" y="6211199"/>
            <a:ext cx="621505" cy="246645"/>
            <a:chOff x="4679466" y="7356440"/>
            <a:chExt cx="621505" cy="246645"/>
          </a:xfrm>
        </p:grpSpPr>
        <p:pic>
          <p:nvPicPr>
            <p:cNvPr id="87" name="Image 8" descr="preencoded.png">
              <a:extLst>
                <a:ext uri="{FF2B5EF4-FFF2-40B4-BE49-F238E27FC236}">
                  <a16:creationId xmlns:a16="http://schemas.microsoft.com/office/drawing/2014/main" id="{2E612B62-D3CF-F272-E859-18C9C2F64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57" r="-57"/>
            <a:stretch/>
          </p:blipFill>
          <p:spPr>
            <a:xfrm>
              <a:off x="4679466" y="7358998"/>
              <a:ext cx="200254" cy="228601"/>
            </a:xfrm>
            <a:prstGeom prst="rect">
              <a:avLst/>
            </a:prstGeom>
          </p:spPr>
        </p:pic>
        <p:sp>
          <p:nvSpPr>
            <p:cNvPr id="89" name="Shape 36">
              <a:extLst>
                <a:ext uri="{FF2B5EF4-FFF2-40B4-BE49-F238E27FC236}">
                  <a16:creationId xmlns:a16="http://schemas.microsoft.com/office/drawing/2014/main" id="{82026198-491A-8C91-5DA1-166E1B4D0432}"/>
                </a:ext>
              </a:extLst>
            </p:cNvPr>
            <p:cNvSpPr/>
            <p:nvPr/>
          </p:nvSpPr>
          <p:spPr>
            <a:xfrm>
              <a:off x="4943716" y="7358997"/>
              <a:ext cx="328612" cy="228601"/>
            </a:xfrm>
            <a:prstGeom prst="roundRect">
              <a:avLst>
                <a:gd name="adj" fmla="val 56306"/>
              </a:avLst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88" name="Text 37">
              <a:extLst>
                <a:ext uri="{FF2B5EF4-FFF2-40B4-BE49-F238E27FC236}">
                  <a16:creationId xmlns:a16="http://schemas.microsoft.com/office/drawing/2014/main" id="{407AEEDA-BB43-3507-6F70-B55F3DC28362}"/>
                </a:ext>
              </a:extLst>
            </p:cNvPr>
            <p:cNvSpPr txBox="1"/>
            <p:nvPr/>
          </p:nvSpPr>
          <p:spPr>
            <a:xfrm>
              <a:off x="4915073" y="7356440"/>
              <a:ext cx="385898" cy="2466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A651"/>
                  </a:solidFill>
                  <a:latin typeface="Montserrat" pitchFamily="34" charset="0"/>
                </a:rPr>
                <a:t>18</a:t>
              </a:r>
              <a:endParaRPr lang="en-US" sz="1200" dirty="0"/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F83AAE18-E97B-22F8-3AAE-EAB586E999CA}"/>
              </a:ext>
            </a:extLst>
          </p:cNvPr>
          <p:cNvGrpSpPr/>
          <p:nvPr/>
        </p:nvGrpSpPr>
        <p:grpSpPr>
          <a:xfrm>
            <a:off x="9992854" y="6182451"/>
            <a:ext cx="680129" cy="258154"/>
            <a:chOff x="9085570" y="7347419"/>
            <a:chExt cx="680129" cy="258154"/>
          </a:xfrm>
        </p:grpSpPr>
        <p:sp>
          <p:nvSpPr>
            <p:cNvPr id="91" name="Shape 18">
              <a:extLst>
                <a:ext uri="{FF2B5EF4-FFF2-40B4-BE49-F238E27FC236}">
                  <a16:creationId xmlns:a16="http://schemas.microsoft.com/office/drawing/2014/main" id="{BCE82275-7FAC-B262-135A-6D482F54AAE9}"/>
                </a:ext>
              </a:extLst>
            </p:cNvPr>
            <p:cNvSpPr/>
            <p:nvPr/>
          </p:nvSpPr>
          <p:spPr>
            <a:xfrm>
              <a:off x="9372792" y="7365464"/>
              <a:ext cx="328613" cy="228600"/>
            </a:xfrm>
            <a:prstGeom prst="roundRect">
              <a:avLst>
                <a:gd name="adj" fmla="val 113540"/>
              </a:avLst>
            </a:prstGeom>
            <a:solidFill>
              <a:srgbClr val="14B8A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14B8A6">
                  <a:alpha val="20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grpSp>
          <p:nvGrpSpPr>
            <p:cNvPr id="94" name="Группа 93">
              <a:extLst>
                <a:ext uri="{FF2B5EF4-FFF2-40B4-BE49-F238E27FC236}">
                  <a16:creationId xmlns:a16="http://schemas.microsoft.com/office/drawing/2014/main" id="{AFA1B1E1-BDAB-A3C0-0132-0FEE6129BA2C}"/>
                </a:ext>
              </a:extLst>
            </p:cNvPr>
            <p:cNvGrpSpPr/>
            <p:nvPr/>
          </p:nvGrpSpPr>
          <p:grpSpPr>
            <a:xfrm>
              <a:off x="9085570" y="7347419"/>
              <a:ext cx="680129" cy="258154"/>
              <a:chOff x="9085570" y="7347419"/>
              <a:chExt cx="680129" cy="258154"/>
            </a:xfrm>
          </p:grpSpPr>
          <p:sp>
            <p:nvSpPr>
              <p:cNvPr id="92" name="Text 19">
                <a:extLst>
                  <a:ext uri="{FF2B5EF4-FFF2-40B4-BE49-F238E27FC236}">
                    <a16:creationId xmlns:a16="http://schemas.microsoft.com/office/drawing/2014/main" id="{3E8146AF-D82D-49BE-180F-90C37EDE4B68}"/>
                  </a:ext>
                </a:extLst>
              </p:cNvPr>
              <p:cNvSpPr txBox="1"/>
              <p:nvPr/>
            </p:nvSpPr>
            <p:spPr>
              <a:xfrm>
                <a:off x="9308499" y="7357771"/>
                <a:ext cx="457200" cy="24780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9</a:t>
                </a:r>
                <a:endParaRPr lang="en-US" sz="1000" dirty="0"/>
              </a:p>
            </p:txBody>
          </p:sp>
          <p:pic>
            <p:nvPicPr>
              <p:cNvPr id="93" name="Image 3" descr="preencoded.png">
                <a:extLst>
                  <a:ext uri="{FF2B5EF4-FFF2-40B4-BE49-F238E27FC236}">
                    <a16:creationId xmlns:a16="http://schemas.microsoft.com/office/drawing/2014/main" id="{F2D10917-8C7E-AAED-0DFE-AB954AFB9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alphaModFix amt="80000"/>
              </a:blip>
              <a:srcRect l="-1648" r="-1648"/>
              <a:stretch/>
            </p:blipFill>
            <p:spPr>
              <a:xfrm>
                <a:off x="9085570" y="7347419"/>
                <a:ext cx="222929" cy="246645"/>
              </a:xfrm>
              <a:prstGeom prst="rect">
                <a:avLst/>
              </a:prstGeom>
            </p:spPr>
          </p:pic>
        </p:grpSp>
      </p:grpSp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C930B7FA-1DD1-982F-EFC2-EFCE47A50FFA}"/>
              </a:ext>
            </a:extLst>
          </p:cNvPr>
          <p:cNvGrpSpPr/>
          <p:nvPr/>
        </p:nvGrpSpPr>
        <p:grpSpPr>
          <a:xfrm>
            <a:off x="5076902" y="2863526"/>
            <a:ext cx="2135885" cy="498089"/>
            <a:chOff x="5313404" y="7039533"/>
            <a:chExt cx="2135885" cy="498089"/>
          </a:xfrm>
        </p:grpSpPr>
        <p:sp>
          <p:nvSpPr>
            <p:cNvPr id="103" name="Скругленный прямоугольник 102">
              <a:extLst>
                <a:ext uri="{FF2B5EF4-FFF2-40B4-BE49-F238E27FC236}">
                  <a16:creationId xmlns:a16="http://schemas.microsoft.com/office/drawing/2014/main" id="{D635321A-DD3D-0612-D855-70DBE2EDB1BC}"/>
                </a:ext>
              </a:extLst>
            </p:cNvPr>
            <p:cNvSpPr/>
            <p:nvPr/>
          </p:nvSpPr>
          <p:spPr>
            <a:xfrm>
              <a:off x="5313404" y="7039533"/>
              <a:ext cx="2135885" cy="4980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/>
            </a:p>
          </p:txBody>
        </p:sp>
        <p:sp>
          <p:nvSpPr>
            <p:cNvPr id="102" name="Text 35">
              <a:extLst>
                <a:ext uri="{FF2B5EF4-FFF2-40B4-BE49-F238E27FC236}">
                  <a16:creationId xmlns:a16="http://schemas.microsoft.com/office/drawing/2014/main" id="{AFD48898-7C65-F79C-58B4-1F8732F40903}"/>
                </a:ext>
              </a:extLst>
            </p:cNvPr>
            <p:cNvSpPr txBox="1"/>
            <p:nvPr/>
          </p:nvSpPr>
          <p:spPr>
            <a:xfrm>
              <a:off x="5503230" y="7107092"/>
              <a:ext cx="1178849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100" b="1" dirty="0">
                  <a:solidFill>
                    <a:schemeClr val="bg1">
                      <a:lumMod val="50000"/>
                    </a:schemeClr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Специалист (интерн)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06" name="Группа 105">
              <a:extLst>
                <a:ext uri="{FF2B5EF4-FFF2-40B4-BE49-F238E27FC236}">
                  <a16:creationId xmlns:a16="http://schemas.microsoft.com/office/drawing/2014/main" id="{FD680C21-2A7C-0972-4E7E-01C532412AB7}"/>
                </a:ext>
              </a:extLst>
            </p:cNvPr>
            <p:cNvGrpSpPr/>
            <p:nvPr/>
          </p:nvGrpSpPr>
          <p:grpSpPr>
            <a:xfrm>
              <a:off x="6797932" y="7143782"/>
              <a:ext cx="328613" cy="247802"/>
              <a:chOff x="9715359" y="7018145"/>
              <a:chExt cx="328613" cy="247802"/>
            </a:xfrm>
          </p:grpSpPr>
          <p:sp>
            <p:nvSpPr>
              <p:cNvPr id="105" name="Shape 18">
                <a:extLst>
                  <a:ext uri="{FF2B5EF4-FFF2-40B4-BE49-F238E27FC236}">
                    <a16:creationId xmlns:a16="http://schemas.microsoft.com/office/drawing/2014/main" id="{89F3E45A-BFF6-E7D1-682C-0DD31325A5A4}"/>
                  </a:ext>
                </a:extLst>
              </p:cNvPr>
              <p:cNvSpPr/>
              <p:nvPr/>
            </p:nvSpPr>
            <p:spPr>
              <a:xfrm>
                <a:off x="9715359" y="7027746"/>
                <a:ext cx="328613" cy="228600"/>
              </a:xfrm>
              <a:prstGeom prst="roundRect">
                <a:avLst>
                  <a:gd name="adj" fmla="val 113540"/>
                </a:avLst>
              </a:prstGeom>
              <a:solidFill>
                <a:srgbClr val="05A651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  <a:effectLst>
                <a:outerShdw blurRad="63500" dist="38100" dir="16200000" algn="bl" rotWithShape="0">
                  <a:srgbClr val="14B8A6">
                    <a:alpha val="20000"/>
                  </a:srgbClr>
                </a:outerShdw>
              </a:effectLst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04" name="Text 19">
                <a:extLst>
                  <a:ext uri="{FF2B5EF4-FFF2-40B4-BE49-F238E27FC236}">
                    <a16:creationId xmlns:a16="http://schemas.microsoft.com/office/drawing/2014/main" id="{12EF9F05-5665-2DE8-65F1-02D2AD148975}"/>
                  </a:ext>
                </a:extLst>
              </p:cNvPr>
              <p:cNvSpPr txBox="1"/>
              <p:nvPr/>
            </p:nvSpPr>
            <p:spPr>
              <a:xfrm>
                <a:off x="9798835" y="7018145"/>
                <a:ext cx="161659" cy="24780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ru-RU" sz="1000" b="1" dirty="0">
                    <a:solidFill>
                      <a:srgbClr val="FFFFFF"/>
                    </a:solidFill>
                    <a:latin typeface="Montserrat" pitchFamily="34" charset="0"/>
                  </a:rPr>
                  <a:t>1</a:t>
                </a:r>
                <a:endParaRPr lang="en-US" sz="1000" dirty="0"/>
              </a:p>
            </p:txBody>
          </p:sp>
        </p:grpSp>
      </p:grpSp>
      <p:cxnSp>
        <p:nvCxnSpPr>
          <p:cNvPr id="109" name="Прямая соединительная линия 108">
            <a:extLst>
              <a:ext uri="{FF2B5EF4-FFF2-40B4-BE49-F238E27FC236}">
                <a16:creationId xmlns:a16="http://schemas.microsoft.com/office/drawing/2014/main" id="{7A405316-CEAB-1962-F0E3-68BF4D44D8A5}"/>
              </a:ext>
            </a:extLst>
          </p:cNvPr>
          <p:cNvCxnSpPr>
            <a:cxnSpLocks/>
          </p:cNvCxnSpPr>
          <p:nvPr/>
        </p:nvCxnSpPr>
        <p:spPr>
          <a:xfrm>
            <a:off x="6081328" y="2669493"/>
            <a:ext cx="0" cy="186133"/>
          </a:xfrm>
          <a:prstGeom prst="line">
            <a:avLst/>
          </a:prstGeom>
          <a:ln w="19050">
            <a:solidFill>
              <a:srgbClr val="CBD6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7551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3705554" y="3773823"/>
            <a:ext cx="1904695" cy="107624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5000"/>
              </a:srgbClr>
            </a:outerShdw>
          </a:effectLst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 t="-402" b="-402"/>
          <a:stretch/>
        </p:blipFill>
        <p:spPr>
          <a:xfrm>
            <a:off x="1990982" y="5157216"/>
            <a:ext cx="8191195" cy="19202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 l="-400" r="-400"/>
          <a:stretch/>
        </p:blipFill>
        <p:spPr>
          <a:xfrm>
            <a:off x="2161975" y="5157216"/>
            <a:ext cx="19202" cy="228600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 l="-400" r="-400"/>
          <a:stretch/>
        </p:blipFill>
        <p:spPr>
          <a:xfrm>
            <a:off x="4124277" y="5157216"/>
            <a:ext cx="19202" cy="228600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 l="-400" r="-400"/>
          <a:stretch/>
        </p:blipFill>
        <p:spPr>
          <a:xfrm>
            <a:off x="6086580" y="5157216"/>
            <a:ext cx="19202" cy="228600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 l="-400" r="-400"/>
          <a:stretch/>
        </p:blipFill>
        <p:spPr>
          <a:xfrm>
            <a:off x="8048882" y="5157216"/>
            <a:ext cx="19202" cy="228600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 l="-400" r="-400"/>
          <a:stretch/>
        </p:blipFill>
        <p:spPr>
          <a:xfrm>
            <a:off x="10010270" y="5157216"/>
            <a:ext cx="19202" cy="2286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1256719" y="5385816"/>
            <a:ext cx="1809598" cy="10003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0038"/>
              </a:srgbClr>
            </a:outerShdw>
          </a:effectLst>
        </p:spPr>
      </p:pic>
      <p:sp>
        <p:nvSpPr>
          <p:cNvPr id="30" name="Text 12"/>
          <p:cNvSpPr txBox="1"/>
          <p:nvPr/>
        </p:nvSpPr>
        <p:spPr>
          <a:xfrm>
            <a:off x="1688316" y="5776265"/>
            <a:ext cx="9564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</a:t>
            </a:r>
            <a:endParaRPr lang="en-US" sz="900" dirty="0"/>
          </a:p>
        </p:txBody>
      </p:sp>
      <p:sp>
        <p:nvSpPr>
          <p:cNvPr id="31" name="Shape 13"/>
          <p:cNvSpPr/>
          <p:nvPr/>
        </p:nvSpPr>
        <p:spPr>
          <a:xfrm>
            <a:off x="1971780" y="6024068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6B6D4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Text 14"/>
          <p:cNvSpPr txBox="1"/>
          <p:nvPr/>
        </p:nvSpPr>
        <p:spPr>
          <a:xfrm>
            <a:off x="1933375" y="6024068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1648" r="-1648"/>
          <a:stretch/>
        </p:blipFill>
        <p:spPr>
          <a:xfrm>
            <a:off x="2076021" y="5528463"/>
            <a:ext cx="171907" cy="190195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3219021" y="5385816"/>
            <a:ext cx="1809598" cy="10003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0038"/>
              </a:srgbClr>
            </a:outerShdw>
          </a:effectLst>
        </p:spPr>
      </p:pic>
      <p:sp>
        <p:nvSpPr>
          <p:cNvPr id="35" name="Text 15"/>
          <p:cNvSpPr txBox="1"/>
          <p:nvPr/>
        </p:nvSpPr>
        <p:spPr>
          <a:xfrm>
            <a:off x="3355267" y="5776265"/>
            <a:ext cx="15453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 Data Engineer</a:t>
            </a:r>
            <a:endParaRPr lang="en-US" sz="900" dirty="0"/>
          </a:p>
        </p:txBody>
      </p:sp>
      <p:sp>
        <p:nvSpPr>
          <p:cNvPr id="36" name="Shape 16"/>
          <p:cNvSpPr/>
          <p:nvPr/>
        </p:nvSpPr>
        <p:spPr>
          <a:xfrm>
            <a:off x="3934082" y="6024068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6B6D4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7" name="Text 17"/>
          <p:cNvSpPr txBox="1"/>
          <p:nvPr/>
        </p:nvSpPr>
        <p:spPr>
          <a:xfrm>
            <a:off x="3895677" y="6024068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1282" r="-1282"/>
          <a:stretch/>
        </p:blipFill>
        <p:spPr>
          <a:xfrm>
            <a:off x="4014549" y="5528463"/>
            <a:ext cx="219456" cy="190195"/>
          </a:xfrm>
          <a:prstGeom prst="rect">
            <a:avLst/>
          </a:prstGeom>
        </p:spPr>
      </p:pic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5181324" y="5385816"/>
            <a:ext cx="1809598" cy="10003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0038"/>
              </a:srgbClr>
            </a:outerShdw>
          </a:effectLst>
        </p:spPr>
      </p:pic>
      <p:sp>
        <p:nvSpPr>
          <p:cNvPr id="40" name="Text 18"/>
          <p:cNvSpPr txBox="1"/>
          <p:nvPr/>
        </p:nvSpPr>
        <p:spPr>
          <a:xfrm>
            <a:off x="5368776" y="5776265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Разработчик</a:t>
            </a:r>
            <a:endParaRPr lang="en-US" sz="900" dirty="0"/>
          </a:p>
        </p:txBody>
      </p:sp>
      <p:sp>
        <p:nvSpPr>
          <p:cNvPr id="41" name="Shape 19"/>
          <p:cNvSpPr/>
          <p:nvPr/>
        </p:nvSpPr>
        <p:spPr>
          <a:xfrm>
            <a:off x="5895470" y="6024068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6B6D4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2" name="Text 20"/>
          <p:cNvSpPr txBox="1"/>
          <p:nvPr/>
        </p:nvSpPr>
        <p:spPr>
          <a:xfrm>
            <a:off x="5857980" y="6024068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43" name="Image 20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/>
          <a:stretch/>
        </p:blipFill>
        <p:spPr>
          <a:xfrm>
            <a:off x="5966793" y="5528463"/>
            <a:ext cx="237744" cy="190195"/>
          </a:xfrm>
          <a:prstGeom prst="rect">
            <a:avLst/>
          </a:prstGeom>
        </p:spPr>
      </p:pic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7143626" y="5385816"/>
            <a:ext cx="1809598" cy="10003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0038"/>
              </a:srgbClr>
            </a:outerShdw>
          </a:effectLst>
        </p:spPr>
      </p:pic>
      <p:sp>
        <p:nvSpPr>
          <p:cNvPr id="45" name="Text 21"/>
          <p:cNvSpPr txBox="1"/>
          <p:nvPr/>
        </p:nvSpPr>
        <p:spPr>
          <a:xfrm>
            <a:off x="7703239" y="5776265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</a:t>
            </a:r>
            <a:endParaRPr lang="en-US" sz="900" dirty="0"/>
          </a:p>
        </p:txBody>
      </p:sp>
      <p:sp>
        <p:nvSpPr>
          <p:cNvPr id="46" name="Shape 22"/>
          <p:cNvSpPr/>
          <p:nvPr/>
        </p:nvSpPr>
        <p:spPr>
          <a:xfrm>
            <a:off x="7857773" y="6024068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6B6D4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Text 23"/>
          <p:cNvSpPr txBox="1"/>
          <p:nvPr/>
        </p:nvSpPr>
        <p:spPr>
          <a:xfrm>
            <a:off x="7820282" y="6024068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48" name="Image 22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/>
          <a:stretch/>
        </p:blipFill>
        <p:spPr>
          <a:xfrm>
            <a:off x="7929096" y="5528463"/>
            <a:ext cx="237744" cy="190195"/>
          </a:xfrm>
          <a:prstGeom prst="rect">
            <a:avLst/>
          </a:prstGeom>
        </p:spPr>
      </p:pic>
      <p:pic>
        <p:nvPicPr>
          <p:cNvPr id="49" name="Image 23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9105929" y="5385816"/>
            <a:ext cx="1809598" cy="10003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0038"/>
              </a:srgbClr>
            </a:outerShdw>
          </a:effectLst>
        </p:spPr>
      </p:pic>
      <p:sp>
        <p:nvSpPr>
          <p:cNvPr id="50" name="Text 24"/>
          <p:cNvSpPr txBox="1"/>
          <p:nvPr/>
        </p:nvSpPr>
        <p:spPr>
          <a:xfrm>
            <a:off x="9274178" y="5776265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Старший Разработчик</a:t>
            </a:r>
            <a:endParaRPr lang="en-US" sz="900" dirty="0"/>
          </a:p>
        </p:txBody>
      </p:sp>
      <p:sp>
        <p:nvSpPr>
          <p:cNvPr id="51" name="Shape 25"/>
          <p:cNvSpPr/>
          <p:nvPr/>
        </p:nvSpPr>
        <p:spPr>
          <a:xfrm>
            <a:off x="9820075" y="6024068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6B6D4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2" name="Text 26"/>
          <p:cNvSpPr txBox="1"/>
          <p:nvPr/>
        </p:nvSpPr>
        <p:spPr>
          <a:xfrm>
            <a:off x="9781670" y="6024068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53" name="Image 24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/>
          <a:stretch/>
        </p:blipFill>
        <p:spPr>
          <a:xfrm>
            <a:off x="9891398" y="5528463"/>
            <a:ext cx="237744" cy="190195"/>
          </a:xfrm>
          <a:prstGeom prst="rect">
            <a:avLst/>
          </a:prstGeom>
        </p:spPr>
      </p:pic>
      <p:pic>
        <p:nvPicPr>
          <p:cNvPr id="54" name="Image 2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09905" y="277978"/>
            <a:ext cx="133502" cy="133502"/>
          </a:xfrm>
          <a:prstGeom prst="rect">
            <a:avLst/>
          </a:prstGeom>
        </p:spPr>
      </p:pic>
      <p:sp>
        <p:nvSpPr>
          <p:cNvPr id="55" name="Text 27"/>
          <p:cNvSpPr txBox="1"/>
          <p:nvPr/>
        </p:nvSpPr>
        <p:spPr>
          <a:xfrm>
            <a:off x="457200" y="651967"/>
            <a:ext cx="5739689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нереляционного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хранилища данных</a:t>
            </a:r>
            <a:endParaRPr lang="en-US" sz="2700" dirty="0"/>
          </a:p>
        </p:txBody>
      </p: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AB80E894-300D-BBDC-D0BD-C05C8D9EE0D9}"/>
              </a:ext>
            </a:extLst>
          </p:cNvPr>
          <p:cNvGrpSpPr/>
          <p:nvPr/>
        </p:nvGrpSpPr>
        <p:grpSpPr>
          <a:xfrm>
            <a:off x="4461357" y="1831245"/>
            <a:ext cx="3505810" cy="1239210"/>
            <a:chOff x="4342484" y="1793855"/>
            <a:chExt cx="3505810" cy="1239210"/>
          </a:xfrm>
        </p:grpSpPr>
        <p:grpSp>
          <p:nvGrpSpPr>
            <p:cNvPr id="71" name="Группа 70">
              <a:extLst>
                <a:ext uri="{FF2B5EF4-FFF2-40B4-BE49-F238E27FC236}">
                  <a16:creationId xmlns:a16="http://schemas.microsoft.com/office/drawing/2014/main" id="{23F83DDC-2AD9-1195-C458-870CD9FAC3A7}"/>
                </a:ext>
              </a:extLst>
            </p:cNvPr>
            <p:cNvGrpSpPr/>
            <p:nvPr/>
          </p:nvGrpSpPr>
          <p:grpSpPr>
            <a:xfrm>
              <a:off x="4821173" y="1793855"/>
              <a:ext cx="2548433" cy="913421"/>
              <a:chOff x="4821173" y="1793855"/>
              <a:chExt cx="2548433" cy="913421"/>
            </a:xfrm>
          </p:grpSpPr>
          <p:sp>
            <p:nvSpPr>
              <p:cNvPr id="7" name="Text 2"/>
              <p:cNvSpPr txBox="1"/>
              <p:nvPr/>
            </p:nvSpPr>
            <p:spPr>
              <a:xfrm>
                <a:off x="4821173" y="2509243"/>
                <a:ext cx="2548433" cy="1980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Начальник управления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0" name="Image 3" descr="preencoded.png"/>
              <p:cNvPicPr>
                <a:picLocks noChangeAspect="1"/>
              </p:cNvPicPr>
              <p:nvPr/>
            </p:nvPicPr>
            <p:blipFill>
              <a:blip r:embed="rId14">
                <a:alphaModFix amt="80000"/>
              </a:blip>
              <a:srcRect l="-1648" r="-1648"/>
              <a:stretch/>
            </p:blipFill>
            <p:spPr>
              <a:xfrm>
                <a:off x="5818173" y="1793855"/>
                <a:ext cx="536146" cy="593183"/>
              </a:xfrm>
              <a:prstGeom prst="rect">
                <a:avLst/>
              </a:prstGeom>
            </p:spPr>
          </p:pic>
        </p:grpSp>
        <p:sp>
          <p:nvSpPr>
            <p:cNvPr id="58" name="Text 29"/>
            <p:cNvSpPr txBox="1"/>
            <p:nvPr/>
          </p:nvSpPr>
          <p:spPr>
            <a:xfrm>
              <a:off x="4342484" y="2766060"/>
              <a:ext cx="35058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3741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Жакаев Нурсултан Оразбекович</a:t>
              </a:r>
              <a:endParaRPr lang="en-US" sz="1500" dirty="0"/>
            </a:p>
          </p:txBody>
        </p:sp>
      </p:grpSp>
      <p:sp>
        <p:nvSpPr>
          <p:cNvPr id="59" name="Text 30"/>
          <p:cNvSpPr txBox="1"/>
          <p:nvPr/>
        </p:nvSpPr>
        <p:spPr>
          <a:xfrm>
            <a:off x="9927641" y="2286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60" name="Shape 31"/>
          <p:cNvSpPr/>
          <p:nvPr/>
        </p:nvSpPr>
        <p:spPr>
          <a:xfrm>
            <a:off x="11354105" y="1901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32"/>
          <p:cNvSpPr txBox="1"/>
          <p:nvPr/>
        </p:nvSpPr>
        <p:spPr>
          <a:xfrm>
            <a:off x="11324844" y="1901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2" name="Shape 33"/>
          <p:cNvSpPr/>
          <p:nvPr/>
        </p:nvSpPr>
        <p:spPr>
          <a:xfrm>
            <a:off x="457200" y="1901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Text 34"/>
          <p:cNvSpPr txBox="1"/>
          <p:nvPr/>
        </p:nvSpPr>
        <p:spPr>
          <a:xfrm>
            <a:off x="819302" y="1901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 </a:t>
            </a:r>
            <a:endParaRPr lang="en-US" sz="1000" dirty="0"/>
          </a:p>
        </p:txBody>
      </p: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CD7BF5F6-5F47-6F13-A5BF-2A8C843DE641}"/>
              </a:ext>
            </a:extLst>
          </p:cNvPr>
          <p:cNvGrpSpPr/>
          <p:nvPr/>
        </p:nvGrpSpPr>
        <p:grpSpPr>
          <a:xfrm>
            <a:off x="9427130" y="2270355"/>
            <a:ext cx="2117170" cy="800100"/>
            <a:chOff x="6988759" y="-1169910"/>
            <a:chExt cx="2117170" cy="800100"/>
          </a:xfrm>
        </p:grpSpPr>
        <p:pic>
          <p:nvPicPr>
            <p:cNvPr id="68" name="Image 27" descr="preencoded.png">
              <a:extLst>
                <a:ext uri="{FF2B5EF4-FFF2-40B4-BE49-F238E27FC236}">
                  <a16:creationId xmlns:a16="http://schemas.microsoft.com/office/drawing/2014/main" id="{3CDDF60A-EE2E-2640-BE7F-8929C1080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-10" r="-10"/>
            <a:stretch/>
          </p:blipFill>
          <p:spPr>
            <a:xfrm>
              <a:off x="6988759" y="-1169910"/>
              <a:ext cx="2117170" cy="8001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20000"/>
                </a:srgbClr>
              </a:outerShdw>
            </a:effectLst>
          </p:spPr>
        </p:pic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4C8CDFD9-AC68-1379-EA69-FD5FDB3D413D}"/>
                </a:ext>
              </a:extLst>
            </p:cNvPr>
            <p:cNvSpPr txBox="1"/>
            <p:nvPr/>
          </p:nvSpPr>
          <p:spPr>
            <a:xfrm>
              <a:off x="7331659" y="-1055610"/>
              <a:ext cx="152428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45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Общий штат</a:t>
              </a:r>
              <a:endParaRPr lang="en-US" sz="900" dirty="0"/>
            </a:p>
          </p:txBody>
        </p:sp>
        <p:sp>
          <p:nvSpPr>
            <p:cNvPr id="70" name="Text 36">
              <a:extLst>
                <a:ext uri="{FF2B5EF4-FFF2-40B4-BE49-F238E27FC236}">
                  <a16:creationId xmlns:a16="http://schemas.microsoft.com/office/drawing/2014/main" id="{8F1A6016-717A-8DB2-878D-7C9C443B8C4D}"/>
                </a:ext>
              </a:extLst>
            </p:cNvPr>
            <p:cNvSpPr txBox="1"/>
            <p:nvPr/>
          </p:nvSpPr>
          <p:spPr>
            <a:xfrm>
              <a:off x="7331659" y="-865415"/>
              <a:ext cx="163129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700" b="1" dirty="0">
                  <a:solidFill>
                    <a:srgbClr val="06B6D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 </a:t>
              </a:r>
              <a:r>
                <a:rPr lang="en-US" sz="1000" b="1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сотрудников</a:t>
              </a:r>
              <a:endParaRPr lang="en-US" sz="2700" dirty="0"/>
            </a:p>
          </p:txBody>
        </p:sp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D904F010-4009-1046-4A63-79DA4F600339}"/>
              </a:ext>
            </a:extLst>
          </p:cNvPr>
          <p:cNvGrpSpPr/>
          <p:nvPr/>
        </p:nvGrpSpPr>
        <p:grpSpPr>
          <a:xfrm>
            <a:off x="3886147" y="3932241"/>
            <a:ext cx="1543507" cy="827369"/>
            <a:chOff x="6857215" y="7240838"/>
            <a:chExt cx="1543507" cy="827369"/>
          </a:xfrm>
        </p:grpSpPr>
        <p:sp>
          <p:nvSpPr>
            <p:cNvPr id="15" name="Shape 7"/>
            <p:cNvSpPr/>
            <p:nvPr/>
          </p:nvSpPr>
          <p:spPr>
            <a:xfrm>
              <a:off x="7436945" y="7782000"/>
              <a:ext cx="381305" cy="286207"/>
            </a:xfrm>
            <a:prstGeom prst="roundRect">
              <a:avLst>
                <a:gd name="adj" fmla="val 85197"/>
              </a:avLst>
            </a:prstGeom>
            <a:solidFill>
              <a:srgbClr val="06B6D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6B6D4">
                  <a:alpha val="20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Text 6"/>
            <p:cNvSpPr txBox="1"/>
            <p:nvPr/>
          </p:nvSpPr>
          <p:spPr>
            <a:xfrm>
              <a:off x="6857215" y="7496707"/>
              <a:ext cx="154350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741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Engineer Lead</a:t>
              </a:r>
              <a:endParaRPr lang="en-US" sz="1000" dirty="0"/>
            </a:p>
          </p:txBody>
        </p:sp>
        <p:sp>
          <p:nvSpPr>
            <p:cNvPr id="16" name="Text 8"/>
            <p:cNvSpPr txBox="1"/>
            <p:nvPr/>
          </p:nvSpPr>
          <p:spPr>
            <a:xfrm>
              <a:off x="7398540" y="7782000"/>
              <a:ext cx="457200" cy="28620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200" dirty="0"/>
            </a:p>
          </p:txBody>
        </p:sp>
        <p:pic>
          <p:nvPicPr>
            <p:cNvPr id="17" name="Image 6" descr="preencoded.png"/>
            <p:cNvPicPr>
              <a:picLocks noChangeAspect="1"/>
            </p:cNvPicPr>
            <p:nvPr/>
          </p:nvPicPr>
          <p:blipFill>
            <a:blip r:embed="rId16">
              <a:alphaModFix amt="80000"/>
            </a:blip>
            <a:srcRect/>
            <a:stretch/>
          </p:blipFill>
          <p:spPr>
            <a:xfrm>
              <a:off x="7481294" y="7240838"/>
              <a:ext cx="237744" cy="190195"/>
            </a:xfrm>
            <a:prstGeom prst="rect">
              <a:avLst/>
            </a:prstGeom>
          </p:spPr>
        </p:pic>
      </p:grp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B0BFD108-6AB4-DB81-6A62-C6DE86BE7D0B}"/>
              </a:ext>
            </a:extLst>
          </p:cNvPr>
          <p:cNvCxnSpPr>
            <a:cxnSpLocks/>
          </p:cNvCxnSpPr>
          <p:nvPr/>
        </p:nvCxnSpPr>
        <p:spPr>
          <a:xfrm>
            <a:off x="6116712" y="3429000"/>
            <a:ext cx="0" cy="15240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31A34F2F-0A2E-73F9-778A-CC25554EB3AD}"/>
              </a:ext>
            </a:extLst>
          </p:cNvPr>
          <p:cNvCxnSpPr>
            <a:cxnSpLocks/>
          </p:cNvCxnSpPr>
          <p:nvPr/>
        </p:nvCxnSpPr>
        <p:spPr>
          <a:xfrm flipH="1">
            <a:off x="4657902" y="3581400"/>
            <a:ext cx="2825039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>
            <a:extLst>
              <a:ext uri="{FF2B5EF4-FFF2-40B4-BE49-F238E27FC236}">
                <a16:creationId xmlns:a16="http://schemas.microsoft.com/office/drawing/2014/main" id="{FF4C2D93-3B9E-CAD3-D778-94FF63A7F85D}"/>
              </a:ext>
            </a:extLst>
          </p:cNvPr>
          <p:cNvCxnSpPr>
            <a:cxnSpLocks/>
          </p:cNvCxnSpPr>
          <p:nvPr/>
        </p:nvCxnSpPr>
        <p:spPr>
          <a:xfrm>
            <a:off x="7482941" y="3581400"/>
            <a:ext cx="0" cy="192423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E721C297-F7D2-653C-A4B4-26D3AE7D529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657902" y="3581400"/>
            <a:ext cx="0" cy="192423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A78B65D3-EF0F-06F3-726E-502E801623B1}"/>
              </a:ext>
            </a:extLst>
          </p:cNvPr>
          <p:cNvGrpSpPr/>
          <p:nvPr/>
        </p:nvGrpSpPr>
        <p:grpSpPr>
          <a:xfrm>
            <a:off x="6521906" y="3761284"/>
            <a:ext cx="1904695" cy="1076249"/>
            <a:chOff x="6146205" y="7162396"/>
            <a:chExt cx="1904695" cy="1076249"/>
          </a:xfrm>
        </p:grpSpPr>
        <p:pic>
          <p:nvPicPr>
            <p:cNvPr id="18" name="Image 7" descr="preencoded.png"/>
            <p:cNvPicPr>
              <a:picLocks noChangeAspect="1"/>
            </p:cNvPicPr>
            <p:nvPr/>
          </p:nvPicPr>
          <p:blipFill>
            <a:blip r:embed="rId4"/>
            <a:srcRect t="-4" b="-4"/>
            <a:stretch/>
          </p:blipFill>
          <p:spPr>
            <a:xfrm>
              <a:off x="6146205" y="7162396"/>
              <a:ext cx="1904695" cy="1076249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4292"/>
                </a:srgbClr>
              </a:outerShdw>
            </a:effectLst>
          </p:spPr>
        </p:pic>
        <p:sp>
          <p:nvSpPr>
            <p:cNvPr id="19" name="Text 9"/>
            <p:cNvSpPr txBox="1"/>
            <p:nvPr/>
          </p:nvSpPr>
          <p:spPr>
            <a:xfrm>
              <a:off x="6575190" y="7556909"/>
              <a:ext cx="1181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741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Архитектор ХД</a:t>
              </a:r>
              <a:endParaRPr lang="en-US" sz="1000" dirty="0"/>
            </a:p>
          </p:txBody>
        </p:sp>
        <p:sp>
          <p:nvSpPr>
            <p:cNvPr id="20" name="Shape 10"/>
            <p:cNvSpPr/>
            <p:nvPr/>
          </p:nvSpPr>
          <p:spPr>
            <a:xfrm>
              <a:off x="6908815" y="7838137"/>
              <a:ext cx="381305" cy="286207"/>
            </a:xfrm>
            <a:prstGeom prst="roundRect">
              <a:avLst>
                <a:gd name="adj" fmla="val 85197"/>
              </a:avLst>
            </a:prstGeom>
            <a:solidFill>
              <a:srgbClr val="06B6D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6B6D4">
                  <a:alpha val="20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21" name="Text 11"/>
            <p:cNvSpPr txBox="1"/>
            <p:nvPr/>
          </p:nvSpPr>
          <p:spPr>
            <a:xfrm>
              <a:off x="6870410" y="7838137"/>
              <a:ext cx="457200" cy="28620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200" dirty="0"/>
            </a:p>
          </p:txBody>
        </p:sp>
        <p:pic>
          <p:nvPicPr>
            <p:cNvPr id="22" name="Image 8" descr="preencoded.png"/>
            <p:cNvPicPr>
              <a:picLocks noChangeAspect="1"/>
            </p:cNvPicPr>
            <p:nvPr/>
          </p:nvPicPr>
          <p:blipFill>
            <a:blip r:embed="rId17">
              <a:alphaModFix amt="80000"/>
            </a:blip>
            <a:srcRect l="-1282" r="-1282"/>
            <a:stretch/>
          </p:blipFill>
          <p:spPr>
            <a:xfrm>
              <a:off x="6988824" y="7305041"/>
              <a:ext cx="219456" cy="1901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8621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838505"/>
            <a:ext cx="381305" cy="381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2356" y="942746"/>
            <a:ext cx="171907" cy="17190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90295" y="857707"/>
            <a:ext cx="3191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 управления</a:t>
            </a:r>
            <a:endParaRPr lang="en-US" sz="2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457200" y="1600200"/>
            <a:ext cx="3556102" cy="464789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72033" y="2779956"/>
            <a:ext cx="1791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Сопровождение</a:t>
            </a:r>
            <a:endParaRPr lang="en-US" sz="1500" dirty="0"/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0ED6597-742B-4CA6-1FD6-759ABA05F1AF}"/>
              </a:ext>
            </a:extLst>
          </p:cNvPr>
          <p:cNvGrpSpPr/>
          <p:nvPr/>
        </p:nvGrpSpPr>
        <p:grpSpPr>
          <a:xfrm>
            <a:off x="648722" y="3197657"/>
            <a:ext cx="3405677" cy="1551002"/>
            <a:chOff x="648722" y="3197657"/>
            <a:chExt cx="3405677" cy="1551002"/>
          </a:xfrm>
        </p:grpSpPr>
        <p:sp>
          <p:nvSpPr>
            <p:cNvPr id="10" name="Text 4"/>
            <p:cNvSpPr txBox="1"/>
            <p:nvPr/>
          </p:nvSpPr>
          <p:spPr>
            <a:xfrm>
              <a:off x="872287" y="3197657"/>
              <a:ext cx="3182112" cy="657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Сопровождение и развитие систем нереляционного хранилища (DataLake).</a:t>
              </a:r>
              <a:endParaRPr lang="en-US" sz="1100" dirty="0"/>
            </a:p>
          </p:txBody>
        </p:sp>
        <p:sp>
          <p:nvSpPr>
            <p:cNvPr id="11" name="Shape 5"/>
            <p:cNvSpPr/>
            <p:nvPr/>
          </p:nvSpPr>
          <p:spPr>
            <a:xfrm>
              <a:off x="682504" y="3301345"/>
              <a:ext cx="57607" cy="57607"/>
            </a:xfrm>
            <a:prstGeom prst="ellipse">
              <a:avLst/>
            </a:prstGeom>
            <a:solidFill>
              <a:srgbClr val="06B6D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2" name="Text 6"/>
            <p:cNvSpPr txBox="1"/>
            <p:nvPr/>
          </p:nvSpPr>
          <p:spPr>
            <a:xfrm>
              <a:off x="838505" y="3761107"/>
              <a:ext cx="31821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Обеспечение стабильной работы хранилища данных.</a:t>
              </a:r>
              <a:endParaRPr lang="en-US" sz="1100" dirty="0"/>
            </a:p>
          </p:txBody>
        </p:sp>
        <p:sp>
          <p:nvSpPr>
            <p:cNvPr id="13" name="Shape 7"/>
            <p:cNvSpPr/>
            <p:nvPr/>
          </p:nvSpPr>
          <p:spPr>
            <a:xfrm>
              <a:off x="648722" y="3864795"/>
              <a:ext cx="57607" cy="57607"/>
            </a:xfrm>
            <a:prstGeom prst="ellipse">
              <a:avLst/>
            </a:prstGeom>
            <a:solidFill>
              <a:srgbClr val="06B6D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Text 8"/>
            <p:cNvSpPr txBox="1"/>
            <p:nvPr/>
          </p:nvSpPr>
          <p:spPr>
            <a:xfrm>
              <a:off x="838505" y="4309747"/>
              <a:ext cx="31821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B556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Составление необходимой сопроводительной документации.</a:t>
              </a:r>
              <a:endParaRPr lang="en-US" sz="1100" dirty="0"/>
            </a:p>
          </p:txBody>
        </p:sp>
        <p:sp>
          <p:nvSpPr>
            <p:cNvPr id="15" name="Shape 9"/>
            <p:cNvSpPr/>
            <p:nvPr/>
          </p:nvSpPr>
          <p:spPr>
            <a:xfrm>
              <a:off x="648722" y="4413435"/>
              <a:ext cx="57607" cy="57607"/>
            </a:xfrm>
            <a:prstGeom prst="ellipse">
              <a:avLst/>
            </a:prstGeom>
            <a:solidFill>
              <a:srgbClr val="06B6D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</p:grp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4317797" y="1600200"/>
            <a:ext cx="3556102" cy="46478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546397" y="1933956"/>
            <a:ext cx="609905" cy="60990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8246" y="2095805"/>
            <a:ext cx="286207" cy="28620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606368" y="2805420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4813402" y="3208352"/>
            <a:ext cx="3219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технических заданий.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606368" y="3345150"/>
            <a:ext cx="57607" cy="57607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4"/>
          <p:cNvSpPr txBox="1"/>
          <p:nvPr/>
        </p:nvSpPr>
        <p:spPr>
          <a:xfrm>
            <a:off x="4813402" y="3539365"/>
            <a:ext cx="3219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Проектирование архитектуры.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606368" y="3677077"/>
            <a:ext cx="57607" cy="57607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16"/>
          <p:cNvSpPr txBox="1"/>
          <p:nvPr/>
        </p:nvSpPr>
        <p:spPr>
          <a:xfrm>
            <a:off x="4813402" y="3871292"/>
            <a:ext cx="31821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решений в нереляционном хранилище данных (Big Data).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606368" y="4008090"/>
            <a:ext cx="57607" cy="57607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8178394" y="1600200"/>
            <a:ext cx="3556102" cy="464789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8406994" y="1933956"/>
            <a:ext cx="609905" cy="60990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68842" y="2095805"/>
            <a:ext cx="286207" cy="2862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406994" y="2771546"/>
            <a:ext cx="2199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Устранение ошибок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8581644" y="3207341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Оперативный анализ и диагностика инцидентов.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8409114" y="3292380"/>
            <a:ext cx="57607" cy="57607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2"/>
          <p:cNvSpPr txBox="1"/>
          <p:nvPr/>
        </p:nvSpPr>
        <p:spPr>
          <a:xfrm>
            <a:off x="8581644" y="3755981"/>
            <a:ext cx="31821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Устранение ошибок, возникающих в ходе эксплуатации нереляционного хранилища данных.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8409114" y="3841020"/>
            <a:ext cx="57607" cy="57607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09905" y="392278"/>
            <a:ext cx="133502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36" name="Shape 25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26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38" name="Shape 27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28"/>
          <p:cNvSpPr txBox="1"/>
          <p:nvPr/>
        </p:nvSpPr>
        <p:spPr>
          <a:xfrm>
            <a:off x="819302" y="3044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 </a:t>
            </a:r>
            <a:endParaRPr lang="en-US" sz="1000" dirty="0"/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FA05188E-E681-CB3E-CFE8-191258B03E24}"/>
              </a:ext>
            </a:extLst>
          </p:cNvPr>
          <p:cNvGrpSpPr/>
          <p:nvPr/>
        </p:nvGrpSpPr>
        <p:grpSpPr>
          <a:xfrm>
            <a:off x="682504" y="1901908"/>
            <a:ext cx="685800" cy="685800"/>
            <a:chOff x="724205" y="2009851"/>
            <a:chExt cx="685800" cy="685800"/>
          </a:xfrm>
        </p:grpSpPr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CD50B12B-E7D2-60CA-A03B-A214689E71FE}"/>
                </a:ext>
              </a:extLst>
            </p:cNvPr>
            <p:cNvSpPr/>
            <p:nvPr/>
          </p:nvSpPr>
          <p:spPr>
            <a:xfrm>
              <a:off x="724205" y="2009851"/>
              <a:ext cx="685800" cy="685800"/>
            </a:xfrm>
            <a:prstGeom prst="ellipse">
              <a:avLst/>
            </a:prstGeom>
            <a:solidFill>
              <a:srgbClr val="06B6D4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9" name="Image 4" descr="preencoded.png">
              <a:extLst>
                <a:ext uri="{FF2B5EF4-FFF2-40B4-BE49-F238E27FC236}">
                  <a16:creationId xmlns:a16="http://schemas.microsoft.com/office/drawing/2014/main" id="{7D64AD91-F3A2-E459-4BA9-9303B618C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895198" y="2180844"/>
              <a:ext cx="342900" cy="342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485546" y="1975104"/>
            <a:ext cx="2190902" cy="2286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380744" y="2356409"/>
            <a:ext cx="400507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40587" y="2975458"/>
            <a:ext cx="10863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данных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77494" y="3585362"/>
            <a:ext cx="12097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 базы данных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(Oracle / Postgre) 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2829154" y="2994660"/>
            <a:ext cx="228600" cy="2286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3209544" y="1975104"/>
            <a:ext cx="2190902" cy="22860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4105656" y="2489911"/>
            <a:ext cx="400507" cy="4572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3762756" y="3108960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</a:t>
            </a:r>
            <a:endParaRPr lang="en-US" sz="1300" dirty="0"/>
          </a:p>
        </p:txBody>
      </p:sp>
      <p:sp>
        <p:nvSpPr>
          <p:cNvPr id="12" name="Text 5"/>
          <p:cNvSpPr txBox="1"/>
          <p:nvPr/>
        </p:nvSpPr>
        <p:spPr>
          <a:xfrm>
            <a:off x="3606394" y="3451860"/>
            <a:ext cx="14008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ETL / ELT Процессы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EB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Spark + NiFi</a:t>
            </a:r>
            <a:endParaRPr lang="en-US" sz="1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5553151" y="2994660"/>
            <a:ext cx="228600" cy="22860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rcRect t="-14" b="-14"/>
          <a:stretch/>
        </p:blipFill>
        <p:spPr>
          <a:xfrm>
            <a:off x="5934456" y="1832458"/>
            <a:ext cx="3047695" cy="2572207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t="-499" b="-499"/>
          <a:stretch/>
        </p:blipFill>
        <p:spPr>
          <a:xfrm>
            <a:off x="7323430" y="2712110"/>
            <a:ext cx="286207" cy="256946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6738214" y="3194914"/>
            <a:ext cx="1448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LAKE</a:t>
            </a:r>
            <a:endParaRPr lang="en-US" sz="1800" dirty="0"/>
          </a:p>
        </p:txBody>
      </p:sp>
      <p:sp>
        <p:nvSpPr>
          <p:cNvPr id="17" name="Text 7"/>
          <p:cNvSpPr txBox="1"/>
          <p:nvPr/>
        </p:nvSpPr>
        <p:spPr>
          <a:xfrm>
            <a:off x="6482182" y="3575304"/>
            <a:ext cx="195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Hadoop (ArenaData)</a:t>
            </a:r>
            <a:endParaRPr lang="en-US" sz="1600" b="1" dirty="0"/>
          </a:p>
          <a:p>
            <a:pPr marL="0" indent="0" algn="ctr">
              <a:buNone/>
            </a:pPr>
            <a:endParaRPr lang="ru-RU" sz="900" dirty="0">
              <a:solidFill>
                <a:srgbClr val="9CA3A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Централизованное хранилище</a:t>
            </a:r>
            <a:endParaRPr lang="en-US" sz="12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9134856" y="2994660"/>
            <a:ext cx="228600" cy="22860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rcRect l="-3" r="-3"/>
          <a:stretch/>
        </p:blipFill>
        <p:spPr>
          <a:xfrm>
            <a:off x="9515246" y="1975104"/>
            <a:ext cx="2190902" cy="228600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25405" y="2356409"/>
            <a:ext cx="571500" cy="457200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10180015" y="2975458"/>
            <a:ext cx="86685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Витрина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данных</a:t>
            </a:r>
            <a:endParaRPr lang="en-US" sz="1300" dirty="0"/>
          </a:p>
        </p:txBody>
      </p:sp>
      <p:sp>
        <p:nvSpPr>
          <p:cNvPr id="22" name="Text 9"/>
          <p:cNvSpPr txBox="1"/>
          <p:nvPr/>
        </p:nvSpPr>
        <p:spPr>
          <a:xfrm>
            <a:off x="10024567" y="3585362"/>
            <a:ext cx="11814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Warehouse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(DWH) </a:t>
            </a:r>
            <a:endParaRPr lang="en-US" sz="100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1"/>
          <a:srcRect t="-6" b="-6"/>
          <a:stretch/>
        </p:blipFill>
        <p:spPr>
          <a:xfrm>
            <a:off x="457200" y="4823460"/>
            <a:ext cx="11277295" cy="2040941"/>
          </a:xfrm>
          <a:prstGeom prst="rect">
            <a:avLst/>
          </a:prstGeom>
        </p:spPr>
      </p:pic>
      <p:sp>
        <p:nvSpPr>
          <p:cNvPr id="24" name="Shape 10"/>
          <p:cNvSpPr/>
          <p:nvPr/>
        </p:nvSpPr>
        <p:spPr>
          <a:xfrm>
            <a:off x="819302" y="5013655"/>
            <a:ext cx="533095" cy="53309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985723" y="5166360"/>
            <a:ext cx="200254" cy="228600"/>
          </a:xfrm>
          <a:prstGeom prst="rect">
            <a:avLst/>
          </a:prstGeom>
        </p:spPr>
      </p:pic>
      <p:sp>
        <p:nvSpPr>
          <p:cNvPr id="26" name="Text 11"/>
          <p:cNvSpPr txBox="1"/>
          <p:nvPr/>
        </p:nvSpPr>
        <p:spPr>
          <a:xfrm>
            <a:off x="1580998" y="5013655"/>
            <a:ext cx="9963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DataLake Hadoop (ArenaData)</a:t>
            </a:r>
            <a:endParaRPr lang="en-US" sz="1500" dirty="0"/>
          </a:p>
        </p:txBody>
      </p:sp>
      <p:sp>
        <p:nvSpPr>
          <p:cNvPr id="27" name="Text 12"/>
          <p:cNvSpPr txBox="1"/>
          <p:nvPr/>
        </p:nvSpPr>
        <p:spPr>
          <a:xfrm>
            <a:off x="1580998" y="5356555"/>
            <a:ext cx="98298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Назначение:</a:t>
            </a: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Hadoop — это распределённая платформа для хранения и обработки больших объёмов данных (Big Data). Hadoop выступает как надёжное «хранилище-база» для сырых данных, где данные сохраняются в исходном виде с возможностью последующей трансформации, анализа и аудита — без потери контекста и истории. </a:t>
            </a:r>
            <a:endParaRPr lang="en-US" sz="1050" dirty="0"/>
          </a:p>
        </p:txBody>
      </p:sp>
      <p:sp>
        <p:nvSpPr>
          <p:cNvPr id="28" name="Text 13"/>
          <p:cNvSpPr txBox="1"/>
          <p:nvPr/>
        </p:nvSpPr>
        <p:spPr>
          <a:xfrm>
            <a:off x="1580998" y="6159398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9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3">
            <a:alphaModFix amt="70000"/>
          </a:blip>
          <a:srcRect t="-180" b="-180"/>
          <a:stretch/>
        </p:blipFill>
        <p:spPr>
          <a:xfrm>
            <a:off x="1580998" y="6426403"/>
            <a:ext cx="190195" cy="152705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1848002" y="6387998"/>
            <a:ext cx="2061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УРХД (DDS), OCDS, ДУД</a:t>
            </a:r>
            <a:endParaRPr lang="en-US" sz="1200" dirty="0"/>
          </a:p>
        </p:txBody>
      </p:sp>
      <p:sp>
        <p:nvSpPr>
          <p:cNvPr id="31" name="Text 15"/>
          <p:cNvSpPr txBox="1"/>
          <p:nvPr/>
        </p:nvSpPr>
        <p:spPr>
          <a:xfrm>
            <a:off x="4399178" y="6159398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900" dirty="0"/>
          </a:p>
        </p:txBody>
      </p:sp>
      <p:sp>
        <p:nvSpPr>
          <p:cNvPr id="32" name="Text 16"/>
          <p:cNvSpPr txBox="1"/>
          <p:nvPr/>
        </p:nvSpPr>
        <p:spPr>
          <a:xfrm>
            <a:off x="4415343" y="6443597"/>
            <a:ext cx="857707" cy="17025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108000" tIns="0" rIns="0" bIns="0" rtlCol="0" anchor="ctr" anchorCtr="0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Hadoop</a:t>
            </a:r>
            <a:endParaRPr lang="en-US" sz="1000" dirty="0"/>
          </a:p>
        </p:txBody>
      </p:sp>
      <p:sp>
        <p:nvSpPr>
          <p:cNvPr id="33" name="Text 17"/>
          <p:cNvSpPr txBox="1"/>
          <p:nvPr/>
        </p:nvSpPr>
        <p:spPr>
          <a:xfrm>
            <a:off x="5288595" y="6443597"/>
            <a:ext cx="619963" cy="170259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txBody>
          <a:bodyPr wrap="square" lIns="108000" tIns="0" rIns="0" bIns="0" rtlCol="0" anchor="ctr" anchorCtr="0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</a:t>
            </a:r>
            <a:endParaRPr lang="en-US" sz="1000" dirty="0"/>
          </a:p>
        </p:txBody>
      </p:sp>
      <p:sp>
        <p:nvSpPr>
          <p:cNvPr id="34" name="Text 18"/>
          <p:cNvSpPr txBox="1"/>
          <p:nvPr/>
        </p:nvSpPr>
        <p:spPr>
          <a:xfrm>
            <a:off x="5925018" y="6443597"/>
            <a:ext cx="819302" cy="17025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txBody>
          <a:bodyPr wrap="square" lIns="108000" tIns="0" rIns="0" bIns="0" rtlCol="0" anchor="ctr" anchorCtr="0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000" dirty="0"/>
          </a:p>
        </p:txBody>
      </p:sp>
      <p:sp>
        <p:nvSpPr>
          <p:cNvPr id="35" name="Text 19"/>
          <p:cNvSpPr txBox="1"/>
          <p:nvPr/>
        </p:nvSpPr>
        <p:spPr>
          <a:xfrm>
            <a:off x="6757122" y="6443597"/>
            <a:ext cx="715061" cy="170259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108000" tIns="0" rIns="0" bIns="0" rtlCol="0" anchor="ctr" anchorCtr="0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Spark</a:t>
            </a:r>
            <a:endParaRPr lang="en-US" sz="1000" dirty="0"/>
          </a:p>
        </p:txBody>
      </p:sp>
      <p:sp>
        <p:nvSpPr>
          <p:cNvPr id="36" name="Text 20"/>
          <p:cNvSpPr txBox="1"/>
          <p:nvPr/>
        </p:nvSpPr>
        <p:spPr>
          <a:xfrm>
            <a:off x="7483155" y="6443597"/>
            <a:ext cx="581558" cy="17025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0E7FF"/>
            </a:solidFill>
          </a:ln>
        </p:spPr>
        <p:txBody>
          <a:bodyPr wrap="square" lIns="108000" tIns="0" rIns="0" bIns="0" rtlCol="0" anchor="ctr" anchorCtr="0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NiFi</a:t>
            </a:r>
            <a:endParaRPr lang="en-US" sz="10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4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09905" y="392278"/>
            <a:ext cx="133502" cy="133502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457200" y="727862"/>
            <a:ext cx="453908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Сопровождаемые и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развиваемые системы</a:t>
            </a:r>
            <a:endParaRPr lang="en-US" sz="2700" dirty="0"/>
          </a:p>
        </p:txBody>
      </p:sp>
      <p:sp>
        <p:nvSpPr>
          <p:cNvPr id="40" name="Text 22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1" name="Shape 23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24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3" name="Shape 25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26"/>
          <p:cNvSpPr txBox="1"/>
          <p:nvPr/>
        </p:nvSpPr>
        <p:spPr>
          <a:xfrm>
            <a:off x="819302" y="3044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 </a:t>
            </a:r>
            <a:endParaRPr lang="en-US" sz="1000" dirty="0"/>
          </a:p>
        </p:txBody>
      </p:sp>
      <p:sp>
        <p:nvSpPr>
          <p:cNvPr id="45" name="Text 27"/>
          <p:cNvSpPr txBox="1"/>
          <p:nvPr/>
        </p:nvSpPr>
        <p:spPr>
          <a:xfrm>
            <a:off x="1399946" y="1860804"/>
            <a:ext cx="362102" cy="305410"/>
          </a:xfrm>
          <a:prstGeom prst="rect">
            <a:avLst/>
          </a:prstGeom>
          <a:solidFill>
            <a:srgbClr val="FFFFFF"/>
          </a:solidFill>
          <a:ln w="25400">
            <a:solidFill>
              <a:srgbClr val="0EB8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B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28"/>
          <p:cNvSpPr txBox="1"/>
          <p:nvPr/>
        </p:nvSpPr>
        <p:spPr>
          <a:xfrm>
            <a:off x="4123944" y="1860804"/>
            <a:ext cx="362102" cy="305410"/>
          </a:xfrm>
          <a:prstGeom prst="rect">
            <a:avLst/>
          </a:prstGeom>
          <a:solidFill>
            <a:srgbClr val="FFFFFF"/>
          </a:solidFill>
          <a:ln w="25400">
            <a:solidFill>
              <a:srgbClr val="0EB8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B8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29"/>
          <p:cNvSpPr txBox="1"/>
          <p:nvPr/>
        </p:nvSpPr>
        <p:spPr>
          <a:xfrm>
            <a:off x="7276795" y="1718158"/>
            <a:ext cx="362102" cy="30541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30"/>
          <p:cNvSpPr txBox="1"/>
          <p:nvPr/>
        </p:nvSpPr>
        <p:spPr>
          <a:xfrm>
            <a:off x="10429646" y="1860804"/>
            <a:ext cx="362102" cy="30541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647395" y="2597810"/>
            <a:ext cx="3429000" cy="2667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38505" y="2826410"/>
            <a:ext cx="304495" cy="30449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3"/>
          <p:cNvSpPr txBox="1"/>
          <p:nvPr/>
        </p:nvSpPr>
        <p:spPr>
          <a:xfrm>
            <a:off x="800100" y="282641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76602" y="3111703"/>
            <a:ext cx="571500" cy="457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15238" y="3807562"/>
            <a:ext cx="2298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DataLake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38505" y="4187952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инфраструктуры DataLake Hadoop для стабильной работы хранилища данных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4381805" y="2597810"/>
            <a:ext cx="3429000" cy="26673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0" y="2826410"/>
            <a:ext cx="304495" cy="30449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7"/>
          <p:cNvSpPr txBox="1"/>
          <p:nvPr/>
        </p:nvSpPr>
        <p:spPr>
          <a:xfrm>
            <a:off x="4533595" y="282641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24398" y="2978201"/>
            <a:ext cx="3429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572000" y="3674059"/>
            <a:ext cx="3048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новых источников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4572000" y="4321454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новых источников данных (ERP, IoT, базы данных) в единое </a:t>
            </a:r>
            <a:r>
              <a:rPr lang="en-US" sz="100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централизованное</a:t>
            </a: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хранилище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8115300" y="2597810"/>
            <a:ext cx="3429000" cy="266730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305495" y="2826410"/>
            <a:ext cx="304495" cy="304495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1"/>
          <p:cNvSpPr txBox="1"/>
          <p:nvPr/>
        </p:nvSpPr>
        <p:spPr>
          <a:xfrm>
            <a:off x="8268005" y="282641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01200" y="3111703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426196" y="3807562"/>
            <a:ext cx="281360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Централизация песочниц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8305495" y="4187952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Централизация и стандартизация песочниц (Sandbox) для аналитиков и Data Scientists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905" y="392278"/>
            <a:ext cx="133502" cy="13350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57200" y="727862"/>
            <a:ext cx="581009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Текущие</a:t>
            </a:r>
            <a:r>
              <a:rPr lang="en-US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b="1" kern="0" spc="68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</a:t>
            </a:r>
            <a:r>
              <a:rPr lang="ru-RU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управления </a:t>
            </a:r>
            <a:endParaRPr lang="en-US" sz="2700" dirty="0"/>
          </a:p>
        </p:txBody>
      </p:sp>
      <p:sp>
        <p:nvSpPr>
          <p:cNvPr id="25" name="Text 15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26" name="Shape 16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17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19"/>
          <p:cNvSpPr txBox="1"/>
          <p:nvPr/>
        </p:nvSpPr>
        <p:spPr>
          <a:xfrm>
            <a:off x="819302" y="3044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67105" y="1554480"/>
            <a:ext cx="100584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1067105" y="1554480"/>
            <a:ext cx="47549" cy="685800"/>
          </a:xfrm>
          <a:prstGeom prst="roundRect">
            <a:avLst>
              <a:gd name="adj" fmla="val 320511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 txBox="1"/>
          <p:nvPr/>
        </p:nvSpPr>
        <p:spPr>
          <a:xfrm>
            <a:off x="1343254" y="1772107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Lake Storage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67105" y="2392985"/>
            <a:ext cx="100584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1067105" y="2392985"/>
            <a:ext cx="47549" cy="685800"/>
          </a:xfrm>
          <a:prstGeom prst="roundRect">
            <a:avLst>
              <a:gd name="adj" fmla="val 320511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 txBox="1"/>
          <p:nvPr/>
        </p:nvSpPr>
        <p:spPr>
          <a:xfrm>
            <a:off x="1343254" y="2609698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Formats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67105" y="3230575"/>
            <a:ext cx="100584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4"/>
          <p:cNvSpPr/>
          <p:nvPr/>
        </p:nvSpPr>
        <p:spPr>
          <a:xfrm>
            <a:off x="1067105" y="3230575"/>
            <a:ext cx="47549" cy="685800"/>
          </a:xfrm>
          <a:prstGeom prst="roundRect">
            <a:avLst>
              <a:gd name="adj" fmla="val 320511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 txBox="1"/>
          <p:nvPr/>
        </p:nvSpPr>
        <p:spPr>
          <a:xfrm>
            <a:off x="1343254" y="3448202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 Formats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258300" y="342168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1067105" y="4069080"/>
            <a:ext cx="100584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1067105" y="4069080"/>
            <a:ext cx="47549" cy="685800"/>
          </a:xfrm>
          <a:prstGeom prst="roundRect">
            <a:avLst>
              <a:gd name="adj" fmla="val 320511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 txBox="1"/>
          <p:nvPr/>
        </p:nvSpPr>
        <p:spPr>
          <a:xfrm>
            <a:off x="1343254" y="4286707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Engine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67105" y="4907585"/>
            <a:ext cx="100584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1067105" y="4907585"/>
            <a:ext cx="47549" cy="685800"/>
          </a:xfrm>
          <a:prstGeom prst="roundRect">
            <a:avLst>
              <a:gd name="adj" fmla="val 320511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 txBox="1"/>
          <p:nvPr/>
        </p:nvSpPr>
        <p:spPr>
          <a:xfrm>
            <a:off x="1343254" y="5124298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300" b="1" kern="0" spc="66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</a:t>
            </a:r>
            <a:r>
              <a:rPr lang="en-US" sz="1300" b="1" kern="0" spc="66" dirty="0" err="1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atalog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067105" y="5745175"/>
            <a:ext cx="100584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30"/>
          <p:cNvSpPr/>
          <p:nvPr/>
        </p:nvSpPr>
        <p:spPr>
          <a:xfrm>
            <a:off x="1067105" y="5745175"/>
            <a:ext cx="47549" cy="685800"/>
          </a:xfrm>
          <a:prstGeom prst="roundRect">
            <a:avLst>
              <a:gd name="adj" fmla="val 320511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 txBox="1"/>
          <p:nvPr/>
        </p:nvSpPr>
        <p:spPr>
          <a:xfrm>
            <a:off x="1343254" y="5962802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3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92278"/>
            <a:ext cx="133502" cy="13350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57200" y="689458"/>
            <a:ext cx="62965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Планы развития</a:t>
            </a:r>
            <a:endParaRPr lang="en-US" sz="27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1156716"/>
            <a:ext cx="296997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Переход на Data LakeHouse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3410712" y="1165860"/>
            <a:ext cx="37289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Текущая стадия: Proof of Concept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0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2"/>
          <p:cNvSpPr txBox="1"/>
          <p:nvPr/>
        </p:nvSpPr>
        <p:spPr>
          <a:xfrm>
            <a:off x="819302" y="3044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 </a:t>
            </a:r>
            <a:endParaRPr lang="en-US" sz="1000" dirty="0"/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3A3CFD34-300F-A15B-7500-93D6310F5972}"/>
              </a:ext>
            </a:extLst>
          </p:cNvPr>
          <p:cNvGrpSpPr/>
          <p:nvPr/>
        </p:nvGrpSpPr>
        <p:grpSpPr>
          <a:xfrm>
            <a:off x="7868174" y="1589082"/>
            <a:ext cx="3122556" cy="600587"/>
            <a:chOff x="7987322" y="-1725618"/>
            <a:chExt cx="3122556" cy="600587"/>
          </a:xfrm>
        </p:grpSpPr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5020C568-2F3D-71F5-B654-D9A40400116C}"/>
                </a:ext>
              </a:extLst>
            </p:cNvPr>
            <p:cNvGrpSpPr/>
            <p:nvPr/>
          </p:nvGrpSpPr>
          <p:grpSpPr>
            <a:xfrm>
              <a:off x="7987322" y="-1725618"/>
              <a:ext cx="1648790" cy="600587"/>
              <a:chOff x="7404399" y="-1353198"/>
              <a:chExt cx="1648790" cy="600587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F9E149D-C5D3-8AC3-8978-89CB4EB4A0D6}"/>
                  </a:ext>
                </a:extLst>
              </p:cNvPr>
              <p:cNvSpPr txBox="1"/>
              <p:nvPr/>
            </p:nvSpPr>
            <p:spPr>
              <a:xfrm>
                <a:off x="8111108" y="-1225908"/>
                <a:ext cx="9420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rgbClr val="3B4350"/>
                    </a:solidFill>
                    <a:effectLst/>
                    <a:latin typeface="Montserrat Light" pitchFamily="2" charset="0"/>
                  </a:rPr>
                  <a:t>MinIO</a:t>
                </a:r>
              </a:p>
            </p:txBody>
          </p:sp>
          <p:pic>
            <p:nvPicPr>
              <p:cNvPr id="1026" name="Picture 2" descr="MinIO Logo &amp; Brand Assets (SVG, PNG and vector) - Brandfetch">
                <a:extLst>
                  <a:ext uri="{FF2B5EF4-FFF2-40B4-BE49-F238E27FC236}">
                    <a16:creationId xmlns:a16="http://schemas.microsoft.com/office/drawing/2014/main" id="{EB62D4AB-414A-5A5E-8EC1-9F0E59CAA1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4399" y="-1353198"/>
                <a:ext cx="600587" cy="600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840E3199-8575-DFA5-74A8-1760CC2BE57C}"/>
                </a:ext>
              </a:extLst>
            </p:cNvPr>
            <p:cNvGrpSpPr/>
            <p:nvPr/>
          </p:nvGrpSpPr>
          <p:grpSpPr>
            <a:xfrm>
              <a:off x="9860330" y="-1725618"/>
              <a:ext cx="1249548" cy="600587"/>
              <a:chOff x="9860330" y="-1725618"/>
              <a:chExt cx="1249548" cy="600587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96EBD3-BE41-932B-EF90-3C7EEF8ED0EC}"/>
                  </a:ext>
                </a:extLst>
              </p:cNvPr>
              <p:cNvSpPr txBox="1"/>
              <p:nvPr/>
            </p:nvSpPr>
            <p:spPr>
              <a:xfrm>
                <a:off x="10651897" y="-1598328"/>
                <a:ext cx="4579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rgbClr val="3B4350"/>
                    </a:solidFill>
                    <a:effectLst/>
                    <a:latin typeface="Montserrat Light" pitchFamily="2" charset="0"/>
                  </a:rPr>
                  <a:t>S3</a:t>
                </a:r>
              </a:p>
            </p:txBody>
          </p:sp>
          <p:pic>
            <p:nvPicPr>
              <p:cNvPr id="1028" name="Picture 4" descr="Amazon S3 Simple Storage Service Vector Logo - Download Free SVG Icon |  Worldvectorlogo">
                <a:extLst>
                  <a:ext uri="{FF2B5EF4-FFF2-40B4-BE49-F238E27FC236}">
                    <a16:creationId xmlns:a16="http://schemas.microsoft.com/office/drawing/2014/main" id="{2ADB33D0-C11A-F8DC-928C-3A11499D10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60330" y="-1725618"/>
                <a:ext cx="600587" cy="600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BA560FF-D564-24F6-F548-307C367462DB}"/>
              </a:ext>
            </a:extLst>
          </p:cNvPr>
          <p:cNvSpPr txBox="1"/>
          <p:nvPr/>
        </p:nvSpPr>
        <p:spPr>
          <a:xfrm>
            <a:off x="14043804" y="32435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KZ" dirty="0"/>
          </a:p>
        </p:txBody>
      </p:sp>
      <p:grpSp>
        <p:nvGrpSpPr>
          <p:cNvPr id="1063" name="Группа 1062">
            <a:extLst>
              <a:ext uri="{FF2B5EF4-FFF2-40B4-BE49-F238E27FC236}">
                <a16:creationId xmlns:a16="http://schemas.microsoft.com/office/drawing/2014/main" id="{0EDC904F-392D-C7C7-7E41-6602E287AEE9}"/>
              </a:ext>
            </a:extLst>
          </p:cNvPr>
          <p:cNvGrpSpPr/>
          <p:nvPr/>
        </p:nvGrpSpPr>
        <p:grpSpPr>
          <a:xfrm>
            <a:off x="5118818" y="2416569"/>
            <a:ext cx="6015477" cy="658939"/>
            <a:chOff x="-487568" y="-1793138"/>
            <a:chExt cx="6015477" cy="658939"/>
          </a:xfrm>
        </p:grpSpPr>
        <p:grpSp>
          <p:nvGrpSpPr>
            <p:cNvPr id="1053" name="Группа 1052">
              <a:extLst>
                <a:ext uri="{FF2B5EF4-FFF2-40B4-BE49-F238E27FC236}">
                  <a16:creationId xmlns:a16="http://schemas.microsoft.com/office/drawing/2014/main" id="{A7EF4D3D-A7CF-D8DD-685B-D87EEBF765CD}"/>
                </a:ext>
              </a:extLst>
            </p:cNvPr>
            <p:cNvGrpSpPr/>
            <p:nvPr/>
          </p:nvGrpSpPr>
          <p:grpSpPr>
            <a:xfrm>
              <a:off x="-487568" y="-1729534"/>
              <a:ext cx="2115933" cy="595335"/>
              <a:chOff x="5650386" y="-1420113"/>
              <a:chExt cx="2115933" cy="595335"/>
            </a:xfrm>
          </p:grpSpPr>
          <p:pic>
            <p:nvPicPr>
              <p:cNvPr id="1051" name="Рисунок 1050">
                <a:extLst>
                  <a:ext uri="{FF2B5EF4-FFF2-40B4-BE49-F238E27FC236}">
                    <a16:creationId xmlns:a16="http://schemas.microsoft.com/office/drawing/2014/main" id="{00D16A9E-B6A2-BA9D-3C18-048B5C6EAF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0386" y="-1420113"/>
                <a:ext cx="801199" cy="595335"/>
              </a:xfrm>
              <a:prstGeom prst="rect">
                <a:avLst/>
              </a:prstGeom>
            </p:spPr>
          </p:pic>
          <p:sp>
            <p:nvSpPr>
              <p:cNvPr id="1052" name="TextBox 1051">
                <a:extLst>
                  <a:ext uri="{FF2B5EF4-FFF2-40B4-BE49-F238E27FC236}">
                    <a16:creationId xmlns:a16="http://schemas.microsoft.com/office/drawing/2014/main" id="{9A34FE61-A4A4-B502-F66A-92DADCA23490}"/>
                  </a:ext>
                </a:extLst>
              </p:cNvPr>
              <p:cNvSpPr txBox="1"/>
              <p:nvPr/>
            </p:nvSpPr>
            <p:spPr>
              <a:xfrm>
                <a:off x="6588986" y="-1317106"/>
                <a:ext cx="11773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3B4350"/>
                    </a:solidFill>
                    <a:effectLst/>
                    <a:latin typeface="Montserrat Light" pitchFamily="2" charset="0"/>
                  </a:rPr>
                  <a:t>Parquet</a:t>
                </a:r>
              </a:p>
            </p:txBody>
          </p:sp>
        </p:grpSp>
        <p:grpSp>
          <p:nvGrpSpPr>
            <p:cNvPr id="1062" name="Группа 1061">
              <a:extLst>
                <a:ext uri="{FF2B5EF4-FFF2-40B4-BE49-F238E27FC236}">
                  <a16:creationId xmlns:a16="http://schemas.microsoft.com/office/drawing/2014/main" id="{F95B2F14-D8DE-9CB5-BE5E-F5B815F7A40B}"/>
                </a:ext>
              </a:extLst>
            </p:cNvPr>
            <p:cNvGrpSpPr/>
            <p:nvPr/>
          </p:nvGrpSpPr>
          <p:grpSpPr>
            <a:xfrm>
              <a:off x="1773156" y="-1793138"/>
              <a:ext cx="1551603" cy="595336"/>
              <a:chOff x="1773156" y="-1793138"/>
              <a:chExt cx="1551603" cy="595336"/>
            </a:xfrm>
          </p:grpSpPr>
          <p:pic>
            <p:nvPicPr>
              <p:cNvPr id="1057" name="Рисунок 1056">
                <a:extLst>
                  <a:ext uri="{FF2B5EF4-FFF2-40B4-BE49-F238E27FC236}">
                    <a16:creationId xmlns:a16="http://schemas.microsoft.com/office/drawing/2014/main" id="{631634AB-C98E-0376-AC51-3F1506184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3156" y="-1793138"/>
                <a:ext cx="458130" cy="595336"/>
              </a:xfrm>
              <a:prstGeom prst="rect">
                <a:avLst/>
              </a:prstGeom>
            </p:spPr>
          </p:pic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4F17FC1C-7A60-78FD-8D39-C8933B2F9B8C}"/>
                  </a:ext>
                </a:extLst>
              </p:cNvPr>
              <p:cNvSpPr txBox="1"/>
              <p:nvPr/>
            </p:nvSpPr>
            <p:spPr>
              <a:xfrm>
                <a:off x="2426816" y="-1659550"/>
                <a:ext cx="897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3B4350"/>
                    </a:solidFill>
                    <a:effectLst/>
                    <a:latin typeface="Montserrat Light" pitchFamily="2" charset="0"/>
                  </a:rPr>
                  <a:t>Json</a:t>
                </a:r>
              </a:p>
            </p:txBody>
          </p:sp>
        </p:grpSp>
        <p:grpSp>
          <p:nvGrpSpPr>
            <p:cNvPr id="1061" name="Группа 1060">
              <a:extLst>
                <a:ext uri="{FF2B5EF4-FFF2-40B4-BE49-F238E27FC236}">
                  <a16:creationId xmlns:a16="http://schemas.microsoft.com/office/drawing/2014/main" id="{62CDC723-2132-82CC-2C4D-1A9DB47C17C7}"/>
                </a:ext>
              </a:extLst>
            </p:cNvPr>
            <p:cNvGrpSpPr/>
            <p:nvPr/>
          </p:nvGrpSpPr>
          <p:grpSpPr>
            <a:xfrm>
              <a:off x="3302163" y="-1692864"/>
              <a:ext cx="2225746" cy="405955"/>
              <a:chOff x="3302163" y="-1692864"/>
              <a:chExt cx="2225746" cy="405955"/>
            </a:xfrm>
          </p:grpSpPr>
          <p:pic>
            <p:nvPicPr>
              <p:cNvPr id="1059" name="Рисунок 1058">
                <a:extLst>
                  <a:ext uri="{FF2B5EF4-FFF2-40B4-BE49-F238E27FC236}">
                    <a16:creationId xmlns:a16="http://schemas.microsoft.com/office/drawing/2014/main" id="{4F3C284B-2266-F6EE-BF7A-DD6BEB684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02163" y="-1692864"/>
                <a:ext cx="1195449" cy="405955"/>
              </a:xfrm>
              <a:prstGeom prst="rect">
                <a:avLst/>
              </a:prstGeom>
            </p:spPr>
          </p:pic>
          <p:sp>
            <p:nvSpPr>
              <p:cNvPr id="1060" name="TextBox 1059">
                <a:extLst>
                  <a:ext uri="{FF2B5EF4-FFF2-40B4-BE49-F238E27FC236}">
                    <a16:creationId xmlns:a16="http://schemas.microsoft.com/office/drawing/2014/main" id="{65DDA679-A2FA-41C0-13BC-0657107A7869}"/>
                  </a:ext>
                </a:extLst>
              </p:cNvPr>
              <p:cNvSpPr txBox="1"/>
              <p:nvPr/>
            </p:nvSpPr>
            <p:spPr>
              <a:xfrm>
                <a:off x="4642403" y="-1659550"/>
                <a:ext cx="885506" cy="37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3B4350"/>
                    </a:solidFill>
                    <a:effectLst/>
                    <a:latin typeface="Montserrat Light" pitchFamily="2" charset="0"/>
                  </a:rPr>
                  <a:t>Avro</a:t>
                </a:r>
              </a:p>
            </p:txBody>
          </p:sp>
        </p:grpSp>
      </p:grpSp>
      <p:pic>
        <p:nvPicPr>
          <p:cNvPr id="1067" name="Рисунок 1066">
            <a:extLst>
              <a:ext uri="{FF2B5EF4-FFF2-40B4-BE49-F238E27FC236}">
                <a16:creationId xmlns:a16="http://schemas.microsoft.com/office/drawing/2014/main" id="{76C722FA-3A64-5490-3AEA-D888CA8D0B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4739" y="3289042"/>
            <a:ext cx="562545" cy="564526"/>
          </a:xfrm>
          <a:prstGeom prst="rect">
            <a:avLst/>
          </a:prstGeom>
        </p:spPr>
      </p:pic>
      <p:sp>
        <p:nvSpPr>
          <p:cNvPr id="1068" name="TextBox 1067">
            <a:extLst>
              <a:ext uri="{FF2B5EF4-FFF2-40B4-BE49-F238E27FC236}">
                <a16:creationId xmlns:a16="http://schemas.microsoft.com/office/drawing/2014/main" id="{3499BB88-CC94-E64E-EC9F-5FA892247D1F}"/>
              </a:ext>
            </a:extLst>
          </p:cNvPr>
          <p:cNvSpPr txBox="1"/>
          <p:nvPr/>
        </p:nvSpPr>
        <p:spPr>
          <a:xfrm>
            <a:off x="9832478" y="3401635"/>
            <a:ext cx="1158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iceberg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  <p:pic>
        <p:nvPicPr>
          <p:cNvPr id="1070" name="Picture 6">
            <a:extLst>
              <a:ext uri="{FF2B5EF4-FFF2-40B4-BE49-F238E27FC236}">
                <a16:creationId xmlns:a16="http://schemas.microsoft.com/office/drawing/2014/main" id="{542E00DE-6C78-63A3-29DE-DE2A041C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23" y="4213270"/>
            <a:ext cx="735297" cy="38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TextBox 1070">
            <a:extLst>
              <a:ext uri="{FF2B5EF4-FFF2-40B4-BE49-F238E27FC236}">
                <a16:creationId xmlns:a16="http://schemas.microsoft.com/office/drawing/2014/main" id="{F879FE3B-CAE4-4D74-D2A8-122E5CBD1452}"/>
              </a:ext>
            </a:extLst>
          </p:cNvPr>
          <p:cNvSpPr txBox="1"/>
          <p:nvPr/>
        </p:nvSpPr>
        <p:spPr>
          <a:xfrm>
            <a:off x="6437461" y="4300740"/>
            <a:ext cx="942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Spark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  <p:pic>
        <p:nvPicPr>
          <p:cNvPr id="1072" name="Picture 8" descr="Hive Logo Download - AI - All Vector Logo">
            <a:extLst>
              <a:ext uri="{FF2B5EF4-FFF2-40B4-BE49-F238E27FC236}">
                <a16:creationId xmlns:a16="http://schemas.microsoft.com/office/drawing/2014/main" id="{1F05482F-026C-57A5-C1E8-A95DBB908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61087" y1="78800" x2="61087" y2="78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020" y="4928855"/>
            <a:ext cx="1214323" cy="65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3" name="TextBox 1072">
            <a:extLst>
              <a:ext uri="{FF2B5EF4-FFF2-40B4-BE49-F238E27FC236}">
                <a16:creationId xmlns:a16="http://schemas.microsoft.com/office/drawing/2014/main" id="{07944FE1-494A-6884-2781-697124DCD23F}"/>
              </a:ext>
            </a:extLst>
          </p:cNvPr>
          <p:cNvSpPr txBox="1"/>
          <p:nvPr/>
        </p:nvSpPr>
        <p:spPr>
          <a:xfrm>
            <a:off x="10194462" y="5134485"/>
            <a:ext cx="79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Hive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EE7844EC-ADD3-C028-1FF4-D1859864830D}"/>
              </a:ext>
            </a:extLst>
          </p:cNvPr>
          <p:cNvSpPr txBox="1"/>
          <p:nvPr/>
        </p:nvSpPr>
        <p:spPr>
          <a:xfrm>
            <a:off x="10249283" y="5913548"/>
            <a:ext cx="79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B4350"/>
                </a:solidFill>
                <a:latin typeface="Montserrat Light" pitchFamily="2" charset="0"/>
              </a:rPr>
              <a:t>ML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  <p:pic>
        <p:nvPicPr>
          <p:cNvPr id="1075" name="Picture 10">
            <a:extLst>
              <a:ext uri="{FF2B5EF4-FFF2-40B4-BE49-F238E27FC236}">
                <a16:creationId xmlns:a16="http://schemas.microsoft.com/office/drawing/2014/main" id="{A10FEE0F-6A76-3D7B-B117-186F42BD3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918" y="5842388"/>
            <a:ext cx="519119" cy="51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6" name="TextBox 1075">
            <a:extLst>
              <a:ext uri="{FF2B5EF4-FFF2-40B4-BE49-F238E27FC236}">
                <a16:creationId xmlns:a16="http://schemas.microsoft.com/office/drawing/2014/main" id="{FE041C2A-DDAB-31BC-0C4B-942711C6B349}"/>
              </a:ext>
            </a:extLst>
          </p:cNvPr>
          <p:cNvSpPr txBox="1"/>
          <p:nvPr/>
        </p:nvSpPr>
        <p:spPr>
          <a:xfrm>
            <a:off x="8323643" y="5930984"/>
            <a:ext cx="1072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Jupyter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  <p:pic>
        <p:nvPicPr>
          <p:cNvPr id="1077" name="Picture 12">
            <a:extLst>
              <a:ext uri="{FF2B5EF4-FFF2-40B4-BE49-F238E27FC236}">
                <a16:creationId xmlns:a16="http://schemas.microsoft.com/office/drawing/2014/main" id="{B03AD53C-E41B-B022-AD3A-F6EDCFB0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243" y="5840205"/>
            <a:ext cx="527946" cy="61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14" descr="Qlik Logo | SVG | Real Company | Alphabet, Letter Q Logo">
            <a:extLst>
              <a:ext uri="{FF2B5EF4-FFF2-40B4-BE49-F238E27FC236}">
                <a16:creationId xmlns:a16="http://schemas.microsoft.com/office/drawing/2014/main" id="{D8DDFF40-4E6B-BC0D-5149-7A785F7DE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393" y="5767337"/>
            <a:ext cx="685799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1" name="TextBox 1080">
            <a:extLst>
              <a:ext uri="{FF2B5EF4-FFF2-40B4-BE49-F238E27FC236}">
                <a16:creationId xmlns:a16="http://schemas.microsoft.com/office/drawing/2014/main" id="{22A37543-1FAF-DD52-8DE6-A309811D09B6}"/>
              </a:ext>
            </a:extLst>
          </p:cNvPr>
          <p:cNvSpPr txBox="1"/>
          <p:nvPr/>
        </p:nvSpPr>
        <p:spPr>
          <a:xfrm>
            <a:off x="6949895" y="5930984"/>
            <a:ext cx="796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BI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  <p:pic>
        <p:nvPicPr>
          <p:cNvPr id="1082" name="Picture 16" descr="Trino Logo - PNG Logo Vector Brand Downloads (SVG, EPS)">
            <a:extLst>
              <a:ext uri="{FF2B5EF4-FFF2-40B4-BE49-F238E27FC236}">
                <a16:creationId xmlns:a16="http://schemas.microsoft.com/office/drawing/2014/main" id="{751967BF-3983-594A-0D20-BCDC8B360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069" y="4090997"/>
            <a:ext cx="380303" cy="55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3" name="TextBox 1082">
            <a:extLst>
              <a:ext uri="{FF2B5EF4-FFF2-40B4-BE49-F238E27FC236}">
                <a16:creationId xmlns:a16="http://schemas.microsoft.com/office/drawing/2014/main" id="{9BBB0081-406B-E529-9816-236239D317B8}"/>
              </a:ext>
            </a:extLst>
          </p:cNvPr>
          <p:cNvSpPr txBox="1"/>
          <p:nvPr/>
        </p:nvSpPr>
        <p:spPr>
          <a:xfrm>
            <a:off x="7945489" y="4298199"/>
            <a:ext cx="89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B4350"/>
                </a:solidFill>
                <a:effectLst/>
                <a:latin typeface="Montserrat Light" pitchFamily="2" charset="0"/>
              </a:rPr>
              <a:t>Json</a:t>
            </a:r>
          </a:p>
        </p:txBody>
      </p:sp>
      <p:pic>
        <p:nvPicPr>
          <p:cNvPr id="1084" name="Picture 18" descr="Material | Apache Flink">
            <a:extLst>
              <a:ext uri="{FF2B5EF4-FFF2-40B4-BE49-F238E27FC236}">
                <a16:creationId xmlns:a16="http://schemas.microsoft.com/office/drawing/2014/main" id="{880C4C4C-C5D7-B547-E2E7-7A6283399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086" y="4144654"/>
            <a:ext cx="527947" cy="52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" name="TextBox 1084">
            <a:extLst>
              <a:ext uri="{FF2B5EF4-FFF2-40B4-BE49-F238E27FC236}">
                <a16:creationId xmlns:a16="http://schemas.microsoft.com/office/drawing/2014/main" id="{BA3CB64B-B5A6-20F6-56E0-A42665A08A86}"/>
              </a:ext>
            </a:extLst>
          </p:cNvPr>
          <p:cNvSpPr txBox="1"/>
          <p:nvPr/>
        </p:nvSpPr>
        <p:spPr>
          <a:xfrm>
            <a:off x="9424729" y="4235616"/>
            <a:ext cx="1687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B4350"/>
                </a:solidFill>
                <a:latin typeface="Montserrat Light" pitchFamily="2" charset="0"/>
              </a:rPr>
              <a:t>apache</a:t>
            </a:r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 </a:t>
            </a:r>
            <a:r>
              <a:rPr lang="en-US" dirty="0" err="1">
                <a:solidFill>
                  <a:srgbClr val="3B4350"/>
                </a:solidFill>
                <a:latin typeface="Montserrat Light" pitchFamily="2" charset="0"/>
              </a:rPr>
              <a:t>flink</a:t>
            </a:r>
            <a:r>
              <a:rPr lang="en-US" dirty="0">
                <a:solidFill>
                  <a:srgbClr val="3B4350"/>
                </a:solidFill>
                <a:latin typeface="Montserrat Light" pitchFamily="2" charset="0"/>
              </a:rPr>
              <a:t> </a:t>
            </a:r>
            <a:endParaRPr lang="en-US" dirty="0">
              <a:solidFill>
                <a:srgbClr val="3B4350"/>
              </a:solidFill>
              <a:effectLst/>
              <a:latin typeface="Montserrat Light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2085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2"/>
          <p:cNvSpPr/>
          <p:nvPr/>
        </p:nvSpPr>
        <p:spPr>
          <a:xfrm>
            <a:off x="431597" y="1748074"/>
            <a:ext cx="2381098" cy="2104949"/>
          </a:xfrm>
          <a:prstGeom prst="roundRect">
            <a:avLst>
              <a:gd name="adj" fmla="val 3145"/>
            </a:avLst>
          </a:prstGeom>
          <a:solidFill>
            <a:srgbClr val="FFFFFF">
              <a:alpha val="60000"/>
            </a:srgbClr>
          </a:solidFill>
          <a:ln w="254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 txBox="1"/>
          <p:nvPr/>
        </p:nvSpPr>
        <p:spPr>
          <a:xfrm>
            <a:off x="580490" y="1600263"/>
            <a:ext cx="2077517" cy="324612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2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 Halyk Bank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9157" y="4228840"/>
            <a:ext cx="2381098" cy="1114654"/>
          </a:xfrm>
          <a:prstGeom prst="roundRect">
            <a:avLst>
              <a:gd name="adj" fmla="val 11218"/>
            </a:avLst>
          </a:prstGeom>
          <a:solidFill>
            <a:srgbClr val="FFFFFF">
              <a:alpha val="60000"/>
            </a:srgbClr>
          </a:solidFill>
          <a:ln w="254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 txBox="1"/>
          <p:nvPr/>
        </p:nvSpPr>
        <p:spPr>
          <a:xfrm>
            <a:off x="542999" y="4152030"/>
            <a:ext cx="2115007" cy="160019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2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источники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19902" y="1748074"/>
            <a:ext cx="4265707" cy="1114654"/>
          </a:xfrm>
          <a:prstGeom prst="roundRect">
            <a:avLst>
              <a:gd name="adj" fmla="val 11218"/>
            </a:avLst>
          </a:prstGeom>
          <a:solidFill>
            <a:srgbClr val="FFFFFF">
              <a:alpha val="60000"/>
            </a:srgbClr>
          </a:solidFill>
          <a:ln w="254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 txBox="1"/>
          <p:nvPr/>
        </p:nvSpPr>
        <p:spPr>
          <a:xfrm>
            <a:off x="5756251" y="1661434"/>
            <a:ext cx="1255014" cy="163678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2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Фабрика Данных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02225" y="4383175"/>
            <a:ext cx="8096098" cy="1410005"/>
          </a:xfrm>
          <a:prstGeom prst="roundRect">
            <a:avLst>
              <a:gd name="adj" fmla="val 7011"/>
            </a:avLst>
          </a:prstGeom>
          <a:solidFill>
            <a:srgbClr val="FFFFFF">
              <a:alpha val="60000"/>
            </a:srgbClr>
          </a:solidFill>
          <a:ln w="22225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 txBox="1"/>
          <p:nvPr/>
        </p:nvSpPr>
        <p:spPr>
          <a:xfrm>
            <a:off x="3903926" y="4298595"/>
            <a:ext cx="1314094" cy="151789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2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Песочницы (Silos)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2590" y="1919066"/>
            <a:ext cx="2038198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6919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 txBox="1"/>
          <p:nvPr/>
        </p:nvSpPr>
        <p:spPr>
          <a:xfrm>
            <a:off x="565100" y="1919066"/>
            <a:ext cx="2115007" cy="30541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3" y="2312258"/>
            <a:ext cx="11530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HALYKBANK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2590" y="2913019"/>
            <a:ext cx="2038198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6919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 txBox="1"/>
          <p:nvPr/>
        </p:nvSpPr>
        <p:spPr>
          <a:xfrm>
            <a:off x="565100" y="2913019"/>
            <a:ext cx="2115007" cy="30541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Ecosystems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76249" y="3305297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APP, API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Экосистема ДО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0150" y="4399832"/>
            <a:ext cx="2038198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6919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 txBox="1"/>
          <p:nvPr/>
        </p:nvSpPr>
        <p:spPr>
          <a:xfrm>
            <a:off x="562660" y="4399832"/>
            <a:ext cx="2115007" cy="305410"/>
          </a:xfrm>
          <a:prstGeom prst="rect">
            <a:avLst/>
          </a:prstGeom>
          <a:solidFill>
            <a:srgbClr val="6B728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данные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95755" y="4793024"/>
            <a:ext cx="1047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Входящие потоки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791809" y="1919981"/>
            <a:ext cx="1524305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 txBox="1"/>
          <p:nvPr/>
        </p:nvSpPr>
        <p:spPr>
          <a:xfrm>
            <a:off x="5760720" y="1919981"/>
            <a:ext cx="1585570" cy="305410"/>
          </a:xfrm>
          <a:prstGeom prst="rect">
            <a:avLst/>
          </a:prstGeom>
          <a:solidFill>
            <a:srgbClr val="1E40A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91809" y="2300372"/>
            <a:ext cx="1524305" cy="476402"/>
          </a:xfrm>
          <a:prstGeom prst="roundRect">
            <a:avLst>
              <a:gd name="adj" fmla="val 460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 txBox="1"/>
          <p:nvPr/>
        </p:nvSpPr>
        <p:spPr>
          <a:xfrm>
            <a:off x="6036411" y="2386782"/>
            <a:ext cx="1010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System: HADOOP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Фабрика данных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203513" y="1919066"/>
            <a:ext cx="1524305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 txBox="1"/>
          <p:nvPr/>
        </p:nvSpPr>
        <p:spPr>
          <a:xfrm>
            <a:off x="8173337" y="1919066"/>
            <a:ext cx="1585570" cy="305410"/>
          </a:xfrm>
          <a:prstGeom prst="rect">
            <a:avLst/>
          </a:prstGeom>
          <a:solidFill>
            <a:srgbClr val="1E40A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DDS / DM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203513" y="2299457"/>
            <a:ext cx="1524305" cy="476402"/>
          </a:xfrm>
          <a:prstGeom prst="roundRect">
            <a:avLst>
              <a:gd name="adj" fmla="val 460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 txBox="1"/>
          <p:nvPr/>
        </p:nvSpPr>
        <p:spPr>
          <a:xfrm>
            <a:off x="8452686" y="2385867"/>
            <a:ext cx="1000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System: ORACLE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Фабрика данных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874132" y="4630977"/>
            <a:ext cx="17721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 txBox="1"/>
          <p:nvPr/>
        </p:nvSpPr>
        <p:spPr>
          <a:xfrm>
            <a:off x="3838471" y="4629626"/>
            <a:ext cx="1843430" cy="267005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1</a:t>
            </a:r>
            <a:endParaRPr lang="en-US" sz="9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1489" y="5044737"/>
            <a:ext cx="171907" cy="17190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195087" y="5254134"/>
            <a:ext cx="11338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Oracle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данных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5869353" y="4630977"/>
            <a:ext cx="17721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7" name="Text 33"/>
          <p:cNvSpPr txBox="1"/>
          <p:nvPr/>
        </p:nvSpPr>
        <p:spPr>
          <a:xfrm>
            <a:off x="5833692" y="4629626"/>
            <a:ext cx="1843430" cy="267005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2</a:t>
            </a:r>
            <a:endParaRPr lang="en-US" sz="9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7624" y="5044737"/>
            <a:ext cx="171907" cy="17190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190308" y="5254134"/>
            <a:ext cx="11338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Oracle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данных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7864574" y="4630977"/>
            <a:ext cx="17721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2" name="Text 37"/>
          <p:cNvSpPr txBox="1"/>
          <p:nvPr/>
        </p:nvSpPr>
        <p:spPr>
          <a:xfrm>
            <a:off x="7829827" y="4629626"/>
            <a:ext cx="1843430" cy="267005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3</a:t>
            </a:r>
            <a:endParaRPr lang="en-US" sz="9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2845" y="5044737"/>
            <a:ext cx="171907" cy="171907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8185528" y="5254134"/>
            <a:ext cx="11338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Oracle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данных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9860709" y="4630977"/>
            <a:ext cx="17721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Text 41"/>
          <p:cNvSpPr txBox="1"/>
          <p:nvPr/>
        </p:nvSpPr>
        <p:spPr>
          <a:xfrm>
            <a:off x="9825048" y="4629626"/>
            <a:ext cx="1843430" cy="267005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N</a:t>
            </a:r>
            <a:endParaRPr lang="en-US" sz="9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58066" y="5044737"/>
            <a:ext cx="171907" cy="171907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181664" y="5254134"/>
            <a:ext cx="11338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Oracle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данных</a:t>
            </a:r>
            <a:endParaRPr lang="en-US" sz="8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92278"/>
            <a:ext cx="133502" cy="13350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457200" y="689458"/>
            <a:ext cx="5239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Централизация песочниц</a:t>
            </a:r>
            <a:endParaRPr lang="en-US" sz="2700" dirty="0"/>
          </a:p>
        </p:txBody>
      </p:sp>
      <p:sp>
        <p:nvSpPr>
          <p:cNvPr id="52" name="Text 44"/>
          <p:cNvSpPr txBox="1"/>
          <p:nvPr/>
        </p:nvSpPr>
        <p:spPr>
          <a:xfrm>
            <a:off x="457200" y="1156716"/>
            <a:ext cx="5162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IS </a:t>
            </a:r>
            <a:r>
              <a:rPr lang="en-US" sz="1000" b="1" kern="0" spc="7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(Текущая архитектура)</a:t>
            </a:r>
            <a:endParaRPr lang="en-US" sz="1500" dirty="0"/>
          </a:p>
        </p:txBody>
      </p:sp>
      <p:sp>
        <p:nvSpPr>
          <p:cNvPr id="53" name="Text 45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54" name="Shape 46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47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6" name="Shape 48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49"/>
          <p:cNvSpPr txBox="1"/>
          <p:nvPr/>
        </p:nvSpPr>
        <p:spPr>
          <a:xfrm>
            <a:off x="819302" y="3044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</a:t>
            </a:r>
            <a:endParaRPr lang="en-US" sz="1000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51669" y="5002878"/>
            <a:ext cx="152705" cy="152705"/>
          </a:xfrm>
          <a:prstGeom prst="rect">
            <a:avLst/>
          </a:prstGeom>
        </p:spPr>
      </p:pic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6F69A2C5-E749-05FA-3208-4E53159AA0FF}"/>
              </a:ext>
            </a:extLst>
          </p:cNvPr>
          <p:cNvGrpSpPr/>
          <p:nvPr/>
        </p:nvGrpSpPr>
        <p:grpSpPr>
          <a:xfrm>
            <a:off x="457200" y="5482660"/>
            <a:ext cx="2476195" cy="1089868"/>
            <a:chOff x="6808622" y="-1668321"/>
            <a:chExt cx="2476195" cy="1089868"/>
          </a:xfrm>
        </p:grpSpPr>
        <p:pic>
          <p:nvPicPr>
            <p:cNvPr id="67" name="Image 8" descr="preencoded.png"/>
            <p:cNvPicPr>
              <a:picLocks noChangeAspect="1"/>
            </p:cNvPicPr>
            <p:nvPr/>
          </p:nvPicPr>
          <p:blipFill>
            <a:blip r:embed="rId6"/>
            <a:srcRect l="-4" r="-4"/>
            <a:stretch/>
          </p:blipFill>
          <p:spPr>
            <a:xfrm>
              <a:off x="6808622" y="-1668321"/>
              <a:ext cx="2476195" cy="1089868"/>
            </a:xfrm>
            <a:prstGeom prst="rect">
              <a:avLst/>
            </a:prstGeom>
          </p:spPr>
        </p:pic>
        <p:pic>
          <p:nvPicPr>
            <p:cNvPr id="68" name="Image 9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987118" y="-1558619"/>
              <a:ext cx="133502" cy="133502"/>
            </a:xfrm>
            <a:prstGeom prst="rect">
              <a:avLst/>
            </a:prstGeom>
          </p:spPr>
        </p:pic>
        <p:sp>
          <p:nvSpPr>
            <p:cNvPr id="69" name="Text 57"/>
            <p:cNvSpPr txBox="1"/>
            <p:nvPr/>
          </p:nvSpPr>
          <p:spPr>
            <a:xfrm>
              <a:off x="7196515" y="-1568678"/>
              <a:ext cx="11430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B91C1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Проблематика</a:t>
              </a:r>
              <a:endParaRPr lang="en-US" sz="900" dirty="0"/>
            </a:p>
          </p:txBody>
        </p:sp>
        <p:sp>
          <p:nvSpPr>
            <p:cNvPr id="70" name="Text 58"/>
            <p:cNvSpPr txBox="1"/>
            <p:nvPr/>
          </p:nvSpPr>
          <p:spPr>
            <a:xfrm>
              <a:off x="6998817" y="-1336448"/>
              <a:ext cx="2286000" cy="663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C262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Прямые, неконтролируемые выгрузки </a:t>
              </a:r>
              <a:r>
                <a:rPr lang="en-US" sz="900" dirty="0" err="1">
                  <a:solidFill>
                    <a:srgbClr val="DC262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из</a:t>
              </a:r>
              <a:r>
                <a:rPr lang="en-US" sz="900" dirty="0">
                  <a:solidFill>
                    <a:srgbClr val="DC262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ru-RU" sz="900" dirty="0">
                  <a:solidFill>
                    <a:srgbClr val="DC262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источников данных </a:t>
              </a:r>
              <a:r>
                <a:rPr lang="en-US" sz="900" dirty="0" err="1">
                  <a:solidFill>
                    <a:srgbClr val="DC262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</a:t>
              </a:r>
              <a:r>
                <a:rPr lang="en-US" sz="900" dirty="0">
                  <a:solidFill>
                    <a:srgbClr val="DC262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разрозненные песочницы создают дублирование данных и нагрузку.</a:t>
              </a:r>
              <a:endParaRPr lang="en-US" sz="900" dirty="0"/>
            </a:p>
          </p:txBody>
        </p:sp>
      </p:grpSp>
      <p:pic>
        <p:nvPicPr>
          <p:cNvPr id="71" name="Image 10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278CC7AF-712B-018B-F7F1-E38BA273945C}"/>
              </a:ext>
            </a:extLst>
          </p:cNvPr>
          <p:cNvGrpSpPr/>
          <p:nvPr/>
        </p:nvGrpSpPr>
        <p:grpSpPr>
          <a:xfrm>
            <a:off x="3702225" y="6111790"/>
            <a:ext cx="4158046" cy="400507"/>
            <a:chOff x="1399947" y="7353602"/>
            <a:chExt cx="4158046" cy="400507"/>
          </a:xfrm>
        </p:grpSpPr>
        <p:pic>
          <p:nvPicPr>
            <p:cNvPr id="59" name="Image 7" descr="preencoded.png"/>
            <p:cNvPicPr>
              <a:picLocks noChangeAspect="1"/>
            </p:cNvPicPr>
            <p:nvPr/>
          </p:nvPicPr>
          <p:blipFill>
            <a:blip r:embed="rId9"/>
            <a:srcRect t="-59" b="-59"/>
            <a:stretch/>
          </p:blipFill>
          <p:spPr>
            <a:xfrm>
              <a:off x="1399947" y="7353602"/>
              <a:ext cx="4158046" cy="400507"/>
            </a:xfrm>
            <a:prstGeom prst="rect">
              <a:avLst/>
            </a:prstGeom>
          </p:spPr>
        </p:pic>
        <p:grpSp>
          <p:nvGrpSpPr>
            <p:cNvPr id="73" name="Группа 72">
              <a:extLst>
                <a:ext uri="{FF2B5EF4-FFF2-40B4-BE49-F238E27FC236}">
                  <a16:creationId xmlns:a16="http://schemas.microsoft.com/office/drawing/2014/main" id="{87BF93D0-4205-A9F3-4E01-26F44FD8516C}"/>
                </a:ext>
              </a:extLst>
            </p:cNvPr>
            <p:cNvGrpSpPr/>
            <p:nvPr/>
          </p:nvGrpSpPr>
          <p:grpSpPr>
            <a:xfrm>
              <a:off x="1560035" y="7430155"/>
              <a:ext cx="3997958" cy="228600"/>
              <a:chOff x="1560035" y="7430155"/>
              <a:chExt cx="3997958" cy="228600"/>
            </a:xfrm>
          </p:grpSpPr>
          <p:sp>
            <p:nvSpPr>
              <p:cNvPr id="60" name="Text 50"/>
              <p:cNvSpPr txBox="1"/>
              <p:nvPr/>
            </p:nvSpPr>
            <p:spPr>
              <a:xfrm>
                <a:off x="1560035" y="7430155"/>
                <a:ext cx="9144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9CA3A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Легенда:</a:t>
                </a:r>
                <a:endParaRPr lang="en-US" sz="1200" dirty="0"/>
              </a:p>
            </p:txBody>
          </p:sp>
          <p:sp>
            <p:nvSpPr>
              <p:cNvPr id="61" name="Shape 51"/>
              <p:cNvSpPr/>
              <p:nvPr/>
            </p:nvSpPr>
            <p:spPr>
              <a:xfrm>
                <a:off x="2714233" y="7479515"/>
                <a:ext cx="114300" cy="114300"/>
              </a:xfrm>
              <a:prstGeom prst="roundRect">
                <a:avLst>
                  <a:gd name="adj" fmla="val 200000"/>
                </a:avLst>
              </a:prstGeom>
              <a:solidFill>
                <a:srgbClr val="3B82F6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62" name="Text 52"/>
              <p:cNvSpPr txBox="1"/>
              <p:nvPr/>
            </p:nvSpPr>
            <p:spPr>
              <a:xfrm>
                <a:off x="2916303" y="7468530"/>
                <a:ext cx="1133856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800" dirty="0">
                    <a:solidFill>
                      <a:srgbClr val="4B5563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Существующие ИС</a:t>
                </a:r>
                <a:endParaRPr lang="en-US" sz="800" dirty="0"/>
              </a:p>
            </p:txBody>
          </p:sp>
          <p:sp>
            <p:nvSpPr>
              <p:cNvPr id="63" name="Shape 53"/>
              <p:cNvSpPr/>
              <p:nvPr/>
            </p:nvSpPr>
            <p:spPr>
              <a:xfrm>
                <a:off x="4137929" y="7491390"/>
                <a:ext cx="114300" cy="114300"/>
              </a:xfrm>
              <a:prstGeom prst="roundRect">
                <a:avLst>
                  <a:gd name="adj" fmla="val 200000"/>
                </a:avLst>
              </a:prstGeom>
              <a:solidFill>
                <a:srgbClr val="6B72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64" name="Text 54"/>
              <p:cNvSpPr txBox="1"/>
              <p:nvPr/>
            </p:nvSpPr>
            <p:spPr>
              <a:xfrm>
                <a:off x="4329039" y="7480405"/>
                <a:ext cx="1228954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800" dirty="0">
                    <a:solidFill>
                      <a:srgbClr val="4B5563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Внешние источники</a:t>
                </a:r>
                <a:endParaRPr lang="en-US" sz="800" dirty="0"/>
              </a:p>
            </p:txBody>
          </p:sp>
        </p:grpSp>
      </p:grp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01B8AC6E-E1D5-6D06-80FE-06D3AB1318A8}"/>
              </a:ext>
            </a:extLst>
          </p:cNvPr>
          <p:cNvCxnSpPr>
            <a:cxnSpLocks/>
          </p:cNvCxnSpPr>
          <p:nvPr/>
        </p:nvCxnSpPr>
        <p:spPr>
          <a:xfrm>
            <a:off x="3258796" y="2529885"/>
            <a:ext cx="0" cy="2406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>
            <a:extLst>
              <a:ext uri="{FF2B5EF4-FFF2-40B4-BE49-F238E27FC236}">
                <a16:creationId xmlns:a16="http://schemas.microsoft.com/office/drawing/2014/main" id="{81C48634-9CE0-4B86-1893-5B1E6E6F9299}"/>
              </a:ext>
            </a:extLst>
          </p:cNvPr>
          <p:cNvCxnSpPr>
            <a:cxnSpLocks/>
          </p:cNvCxnSpPr>
          <p:nvPr/>
        </p:nvCxnSpPr>
        <p:spPr>
          <a:xfrm flipH="1" flipV="1">
            <a:off x="8971548" y="3020016"/>
            <a:ext cx="5666" cy="1132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Соединительная линия уступом 90">
            <a:extLst>
              <a:ext uri="{FF2B5EF4-FFF2-40B4-BE49-F238E27FC236}">
                <a16:creationId xmlns:a16="http://schemas.microsoft.com/office/drawing/2014/main" id="{B8E950CC-C2C8-494B-32D0-F6F82DCF08F0}"/>
              </a:ext>
            </a:extLst>
          </p:cNvPr>
          <p:cNvCxnSpPr>
            <a:cxnSpLocks/>
          </p:cNvCxnSpPr>
          <p:nvPr/>
        </p:nvCxnSpPr>
        <p:spPr>
          <a:xfrm flipV="1">
            <a:off x="3286354" y="2233297"/>
            <a:ext cx="2254615" cy="1153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CAA72544-25F4-B29D-707F-0CE24F4966A1}"/>
              </a:ext>
            </a:extLst>
          </p:cNvPr>
          <p:cNvCxnSpPr>
            <a:cxnSpLocks/>
          </p:cNvCxnSpPr>
          <p:nvPr/>
        </p:nvCxnSpPr>
        <p:spPr>
          <a:xfrm flipH="1" flipV="1">
            <a:off x="3038551" y="4935069"/>
            <a:ext cx="220245" cy="1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>
            <a:extLst>
              <a:ext uri="{FF2B5EF4-FFF2-40B4-BE49-F238E27FC236}">
                <a16:creationId xmlns:a16="http://schemas.microsoft.com/office/drawing/2014/main" id="{12FD15CD-7808-23C0-FC57-13F28DB75474}"/>
              </a:ext>
            </a:extLst>
          </p:cNvPr>
          <p:cNvCxnSpPr>
            <a:cxnSpLocks/>
          </p:cNvCxnSpPr>
          <p:nvPr/>
        </p:nvCxnSpPr>
        <p:spPr>
          <a:xfrm flipH="1" flipV="1">
            <a:off x="3038551" y="2530013"/>
            <a:ext cx="220245" cy="1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3C8D594B-036B-F83A-579F-896A699E883E}"/>
              </a:ext>
            </a:extLst>
          </p:cNvPr>
          <p:cNvCxnSpPr>
            <a:cxnSpLocks/>
          </p:cNvCxnSpPr>
          <p:nvPr/>
        </p:nvCxnSpPr>
        <p:spPr>
          <a:xfrm>
            <a:off x="7507927" y="2224476"/>
            <a:ext cx="5096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Соединительная линия уступом 104">
            <a:extLst>
              <a:ext uri="{FF2B5EF4-FFF2-40B4-BE49-F238E27FC236}">
                <a16:creationId xmlns:a16="http://schemas.microsoft.com/office/drawing/2014/main" id="{D6D2E05A-7D22-4225-EEA1-5CDE572106E2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2782770" y="4168723"/>
            <a:ext cx="1664708" cy="174201"/>
          </a:xfrm>
          <a:prstGeom prst="bentConnector2">
            <a:avLst/>
          </a:prstGeom>
          <a:ln w="158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124860" y="29819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4201580" y="1423720"/>
            <a:ext cx="7848295" cy="4942759"/>
          </a:xfrm>
          <a:prstGeom prst="roundRect">
            <a:avLst>
              <a:gd name="adj" fmla="val 751"/>
            </a:avLst>
          </a:prstGeom>
          <a:solidFill>
            <a:srgbClr val="FFFFFF">
              <a:alpha val="60000"/>
            </a:srgbClr>
          </a:solidFill>
          <a:ln w="22225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5"/>
          <p:cNvSpPr txBox="1"/>
          <p:nvPr/>
        </p:nvSpPr>
        <p:spPr>
          <a:xfrm>
            <a:off x="4443850" y="1341728"/>
            <a:ext cx="3063939" cy="149048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Фабрика Данных (Unified Data Fabric)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4528325" y="4533594"/>
            <a:ext cx="7315200" cy="17775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700232" y="5238597"/>
            <a:ext cx="69723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7"/>
          <p:cNvSpPr txBox="1"/>
          <p:nvPr/>
        </p:nvSpPr>
        <p:spPr>
          <a:xfrm>
            <a:off x="4700232" y="4704587"/>
            <a:ext cx="25511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ODS </a:t>
            </a: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(Operational Data Store)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700232" y="4971592"/>
            <a:ext cx="2229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</a:t>
            </a: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ICEBERG (PROD)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241502" y="4727111"/>
            <a:ext cx="438912" cy="24780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SQL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00232" y="5437936"/>
            <a:ext cx="22475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2"/>
          <p:cNvSpPr/>
          <p:nvPr/>
        </p:nvSpPr>
        <p:spPr>
          <a:xfrm>
            <a:off x="4700232" y="5437936"/>
            <a:ext cx="38405" cy="705002"/>
          </a:xfrm>
          <a:prstGeom prst="roundRect">
            <a:avLst>
              <a:gd name="adj" fmla="val 25739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783" r="-783"/>
          <a:stretch/>
        </p:blipFill>
        <p:spPr>
          <a:xfrm>
            <a:off x="4814532" y="5551321"/>
            <a:ext cx="133502" cy="1051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023930" y="5523889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1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4814532" y="5722314"/>
            <a:ext cx="21305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ICEBERG (DEV)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4814532" y="5893307"/>
            <a:ext cx="21305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Слой разработки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7062127" y="5437936"/>
            <a:ext cx="22475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17"/>
          <p:cNvSpPr/>
          <p:nvPr/>
        </p:nvSpPr>
        <p:spPr>
          <a:xfrm>
            <a:off x="7062127" y="5437936"/>
            <a:ext cx="38405" cy="705002"/>
          </a:xfrm>
          <a:prstGeom prst="roundRect">
            <a:avLst>
              <a:gd name="adj" fmla="val 25739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76427" y="5551321"/>
            <a:ext cx="105156" cy="1051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57479" y="5523889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2</a:t>
            </a: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7176427" y="5722314"/>
            <a:ext cx="21305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ICEBERG (QA)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7176427" y="5893307"/>
            <a:ext cx="21305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Слой тестирования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9424023" y="5437936"/>
            <a:ext cx="224759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2"/>
          <p:cNvSpPr/>
          <p:nvPr/>
        </p:nvSpPr>
        <p:spPr>
          <a:xfrm>
            <a:off x="9424023" y="5437936"/>
            <a:ext cx="38405" cy="705002"/>
          </a:xfrm>
          <a:prstGeom prst="roundRect">
            <a:avLst>
              <a:gd name="adj" fmla="val 25739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 l="-2174" r="-2174"/>
          <a:stretch/>
        </p:blipFill>
        <p:spPr>
          <a:xfrm>
            <a:off x="9538323" y="5551321"/>
            <a:ext cx="123444" cy="1051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38576" y="5523889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Песочница N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9538323" y="5722314"/>
            <a:ext cx="21305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ICEBERG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9538323" y="5893307"/>
            <a:ext cx="21305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Слой хранения данных</a:t>
            </a:r>
            <a:endParaRPr lang="en-US" sz="800" dirty="0"/>
          </a:p>
        </p:txBody>
      </p:sp>
      <p:sp>
        <p:nvSpPr>
          <p:cNvPr id="49" name="Shape 38"/>
          <p:cNvSpPr/>
          <p:nvPr/>
        </p:nvSpPr>
        <p:spPr>
          <a:xfrm>
            <a:off x="6967030" y="1609343"/>
            <a:ext cx="2438705" cy="362102"/>
          </a:xfrm>
          <a:prstGeom prst="roundRect">
            <a:avLst>
              <a:gd name="adj" fmla="val 6645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39"/>
          <p:cNvSpPr txBox="1"/>
          <p:nvPr/>
        </p:nvSpPr>
        <p:spPr>
          <a:xfrm>
            <a:off x="6928625" y="1609343"/>
            <a:ext cx="25146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EDW</a:t>
            </a:r>
            <a:endParaRPr lang="en-US" sz="100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6967030" y="1967788"/>
            <a:ext cx="2438705" cy="611734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046583" y="2082088"/>
            <a:ext cx="22786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DDS / DM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7046583" y="2303373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Фабрика данных - RODSORM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6265685" y="2770631"/>
            <a:ext cx="3847795" cy="381305"/>
          </a:xfrm>
          <a:prstGeom prst="roundRect">
            <a:avLst>
              <a:gd name="adj" fmla="val 5995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43"/>
          <p:cNvSpPr txBox="1"/>
          <p:nvPr/>
        </p:nvSpPr>
        <p:spPr>
          <a:xfrm>
            <a:off x="6227280" y="2770631"/>
            <a:ext cx="39246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Виртуализация данных</a:t>
            </a:r>
            <a:endParaRPr lang="en-US" sz="10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6265685" y="3146449"/>
            <a:ext cx="3840480" cy="1195121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6338837" y="3267150"/>
            <a:ext cx="3696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TRINO</a:t>
            </a:r>
            <a:endParaRPr lang="en-US" sz="1300" dirty="0"/>
          </a:p>
        </p:txBody>
      </p:sp>
      <p:sp>
        <p:nvSpPr>
          <p:cNvPr id="58" name="Text 45"/>
          <p:cNvSpPr txBox="1"/>
          <p:nvPr/>
        </p:nvSpPr>
        <p:spPr>
          <a:xfrm>
            <a:off x="6358039" y="3626509"/>
            <a:ext cx="36576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слой виртуализации обеспечивает унифицированный доступ к данным без дублирования (Zero Copy)</a:t>
            </a:r>
            <a:endParaRPr lang="en-US" sz="9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9"/>
          <a:srcRect l="-39" r="-39"/>
          <a:stretch/>
        </p:blipFill>
        <p:spPr>
          <a:xfrm>
            <a:off x="133719" y="6399553"/>
            <a:ext cx="6912864" cy="41879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371463" y="6523911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Легенда: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1299579" y="653305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48"/>
          <p:cNvSpPr txBox="1"/>
          <p:nvPr/>
        </p:nvSpPr>
        <p:spPr>
          <a:xfrm>
            <a:off x="1528179" y="6523911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Существующие ИС</a:t>
            </a:r>
            <a:endParaRPr lang="en-US" sz="900" dirty="0"/>
          </a:p>
        </p:txBody>
      </p:sp>
      <p:sp>
        <p:nvSpPr>
          <p:cNvPr id="63" name="Shape 49"/>
          <p:cNvSpPr/>
          <p:nvPr/>
        </p:nvSpPr>
        <p:spPr>
          <a:xfrm>
            <a:off x="2889721" y="653305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Text 50"/>
          <p:cNvSpPr txBox="1"/>
          <p:nvPr/>
        </p:nvSpPr>
        <p:spPr>
          <a:xfrm>
            <a:off x="3118321" y="6523911"/>
            <a:ext cx="1314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источники</a:t>
            </a:r>
            <a:endParaRPr lang="en-US" sz="900" dirty="0"/>
          </a:p>
        </p:txBody>
      </p:sp>
      <p:sp>
        <p:nvSpPr>
          <p:cNvPr id="65" name="Shape 51"/>
          <p:cNvSpPr/>
          <p:nvPr/>
        </p:nvSpPr>
        <p:spPr>
          <a:xfrm>
            <a:off x="4577703" y="6533055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Text 52"/>
          <p:cNvSpPr txBox="1"/>
          <p:nvPr/>
        </p:nvSpPr>
        <p:spPr>
          <a:xfrm>
            <a:off x="4806303" y="6523911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Планируемые области (Целевые)</a:t>
            </a:r>
            <a:endParaRPr lang="en-US" sz="900" dirty="0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09905" y="392278"/>
            <a:ext cx="133502" cy="133502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457200" y="689458"/>
            <a:ext cx="5239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Централизация песочниц</a:t>
            </a:r>
            <a:endParaRPr lang="en-US" sz="2700" dirty="0"/>
          </a:p>
        </p:txBody>
      </p:sp>
      <p:sp>
        <p:nvSpPr>
          <p:cNvPr id="69" name="Text 54"/>
          <p:cNvSpPr txBox="1"/>
          <p:nvPr/>
        </p:nvSpPr>
        <p:spPr>
          <a:xfrm>
            <a:off x="457200" y="1156716"/>
            <a:ext cx="5162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BE </a:t>
            </a:r>
            <a:r>
              <a:rPr lang="en-US" sz="1000" b="1" kern="0" spc="7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(Целевая архитектура)</a:t>
            </a:r>
            <a:endParaRPr lang="en-US" sz="1500" dirty="0"/>
          </a:p>
        </p:txBody>
      </p:sp>
      <p:sp>
        <p:nvSpPr>
          <p:cNvPr id="70" name="Text 55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71" name="Shape 56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Text 57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73" name="Shape 58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4" name="Text 59"/>
          <p:cNvSpPr txBox="1"/>
          <p:nvPr/>
        </p:nvSpPr>
        <p:spPr>
          <a:xfrm>
            <a:off x="819302" y="304495"/>
            <a:ext cx="6382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УНХД</a:t>
            </a:r>
            <a:endParaRPr lang="en-US" sz="1000" dirty="0"/>
          </a:p>
        </p:txBody>
      </p:sp>
      <p:sp>
        <p:nvSpPr>
          <p:cNvPr id="76" name="Shape 2">
            <a:extLst>
              <a:ext uri="{FF2B5EF4-FFF2-40B4-BE49-F238E27FC236}">
                <a16:creationId xmlns:a16="http://schemas.microsoft.com/office/drawing/2014/main" id="{2DFFCB2B-0D4F-59B1-6332-312AB3967FD2}"/>
              </a:ext>
            </a:extLst>
          </p:cNvPr>
          <p:cNvSpPr/>
          <p:nvPr/>
        </p:nvSpPr>
        <p:spPr>
          <a:xfrm>
            <a:off x="454369" y="1932100"/>
            <a:ext cx="2381098" cy="2104949"/>
          </a:xfrm>
          <a:prstGeom prst="roundRect">
            <a:avLst>
              <a:gd name="adj" fmla="val 3145"/>
            </a:avLst>
          </a:prstGeom>
          <a:solidFill>
            <a:srgbClr val="FFFFFF">
              <a:alpha val="60000"/>
            </a:srgbClr>
          </a:solidFill>
          <a:ln w="254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77" name="Text 3">
            <a:extLst>
              <a:ext uri="{FF2B5EF4-FFF2-40B4-BE49-F238E27FC236}">
                <a16:creationId xmlns:a16="http://schemas.microsoft.com/office/drawing/2014/main" id="{A14FD16E-3B9B-25E6-04B6-01DB2D764F17}"/>
              </a:ext>
            </a:extLst>
          </p:cNvPr>
          <p:cNvSpPr txBox="1"/>
          <p:nvPr/>
        </p:nvSpPr>
        <p:spPr>
          <a:xfrm>
            <a:off x="603262" y="1784289"/>
            <a:ext cx="2077517" cy="324612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2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 Halyk Bank</a:t>
            </a:r>
            <a:endParaRPr lang="en-US" sz="900" dirty="0"/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E370FEC8-FCC3-87D3-A074-D252F60543EE}"/>
              </a:ext>
            </a:extLst>
          </p:cNvPr>
          <p:cNvSpPr/>
          <p:nvPr/>
        </p:nvSpPr>
        <p:spPr>
          <a:xfrm>
            <a:off x="451929" y="4412866"/>
            <a:ext cx="2381098" cy="1114654"/>
          </a:xfrm>
          <a:prstGeom prst="roundRect">
            <a:avLst>
              <a:gd name="adj" fmla="val 11218"/>
            </a:avLst>
          </a:prstGeom>
          <a:solidFill>
            <a:srgbClr val="FFFFFF">
              <a:alpha val="60000"/>
            </a:srgbClr>
          </a:solidFill>
          <a:ln w="25400">
            <a:solidFill>
              <a:srgbClr val="CBD5E1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3B77BBB0-DB82-9BB5-44BC-613F3B779653}"/>
              </a:ext>
            </a:extLst>
          </p:cNvPr>
          <p:cNvSpPr txBox="1"/>
          <p:nvPr/>
        </p:nvSpPr>
        <p:spPr>
          <a:xfrm>
            <a:off x="565771" y="4336056"/>
            <a:ext cx="2115007" cy="160019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2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источники</a:t>
            </a:r>
            <a:endParaRPr lang="en-US" sz="900" dirty="0"/>
          </a:p>
        </p:txBody>
      </p:sp>
      <p:sp>
        <p:nvSpPr>
          <p:cNvPr id="80" name="Shape 10">
            <a:extLst>
              <a:ext uri="{FF2B5EF4-FFF2-40B4-BE49-F238E27FC236}">
                <a16:creationId xmlns:a16="http://schemas.microsoft.com/office/drawing/2014/main" id="{0B975555-A5B3-F624-F5C6-E157C5EC2448}"/>
              </a:ext>
            </a:extLst>
          </p:cNvPr>
          <p:cNvSpPr/>
          <p:nvPr/>
        </p:nvSpPr>
        <p:spPr>
          <a:xfrm>
            <a:off x="625362" y="2103092"/>
            <a:ext cx="2038198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6919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6BBAC7FA-51A6-7195-7ADE-7964275C3DA9}"/>
              </a:ext>
            </a:extLst>
          </p:cNvPr>
          <p:cNvSpPr txBox="1"/>
          <p:nvPr/>
        </p:nvSpPr>
        <p:spPr>
          <a:xfrm>
            <a:off x="587872" y="2103092"/>
            <a:ext cx="2115007" cy="30541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</a:t>
            </a:r>
            <a:endParaRPr lang="en-US" sz="900" dirty="0"/>
          </a:p>
        </p:txBody>
      </p:sp>
      <p:sp>
        <p:nvSpPr>
          <p:cNvPr id="82" name="Text 12">
            <a:extLst>
              <a:ext uri="{FF2B5EF4-FFF2-40B4-BE49-F238E27FC236}">
                <a16:creationId xmlns:a16="http://schemas.microsoft.com/office/drawing/2014/main" id="{55A2DD24-6DC3-2C01-8AE7-D92AB18B69E4}"/>
              </a:ext>
            </a:extLst>
          </p:cNvPr>
          <p:cNvSpPr txBox="1"/>
          <p:nvPr/>
        </p:nvSpPr>
        <p:spPr>
          <a:xfrm>
            <a:off x="1070675" y="2496284"/>
            <a:ext cx="11530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Owner: HALYKBANK</a:t>
            </a:r>
            <a:endParaRPr lang="en-US" sz="800" dirty="0"/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E8A24AD8-A60F-A3D3-D863-70FED3A856FE}"/>
              </a:ext>
            </a:extLst>
          </p:cNvPr>
          <p:cNvSpPr/>
          <p:nvPr/>
        </p:nvSpPr>
        <p:spPr>
          <a:xfrm>
            <a:off x="625362" y="3097045"/>
            <a:ext cx="2038198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6919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CFD70E52-F048-755D-CB68-E317FA492F66}"/>
              </a:ext>
            </a:extLst>
          </p:cNvPr>
          <p:cNvSpPr txBox="1"/>
          <p:nvPr/>
        </p:nvSpPr>
        <p:spPr>
          <a:xfrm>
            <a:off x="587872" y="3097045"/>
            <a:ext cx="2115007" cy="30541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Ecosystems</a:t>
            </a:r>
            <a:endParaRPr lang="en-US" sz="900" dirty="0"/>
          </a:p>
        </p:txBody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36875504-432E-896C-01EE-9C471EDD7F6C}"/>
              </a:ext>
            </a:extLst>
          </p:cNvPr>
          <p:cNvSpPr txBox="1"/>
          <p:nvPr/>
        </p:nvSpPr>
        <p:spPr>
          <a:xfrm>
            <a:off x="1099021" y="3489323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Container: APP, API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DB</a:t>
            </a:r>
            <a:endParaRPr lang="en-US" sz="800" dirty="0"/>
          </a:p>
        </p:txBody>
      </p:sp>
      <p:sp>
        <p:nvSpPr>
          <p:cNvPr id="86" name="Shape 16">
            <a:extLst>
              <a:ext uri="{FF2B5EF4-FFF2-40B4-BE49-F238E27FC236}">
                <a16:creationId xmlns:a16="http://schemas.microsoft.com/office/drawing/2014/main" id="{BA41C323-38DE-F4B7-B18F-6CE70B73A9F1}"/>
              </a:ext>
            </a:extLst>
          </p:cNvPr>
          <p:cNvSpPr/>
          <p:nvPr/>
        </p:nvSpPr>
        <p:spPr>
          <a:xfrm>
            <a:off x="622922" y="4583858"/>
            <a:ext cx="2038198" cy="771754"/>
          </a:xfrm>
          <a:prstGeom prst="roundRect">
            <a:avLst>
              <a:gd name="adj" fmla="val 175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6919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7" name="Text 17">
            <a:extLst>
              <a:ext uri="{FF2B5EF4-FFF2-40B4-BE49-F238E27FC236}">
                <a16:creationId xmlns:a16="http://schemas.microsoft.com/office/drawing/2014/main" id="{6A21B764-EAAE-01F5-2E9F-5BB460C3D17F}"/>
              </a:ext>
            </a:extLst>
          </p:cNvPr>
          <p:cNvSpPr txBox="1"/>
          <p:nvPr/>
        </p:nvSpPr>
        <p:spPr>
          <a:xfrm>
            <a:off x="585432" y="4583858"/>
            <a:ext cx="2115007" cy="305410"/>
          </a:xfrm>
          <a:prstGeom prst="rect">
            <a:avLst/>
          </a:prstGeom>
          <a:solidFill>
            <a:srgbClr val="6B728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 данные</a:t>
            </a:r>
            <a:endParaRPr lang="en-US" sz="900" dirty="0"/>
          </a:p>
        </p:txBody>
      </p:sp>
      <p:sp>
        <p:nvSpPr>
          <p:cNvPr id="88" name="Text 18">
            <a:extLst>
              <a:ext uri="{FF2B5EF4-FFF2-40B4-BE49-F238E27FC236}">
                <a16:creationId xmlns:a16="http://schemas.microsoft.com/office/drawing/2014/main" id="{59FE9755-01B3-9092-701F-5D6422708C0F}"/>
              </a:ext>
            </a:extLst>
          </p:cNvPr>
          <p:cNvSpPr txBox="1"/>
          <p:nvPr/>
        </p:nvSpPr>
        <p:spPr>
          <a:xfrm>
            <a:off x="1118527" y="4977050"/>
            <a:ext cx="1047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Входящие потоки</a:t>
            </a:r>
            <a:endParaRPr lang="en-US" sz="800" dirty="0"/>
          </a:p>
        </p:txBody>
      </p:sp>
      <p:cxnSp>
        <p:nvCxnSpPr>
          <p:cNvPr id="89" name="Прямая соединительная линия 88">
            <a:extLst>
              <a:ext uri="{FF2B5EF4-FFF2-40B4-BE49-F238E27FC236}">
                <a16:creationId xmlns:a16="http://schemas.microsoft.com/office/drawing/2014/main" id="{529DB29D-5D55-10D1-D57F-3DF4C2458DC8}"/>
              </a:ext>
            </a:extLst>
          </p:cNvPr>
          <p:cNvCxnSpPr>
            <a:cxnSpLocks/>
          </p:cNvCxnSpPr>
          <p:nvPr/>
        </p:nvCxnSpPr>
        <p:spPr>
          <a:xfrm>
            <a:off x="3281568" y="2713911"/>
            <a:ext cx="0" cy="2406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>
            <a:extLst>
              <a:ext uri="{FF2B5EF4-FFF2-40B4-BE49-F238E27FC236}">
                <a16:creationId xmlns:a16="http://schemas.microsoft.com/office/drawing/2014/main" id="{41645A8E-9939-0BE0-76C1-8A51D360855A}"/>
              </a:ext>
            </a:extLst>
          </p:cNvPr>
          <p:cNvCxnSpPr>
            <a:cxnSpLocks/>
          </p:cNvCxnSpPr>
          <p:nvPr/>
        </p:nvCxnSpPr>
        <p:spPr>
          <a:xfrm flipH="1" flipV="1">
            <a:off x="3061323" y="5119095"/>
            <a:ext cx="220245" cy="1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>
            <a:extLst>
              <a:ext uri="{FF2B5EF4-FFF2-40B4-BE49-F238E27FC236}">
                <a16:creationId xmlns:a16="http://schemas.microsoft.com/office/drawing/2014/main" id="{0BF93516-1E74-6635-2417-5F547361AAD0}"/>
              </a:ext>
            </a:extLst>
          </p:cNvPr>
          <p:cNvCxnSpPr>
            <a:cxnSpLocks/>
          </p:cNvCxnSpPr>
          <p:nvPr/>
        </p:nvCxnSpPr>
        <p:spPr>
          <a:xfrm flipH="1" flipV="1">
            <a:off x="3061323" y="2714039"/>
            <a:ext cx="220245" cy="1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3268AA5F-AF42-F26A-27AE-5489DC7D8F16}"/>
              </a:ext>
            </a:extLst>
          </p:cNvPr>
          <p:cNvCxnSpPr>
            <a:cxnSpLocks/>
          </p:cNvCxnSpPr>
          <p:nvPr/>
        </p:nvCxnSpPr>
        <p:spPr>
          <a:xfrm>
            <a:off x="3281568" y="3791378"/>
            <a:ext cx="9200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Соединительная линия уступом 104">
            <a:extLst>
              <a:ext uri="{FF2B5EF4-FFF2-40B4-BE49-F238E27FC236}">
                <a16:creationId xmlns:a16="http://schemas.microsoft.com/office/drawing/2014/main" id="{DBAD2A75-A7EE-D4C2-D83B-CA8B7CD60F0F}"/>
              </a:ext>
            </a:extLst>
          </p:cNvPr>
          <p:cNvCxnSpPr>
            <a:cxnSpLocks/>
            <a:stCxn id="56" idx="1"/>
            <a:endCxn id="12" idx="1"/>
          </p:cNvCxnSpPr>
          <p:nvPr/>
        </p:nvCxnSpPr>
        <p:spPr>
          <a:xfrm rot="10800000" flipV="1">
            <a:off x="4700233" y="3744010"/>
            <a:ext cx="1565453" cy="1094080"/>
          </a:xfrm>
          <a:prstGeom prst="bentConnector3">
            <a:avLst>
              <a:gd name="adj1" fmla="val 1146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Соединительная линия уступом 106">
            <a:extLst>
              <a:ext uri="{FF2B5EF4-FFF2-40B4-BE49-F238E27FC236}">
                <a16:creationId xmlns:a16="http://schemas.microsoft.com/office/drawing/2014/main" id="{ACBBD39D-12A8-C108-D79D-003A636E07C6}"/>
              </a:ext>
            </a:extLst>
          </p:cNvPr>
          <p:cNvCxnSpPr>
            <a:cxnSpLocks/>
          </p:cNvCxnSpPr>
          <p:nvPr/>
        </p:nvCxnSpPr>
        <p:spPr>
          <a:xfrm rot="5400000">
            <a:off x="4439998" y="3987425"/>
            <a:ext cx="2040945" cy="1520475"/>
          </a:xfrm>
          <a:prstGeom prst="bentConnector4">
            <a:avLst>
              <a:gd name="adj1" fmla="val 561"/>
              <a:gd name="adj2" fmla="val 115035"/>
            </a:avLst>
          </a:prstGeom>
          <a:ln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6E621869-390D-0FF3-1725-3EF295A03000}"/>
              </a:ext>
            </a:extLst>
          </p:cNvPr>
          <p:cNvCxnSpPr>
            <a:cxnSpLocks/>
          </p:cNvCxnSpPr>
          <p:nvPr/>
        </p:nvCxnSpPr>
        <p:spPr>
          <a:xfrm flipV="1">
            <a:off x="8241703" y="2579522"/>
            <a:ext cx="0" cy="191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Соединительная линия уступом 114">
            <a:extLst>
              <a:ext uri="{FF2B5EF4-FFF2-40B4-BE49-F238E27FC236}">
                <a16:creationId xmlns:a16="http://schemas.microsoft.com/office/drawing/2014/main" id="{8F1F6831-1663-DE35-2A1F-4DB8CF026911}"/>
              </a:ext>
            </a:extLst>
          </p:cNvPr>
          <p:cNvCxnSpPr>
            <a:cxnSpLocks/>
            <a:stCxn id="10" idx="3"/>
            <a:endCxn id="51" idx="3"/>
          </p:cNvCxnSpPr>
          <p:nvPr/>
        </p:nvCxnSpPr>
        <p:spPr>
          <a:xfrm flipH="1" flipV="1">
            <a:off x="9405735" y="2273655"/>
            <a:ext cx="2437790" cy="3148736"/>
          </a:xfrm>
          <a:prstGeom prst="bentConnector3">
            <a:avLst>
              <a:gd name="adj1" fmla="val -33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904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32727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400" r="-400"/>
          <a:stretch/>
        </p:blipFill>
        <p:spPr>
          <a:xfrm>
            <a:off x="6095847" y="5009998"/>
            <a:ext cx="19202" cy="228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400" r="-400"/>
          <a:stretch/>
        </p:blipFill>
        <p:spPr>
          <a:xfrm>
            <a:off x="4000042" y="5009998"/>
            <a:ext cx="19202" cy="2286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400" r="-400"/>
          <a:stretch/>
        </p:blipFill>
        <p:spPr>
          <a:xfrm>
            <a:off x="8190737" y="5009998"/>
            <a:ext cx="19202" cy="2286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400" r="-400"/>
          <a:stretch/>
        </p:blipFill>
        <p:spPr>
          <a:xfrm>
            <a:off x="1904237" y="5009998"/>
            <a:ext cx="19202" cy="228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400" r="-400"/>
          <a:stretch/>
        </p:blipFill>
        <p:spPr>
          <a:xfrm>
            <a:off x="10286542" y="5009998"/>
            <a:ext cx="19202" cy="228600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952347" y="5238598"/>
            <a:ext cx="190469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2"/>
          <p:cNvSpPr/>
          <p:nvPr/>
        </p:nvSpPr>
        <p:spPr>
          <a:xfrm>
            <a:off x="952347" y="5238598"/>
            <a:ext cx="190469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3"/>
          <p:cNvSpPr txBox="1"/>
          <p:nvPr/>
        </p:nvSpPr>
        <p:spPr>
          <a:xfrm>
            <a:off x="1430578" y="5548580"/>
            <a:ext cx="9564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</a:t>
            </a:r>
            <a:endParaRPr lang="en-US" sz="900" dirty="0"/>
          </a:p>
        </p:txBody>
      </p:sp>
      <p:sp>
        <p:nvSpPr>
          <p:cNvPr id="12" name="Shape 4"/>
          <p:cNvSpPr/>
          <p:nvPr/>
        </p:nvSpPr>
        <p:spPr>
          <a:xfrm>
            <a:off x="1752447" y="5796382"/>
            <a:ext cx="304495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5"/>
          <p:cNvSpPr txBox="1"/>
          <p:nvPr/>
        </p:nvSpPr>
        <p:spPr>
          <a:xfrm>
            <a:off x="1714042" y="5796382"/>
            <a:ext cx="381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t="-2725" b="-2725"/>
          <a:stretch/>
        </p:blipFill>
        <p:spPr>
          <a:xfrm>
            <a:off x="1832914" y="5339182"/>
            <a:ext cx="142646" cy="171907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3047237" y="5238598"/>
            <a:ext cx="190469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7"/>
          <p:cNvSpPr/>
          <p:nvPr/>
        </p:nvSpPr>
        <p:spPr>
          <a:xfrm>
            <a:off x="3047237" y="5238598"/>
            <a:ext cx="190469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8"/>
          <p:cNvSpPr txBox="1"/>
          <p:nvPr/>
        </p:nvSpPr>
        <p:spPr>
          <a:xfrm>
            <a:off x="3231032" y="5548580"/>
            <a:ext cx="15453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 Data Engineer</a:t>
            </a:r>
            <a:endParaRPr lang="en-US" sz="900" dirty="0"/>
          </a:p>
        </p:txBody>
      </p:sp>
      <p:sp>
        <p:nvSpPr>
          <p:cNvPr id="18" name="Shape 9"/>
          <p:cNvSpPr/>
          <p:nvPr/>
        </p:nvSpPr>
        <p:spPr>
          <a:xfrm>
            <a:off x="3847337" y="5796382"/>
            <a:ext cx="304495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Text 10"/>
          <p:cNvSpPr txBox="1"/>
          <p:nvPr/>
        </p:nvSpPr>
        <p:spPr>
          <a:xfrm>
            <a:off x="3809847" y="5796382"/>
            <a:ext cx="381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 t="-842" b="-842"/>
          <a:stretch/>
        </p:blipFill>
        <p:spPr>
          <a:xfrm>
            <a:off x="3904944" y="5339182"/>
            <a:ext cx="190195" cy="171907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143042" y="5238598"/>
            <a:ext cx="190469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12"/>
          <p:cNvSpPr/>
          <p:nvPr/>
        </p:nvSpPr>
        <p:spPr>
          <a:xfrm>
            <a:off x="5143042" y="5238598"/>
            <a:ext cx="190469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13"/>
          <p:cNvSpPr txBox="1"/>
          <p:nvPr/>
        </p:nvSpPr>
        <p:spPr>
          <a:xfrm>
            <a:off x="5324093" y="5548580"/>
            <a:ext cx="15453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Data Engineer</a:t>
            </a:r>
            <a:endParaRPr lang="en-US" sz="900" dirty="0"/>
          </a:p>
        </p:txBody>
      </p:sp>
      <p:sp>
        <p:nvSpPr>
          <p:cNvPr id="24" name="Shape 14"/>
          <p:cNvSpPr/>
          <p:nvPr/>
        </p:nvSpPr>
        <p:spPr>
          <a:xfrm>
            <a:off x="5943142" y="5796382"/>
            <a:ext cx="304495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Text 15"/>
          <p:cNvSpPr txBox="1"/>
          <p:nvPr/>
        </p:nvSpPr>
        <p:spPr>
          <a:xfrm>
            <a:off x="5904737" y="5796382"/>
            <a:ext cx="381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t="-1310" b="-1310"/>
          <a:stretch/>
        </p:blipFill>
        <p:spPr>
          <a:xfrm>
            <a:off x="5990691" y="5339182"/>
            <a:ext cx="209398" cy="171907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7238847" y="5238598"/>
            <a:ext cx="190469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Shape 17"/>
          <p:cNvSpPr/>
          <p:nvPr/>
        </p:nvSpPr>
        <p:spPr>
          <a:xfrm>
            <a:off x="7238847" y="5238598"/>
            <a:ext cx="190469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18"/>
          <p:cNvSpPr txBox="1"/>
          <p:nvPr/>
        </p:nvSpPr>
        <p:spPr>
          <a:xfrm>
            <a:off x="7416240" y="5548580"/>
            <a:ext cx="1552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Ведущий Data Engineer</a:t>
            </a:r>
            <a:endParaRPr lang="en-US" sz="900" dirty="0"/>
          </a:p>
        </p:txBody>
      </p:sp>
      <p:sp>
        <p:nvSpPr>
          <p:cNvPr id="30" name="Shape 19"/>
          <p:cNvSpPr/>
          <p:nvPr/>
        </p:nvSpPr>
        <p:spPr>
          <a:xfrm>
            <a:off x="8038947" y="5796382"/>
            <a:ext cx="304495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1" name="Text 20"/>
          <p:cNvSpPr txBox="1"/>
          <p:nvPr/>
        </p:nvSpPr>
        <p:spPr>
          <a:xfrm>
            <a:off x="8000542" y="5796382"/>
            <a:ext cx="381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t="-1310" b="-1310"/>
          <a:stretch/>
        </p:blipFill>
        <p:spPr>
          <a:xfrm>
            <a:off x="8086496" y="5339182"/>
            <a:ext cx="209398" cy="171907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9333737" y="5238598"/>
            <a:ext cx="190469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4" name="Shape 22"/>
          <p:cNvSpPr/>
          <p:nvPr/>
        </p:nvSpPr>
        <p:spPr>
          <a:xfrm>
            <a:off x="9333737" y="5238598"/>
            <a:ext cx="190469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23"/>
          <p:cNvSpPr txBox="1"/>
          <p:nvPr/>
        </p:nvSpPr>
        <p:spPr>
          <a:xfrm>
            <a:off x="9513874" y="5548580"/>
            <a:ext cx="15471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Старший Data Engineer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10133837" y="5796382"/>
            <a:ext cx="304495" cy="228600"/>
          </a:xfrm>
          <a:prstGeom prst="roundRect">
            <a:avLst>
              <a:gd name="adj" fmla="val 1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7" name="Text 25"/>
          <p:cNvSpPr txBox="1"/>
          <p:nvPr/>
        </p:nvSpPr>
        <p:spPr>
          <a:xfrm>
            <a:off x="10096347" y="5796382"/>
            <a:ext cx="381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t="-1310" b="-1310"/>
          <a:stretch/>
        </p:blipFill>
        <p:spPr>
          <a:xfrm>
            <a:off x="10181386" y="5339182"/>
            <a:ext cx="209398" cy="171907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57200" y="651967"/>
            <a:ext cx="4346143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реляционного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хранилища данных</a:t>
            </a:r>
            <a:endParaRPr lang="en-US" sz="2200" dirty="0"/>
          </a:p>
        </p:txBody>
      </p:sp>
      <p:sp>
        <p:nvSpPr>
          <p:cNvPr id="44" name="Text 29"/>
          <p:cNvSpPr txBox="1"/>
          <p:nvPr/>
        </p:nvSpPr>
        <p:spPr>
          <a:xfrm>
            <a:off x="9927641" y="267005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5" name="Shape 30"/>
          <p:cNvSpPr/>
          <p:nvPr/>
        </p:nvSpPr>
        <p:spPr>
          <a:xfrm>
            <a:off x="11354105" y="228600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31"/>
          <p:cNvSpPr txBox="1"/>
          <p:nvPr/>
        </p:nvSpPr>
        <p:spPr>
          <a:xfrm>
            <a:off x="11324844" y="228600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grpSp>
        <p:nvGrpSpPr>
          <p:cNvPr id="114" name="Группа 113">
            <a:extLst>
              <a:ext uri="{FF2B5EF4-FFF2-40B4-BE49-F238E27FC236}">
                <a16:creationId xmlns:a16="http://schemas.microsoft.com/office/drawing/2014/main" id="{E7A92A96-0E4E-C208-7A20-6B075A3E89F6}"/>
              </a:ext>
            </a:extLst>
          </p:cNvPr>
          <p:cNvGrpSpPr/>
          <p:nvPr/>
        </p:nvGrpSpPr>
        <p:grpSpPr>
          <a:xfrm>
            <a:off x="461771" y="176479"/>
            <a:ext cx="981151" cy="314554"/>
            <a:chOff x="590245" y="-1253214"/>
            <a:chExt cx="981151" cy="314554"/>
          </a:xfrm>
        </p:grpSpPr>
        <p:pic>
          <p:nvPicPr>
            <p:cNvPr id="39" name="Image 11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742950" y="-1165432"/>
              <a:ext cx="133502" cy="133502"/>
            </a:xfrm>
            <a:prstGeom prst="rect">
              <a:avLst/>
            </a:prstGeom>
          </p:spPr>
        </p:pic>
        <p:sp>
          <p:nvSpPr>
            <p:cNvPr id="47" name="Shape 32"/>
            <p:cNvSpPr/>
            <p:nvPr/>
          </p:nvSpPr>
          <p:spPr>
            <a:xfrm>
              <a:off x="590245" y="-1253214"/>
              <a:ext cx="923544" cy="314554"/>
            </a:xfrm>
            <a:prstGeom prst="roundRect">
              <a:avLst>
                <a:gd name="adj" fmla="val 290697"/>
              </a:avLst>
            </a:prstGeom>
            <a:solidFill>
              <a:srgbClr val="3B82F6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8" name="Text 33"/>
            <p:cNvSpPr txBox="1"/>
            <p:nvPr/>
          </p:nvSpPr>
          <p:spPr>
            <a:xfrm>
              <a:off x="952347" y="-1253214"/>
              <a:ext cx="619049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3B82F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УРХД </a:t>
              </a:r>
              <a:endParaRPr lang="en-US" sz="1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F40BF42D-8E94-6EDB-A194-B44E73FA7E3C}"/>
              </a:ext>
            </a:extLst>
          </p:cNvPr>
          <p:cNvGrpSpPr/>
          <p:nvPr/>
        </p:nvGrpSpPr>
        <p:grpSpPr>
          <a:xfrm>
            <a:off x="9429750" y="2746339"/>
            <a:ext cx="1808682" cy="743407"/>
            <a:chOff x="9586569" y="2523992"/>
            <a:chExt cx="1808682" cy="743407"/>
          </a:xfrm>
        </p:grpSpPr>
        <p:pic>
          <p:nvPicPr>
            <p:cNvPr id="49" name="Image 13" descr="preencoded.png"/>
            <p:cNvPicPr>
              <a:picLocks noChangeAspect="1"/>
            </p:cNvPicPr>
            <p:nvPr/>
          </p:nvPicPr>
          <p:blipFill>
            <a:blip r:embed="rId11"/>
            <a:srcRect t="-41" b="-41"/>
            <a:stretch/>
          </p:blipFill>
          <p:spPr>
            <a:xfrm>
              <a:off x="9586569" y="2523992"/>
              <a:ext cx="1782166" cy="743407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8173"/>
                </a:srgbClr>
              </a:outerShdw>
            </a:effectLst>
          </p:spPr>
        </p:pic>
        <p:sp>
          <p:nvSpPr>
            <p:cNvPr id="50" name="Text 34"/>
            <p:cNvSpPr txBox="1"/>
            <p:nvPr/>
          </p:nvSpPr>
          <p:spPr>
            <a:xfrm>
              <a:off x="9853573" y="260080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kern="0" spc="60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Общий штат</a:t>
              </a:r>
              <a:endParaRPr lang="en-US" sz="1200" dirty="0"/>
            </a:p>
          </p:txBody>
        </p:sp>
        <p:sp>
          <p:nvSpPr>
            <p:cNvPr id="51" name="Text 35"/>
            <p:cNvSpPr txBox="1"/>
            <p:nvPr/>
          </p:nvSpPr>
          <p:spPr>
            <a:xfrm>
              <a:off x="9853573" y="2848604"/>
              <a:ext cx="154167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19 </a:t>
              </a:r>
              <a:r>
                <a:rPr lang="en-US" sz="1000" b="1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сотрудников</a:t>
              </a:r>
              <a:endParaRPr lang="en-US" sz="2200" dirty="0"/>
            </a:p>
          </p:txBody>
        </p:sp>
      </p:grpSp>
      <p:sp>
        <p:nvSpPr>
          <p:cNvPr id="62" name="Shape 42"/>
          <p:cNvSpPr/>
          <p:nvPr/>
        </p:nvSpPr>
        <p:spPr>
          <a:xfrm>
            <a:off x="3785958" y="3886696"/>
            <a:ext cx="209580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3" name="Shape 43"/>
          <p:cNvSpPr/>
          <p:nvPr/>
        </p:nvSpPr>
        <p:spPr>
          <a:xfrm>
            <a:off x="3785958" y="3886696"/>
            <a:ext cx="209580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Text 44"/>
          <p:cNvSpPr txBox="1"/>
          <p:nvPr/>
        </p:nvSpPr>
        <p:spPr>
          <a:xfrm>
            <a:off x="4063936" y="4169246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 Lead</a:t>
            </a:r>
            <a:endParaRPr lang="en-US" sz="1000" dirty="0"/>
          </a:p>
        </p:txBody>
      </p:sp>
      <p:sp>
        <p:nvSpPr>
          <p:cNvPr id="65" name="Shape 45"/>
          <p:cNvSpPr/>
          <p:nvPr/>
        </p:nvSpPr>
        <p:spPr>
          <a:xfrm>
            <a:off x="4681156" y="4455453"/>
            <a:ext cx="304495" cy="247802"/>
          </a:xfrm>
          <a:prstGeom prst="roundRect">
            <a:avLst>
              <a:gd name="adj" fmla="val 8515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6" name="Text 46"/>
          <p:cNvSpPr txBox="1"/>
          <p:nvPr/>
        </p:nvSpPr>
        <p:spPr>
          <a:xfrm>
            <a:off x="4643665" y="4455453"/>
            <a:ext cx="3813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t="-1310" b="-1310"/>
          <a:stretch/>
        </p:blipFill>
        <p:spPr>
          <a:xfrm>
            <a:off x="4728704" y="3959848"/>
            <a:ext cx="209398" cy="171907"/>
          </a:xfrm>
          <a:prstGeom prst="rect">
            <a:avLst/>
          </a:prstGeom>
        </p:spPr>
      </p:pic>
      <p:sp>
        <p:nvSpPr>
          <p:cNvPr id="68" name="Shape 47"/>
          <p:cNvSpPr/>
          <p:nvPr/>
        </p:nvSpPr>
        <p:spPr>
          <a:xfrm>
            <a:off x="6200089" y="3886696"/>
            <a:ext cx="2095805" cy="857707"/>
          </a:xfrm>
          <a:prstGeom prst="roundRect">
            <a:avLst>
              <a:gd name="adj" fmla="val 1421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35145"/>
              </a:prstClr>
            </a:outerShdw>
          </a:effectLst>
        </p:spPr>
        <p:txBody>
          <a:bodyPr/>
          <a:lstStyle/>
          <a:p>
            <a:endParaRPr lang="ru-KZ" dirty="0"/>
          </a:p>
        </p:txBody>
      </p:sp>
      <p:sp>
        <p:nvSpPr>
          <p:cNvPr id="69" name="Shape 48"/>
          <p:cNvSpPr/>
          <p:nvPr/>
        </p:nvSpPr>
        <p:spPr>
          <a:xfrm>
            <a:off x="6200089" y="3886696"/>
            <a:ext cx="2095805" cy="28346"/>
          </a:xfrm>
          <a:prstGeom prst="roundRect">
            <a:avLst>
              <a:gd name="adj" fmla="val 43011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0" name="Text 49"/>
          <p:cNvSpPr txBox="1"/>
          <p:nvPr/>
        </p:nvSpPr>
        <p:spPr>
          <a:xfrm>
            <a:off x="6658203" y="4169246"/>
            <a:ext cx="1181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Архитектор ХД</a:t>
            </a:r>
            <a:endParaRPr lang="en-US" sz="1000" dirty="0"/>
          </a:p>
        </p:txBody>
      </p:sp>
      <p:sp>
        <p:nvSpPr>
          <p:cNvPr id="71" name="Shape 50"/>
          <p:cNvSpPr/>
          <p:nvPr/>
        </p:nvSpPr>
        <p:spPr>
          <a:xfrm>
            <a:off x="7095286" y="4455453"/>
            <a:ext cx="304495" cy="247802"/>
          </a:xfrm>
          <a:prstGeom prst="roundRect">
            <a:avLst>
              <a:gd name="adj" fmla="val 8515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2" name="Text 51"/>
          <p:cNvSpPr txBox="1"/>
          <p:nvPr/>
        </p:nvSpPr>
        <p:spPr>
          <a:xfrm>
            <a:off x="7056882" y="4455453"/>
            <a:ext cx="3813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pic>
        <p:nvPicPr>
          <p:cNvPr id="73" name="Image 19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 t="-842" b="-842"/>
          <a:stretch/>
        </p:blipFill>
        <p:spPr>
          <a:xfrm>
            <a:off x="7151979" y="3959848"/>
            <a:ext cx="190195" cy="171907"/>
          </a:xfrm>
          <a:prstGeom prst="rect">
            <a:avLst/>
          </a:prstGeom>
        </p:spPr>
      </p:pic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7F6967DE-9ABC-192E-6125-275F4D6FD105}"/>
              </a:ext>
            </a:extLst>
          </p:cNvPr>
          <p:cNvCxnSpPr>
            <a:cxnSpLocks/>
          </p:cNvCxnSpPr>
          <p:nvPr/>
        </p:nvCxnSpPr>
        <p:spPr>
          <a:xfrm>
            <a:off x="6063199" y="3469635"/>
            <a:ext cx="0" cy="152400"/>
          </a:xfrm>
          <a:prstGeom prst="line">
            <a:avLst/>
          </a:prstGeom>
          <a:ln w="19050">
            <a:solidFill>
              <a:srgbClr val="3B8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id="{BE496496-3CB5-1FE2-B3D6-DFC8B6ED8EBA}"/>
              </a:ext>
            </a:extLst>
          </p:cNvPr>
          <p:cNvCxnSpPr>
            <a:cxnSpLocks/>
          </p:cNvCxnSpPr>
          <p:nvPr/>
        </p:nvCxnSpPr>
        <p:spPr>
          <a:xfrm flipH="1">
            <a:off x="4604389" y="3622035"/>
            <a:ext cx="2825039" cy="0"/>
          </a:xfrm>
          <a:prstGeom prst="line">
            <a:avLst/>
          </a:prstGeom>
          <a:ln w="19050">
            <a:solidFill>
              <a:srgbClr val="3B8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C70D0753-07AD-BA9A-9EE3-E58FEFBFB775}"/>
              </a:ext>
            </a:extLst>
          </p:cNvPr>
          <p:cNvCxnSpPr>
            <a:cxnSpLocks/>
          </p:cNvCxnSpPr>
          <p:nvPr/>
        </p:nvCxnSpPr>
        <p:spPr>
          <a:xfrm>
            <a:off x="7429428" y="3622035"/>
            <a:ext cx="0" cy="192423"/>
          </a:xfrm>
          <a:prstGeom prst="line">
            <a:avLst/>
          </a:prstGeom>
          <a:ln w="19050">
            <a:solidFill>
              <a:srgbClr val="3B8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>
            <a:extLst>
              <a:ext uri="{FF2B5EF4-FFF2-40B4-BE49-F238E27FC236}">
                <a16:creationId xmlns:a16="http://schemas.microsoft.com/office/drawing/2014/main" id="{3972658D-E906-BA55-822D-A813E6E2282B}"/>
              </a:ext>
            </a:extLst>
          </p:cNvPr>
          <p:cNvCxnSpPr>
            <a:cxnSpLocks/>
          </p:cNvCxnSpPr>
          <p:nvPr/>
        </p:nvCxnSpPr>
        <p:spPr>
          <a:xfrm>
            <a:off x="4604389" y="3622035"/>
            <a:ext cx="0" cy="192423"/>
          </a:xfrm>
          <a:prstGeom prst="line">
            <a:avLst/>
          </a:prstGeom>
          <a:ln w="19050">
            <a:solidFill>
              <a:srgbClr val="3B8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3FDDC3AA-9D54-8E89-92B3-6CEE722D8A36}"/>
              </a:ext>
            </a:extLst>
          </p:cNvPr>
          <p:cNvGrpSpPr/>
          <p:nvPr/>
        </p:nvGrpSpPr>
        <p:grpSpPr>
          <a:xfrm>
            <a:off x="4273605" y="2086477"/>
            <a:ext cx="3505810" cy="1298571"/>
            <a:chOff x="4342484" y="-3042993"/>
            <a:chExt cx="3505810" cy="1298571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4B62F7BD-AE03-E158-E0D8-49D06234FE6F}"/>
                </a:ext>
              </a:extLst>
            </p:cNvPr>
            <p:cNvGrpSpPr/>
            <p:nvPr/>
          </p:nvGrpSpPr>
          <p:grpSpPr>
            <a:xfrm>
              <a:off x="4342484" y="-2268244"/>
              <a:ext cx="3505810" cy="523822"/>
              <a:chOff x="4342484" y="2509243"/>
              <a:chExt cx="3505810" cy="523822"/>
            </a:xfrm>
          </p:grpSpPr>
          <p:sp>
            <p:nvSpPr>
              <p:cNvPr id="77" name="Text 2">
                <a:extLst>
                  <a:ext uri="{FF2B5EF4-FFF2-40B4-BE49-F238E27FC236}">
                    <a16:creationId xmlns:a16="http://schemas.microsoft.com/office/drawing/2014/main" id="{3390085B-C151-C4BB-00C8-6529DC115A77}"/>
                  </a:ext>
                </a:extLst>
              </p:cNvPr>
              <p:cNvSpPr txBox="1"/>
              <p:nvPr/>
            </p:nvSpPr>
            <p:spPr>
              <a:xfrm>
                <a:off x="4821173" y="2509243"/>
                <a:ext cx="2548433" cy="1980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Начальник управления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6" name="Text 29">
                <a:extLst>
                  <a:ext uri="{FF2B5EF4-FFF2-40B4-BE49-F238E27FC236}">
                    <a16:creationId xmlns:a16="http://schemas.microsoft.com/office/drawing/2014/main" id="{43C56E7D-DFBC-0703-7E5E-DBE77E4880F4}"/>
                  </a:ext>
                </a:extLst>
              </p:cNvPr>
              <p:cNvSpPr txBox="1"/>
              <p:nvPr/>
            </p:nvSpPr>
            <p:spPr>
              <a:xfrm>
                <a:off x="4342484" y="2766060"/>
                <a:ext cx="350581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Зекеев</a:t>
                </a:r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Максат</a:t>
                </a:r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Смагулович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83" name="Image 15" descr="preencoded.png">
              <a:extLst>
                <a:ext uri="{FF2B5EF4-FFF2-40B4-BE49-F238E27FC236}">
                  <a16:creationId xmlns:a16="http://schemas.microsoft.com/office/drawing/2014/main" id="{AA3F3532-50F3-1DD2-2DCD-D434518F8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80000"/>
            </a:blip>
            <a:srcRect t="-2725" b="-2725"/>
            <a:stretch/>
          </p:blipFill>
          <p:spPr>
            <a:xfrm>
              <a:off x="5849344" y="-3042993"/>
              <a:ext cx="565468" cy="681462"/>
            </a:xfrm>
            <a:prstGeom prst="rect">
              <a:avLst/>
            </a:prstGeom>
          </p:spPr>
        </p:pic>
      </p:grp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1C3FF3E1-76B4-F0A1-5852-7FB7786FC532}"/>
              </a:ext>
            </a:extLst>
          </p:cNvPr>
          <p:cNvCxnSpPr>
            <a:cxnSpLocks/>
            <a:stCxn id="8" idx="0"/>
          </p:cNvCxnSpPr>
          <p:nvPr/>
        </p:nvCxnSpPr>
        <p:spPr>
          <a:xfrm flipH="1">
            <a:off x="1904237" y="5009998"/>
            <a:ext cx="8391906" cy="0"/>
          </a:xfrm>
          <a:prstGeom prst="line">
            <a:avLst/>
          </a:prstGeom>
          <a:ln w="19050">
            <a:solidFill>
              <a:srgbClr val="3B8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2848653F-96DC-0269-5009-FC7C047E5979}"/>
              </a:ext>
            </a:extLst>
          </p:cNvPr>
          <p:cNvGrpSpPr/>
          <p:nvPr/>
        </p:nvGrpSpPr>
        <p:grpSpPr>
          <a:xfrm>
            <a:off x="542696" y="839875"/>
            <a:ext cx="381305" cy="381305"/>
            <a:chOff x="647395" y="1461211"/>
            <a:chExt cx="381305" cy="381305"/>
          </a:xfrm>
        </p:grpSpPr>
        <p:pic>
          <p:nvPicPr>
            <p:cNvPr id="6" name="Image 2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47395" y="1461211"/>
              <a:ext cx="381305" cy="381305"/>
            </a:xfrm>
            <a:prstGeom prst="rect">
              <a:avLst/>
            </a:prstGeom>
          </p:spPr>
        </p:pic>
        <p:pic>
          <p:nvPicPr>
            <p:cNvPr id="7" name="Image 3" descr="preencoded.png"/>
            <p:cNvPicPr>
              <a:picLocks noChangeAspect="1"/>
            </p:cNvPicPr>
            <p:nvPr/>
          </p:nvPicPr>
          <p:blipFill>
            <a:blip r:embed="rId5"/>
            <a:srcRect l="-1064" r="-1064"/>
            <a:stretch/>
          </p:blipFill>
          <p:spPr>
            <a:xfrm>
              <a:off x="728777" y="1566367"/>
              <a:ext cx="219456" cy="171907"/>
            </a:xfrm>
            <a:prstGeom prst="rect">
              <a:avLst/>
            </a:prstGeom>
          </p:spPr>
        </p:pic>
      </p:grp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457199" y="1692097"/>
            <a:ext cx="3556102" cy="3949294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685799" y="2034997"/>
            <a:ext cx="609905" cy="60990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l="-1118" r="-1118"/>
          <a:stretch/>
        </p:blipFill>
        <p:spPr>
          <a:xfrm>
            <a:off x="881481" y="2196846"/>
            <a:ext cx="219456" cy="286207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685799" y="2872587"/>
            <a:ext cx="1791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Сопровождение</a:t>
            </a:r>
            <a:endParaRPr lang="en-US" sz="1500" dirty="0"/>
          </a:p>
        </p:txBody>
      </p:sp>
      <p:sp>
        <p:nvSpPr>
          <p:cNvPr id="19" name="Shape 8"/>
          <p:cNvSpPr/>
          <p:nvPr/>
        </p:nvSpPr>
        <p:spPr>
          <a:xfrm>
            <a:off x="685799" y="337733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9"/>
          <p:cNvSpPr txBox="1"/>
          <p:nvPr/>
        </p:nvSpPr>
        <p:spPr>
          <a:xfrm>
            <a:off x="875994" y="3292297"/>
            <a:ext cx="29910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Сопровождение и развитие систем реляционного хранилища (DDS и SAP BW).</a:t>
            </a:r>
            <a:endParaRPr lang="en-US" sz="1100" dirty="0"/>
          </a:p>
        </p:txBody>
      </p:sp>
      <p:sp>
        <p:nvSpPr>
          <p:cNvPr id="21" name="Shape 10"/>
          <p:cNvSpPr/>
          <p:nvPr/>
        </p:nvSpPr>
        <p:spPr>
          <a:xfrm>
            <a:off x="685799" y="4143603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1"/>
          <p:cNvSpPr txBox="1"/>
          <p:nvPr/>
        </p:nvSpPr>
        <p:spPr>
          <a:xfrm>
            <a:off x="875994" y="4057650"/>
            <a:ext cx="2991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стабильной работы хранилища данных.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85799" y="4692243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13"/>
          <p:cNvSpPr txBox="1"/>
          <p:nvPr/>
        </p:nvSpPr>
        <p:spPr>
          <a:xfrm>
            <a:off x="875994" y="4606290"/>
            <a:ext cx="2991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Составление необходимой сопроводительной документации.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4317796" y="1692097"/>
            <a:ext cx="3556102" cy="3949294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546396" y="2034997"/>
            <a:ext cx="609905" cy="60990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8245" y="2196846"/>
            <a:ext cx="286207" cy="286207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4546396" y="2872587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</a:t>
            </a:r>
            <a:endParaRPr lang="en-US" sz="1500" dirty="0"/>
          </a:p>
        </p:txBody>
      </p:sp>
      <p:sp>
        <p:nvSpPr>
          <p:cNvPr id="29" name="Shape 16"/>
          <p:cNvSpPr/>
          <p:nvPr/>
        </p:nvSpPr>
        <p:spPr>
          <a:xfrm>
            <a:off x="4546396" y="337733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17"/>
          <p:cNvSpPr txBox="1"/>
          <p:nvPr/>
        </p:nvSpPr>
        <p:spPr>
          <a:xfrm>
            <a:off x="4737505" y="3292297"/>
            <a:ext cx="3029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технических заданий.</a:t>
            </a:r>
            <a:endParaRPr lang="en-US" sz="1100" dirty="0"/>
          </a:p>
        </p:txBody>
      </p:sp>
      <p:sp>
        <p:nvSpPr>
          <p:cNvPr id="31" name="Shape 18"/>
          <p:cNvSpPr/>
          <p:nvPr/>
        </p:nvSpPr>
        <p:spPr>
          <a:xfrm>
            <a:off x="4546396" y="3709263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19"/>
          <p:cNvSpPr txBox="1"/>
          <p:nvPr/>
        </p:nvSpPr>
        <p:spPr>
          <a:xfrm>
            <a:off x="4737505" y="3623310"/>
            <a:ext cx="3029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Проектирование архитектуры.</a:t>
            </a:r>
            <a:endParaRPr lang="en-US" sz="1100" dirty="0"/>
          </a:p>
        </p:txBody>
      </p:sp>
      <p:sp>
        <p:nvSpPr>
          <p:cNvPr id="33" name="Shape 20"/>
          <p:cNvSpPr/>
          <p:nvPr/>
        </p:nvSpPr>
        <p:spPr>
          <a:xfrm>
            <a:off x="4546396" y="404027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21"/>
          <p:cNvSpPr txBox="1"/>
          <p:nvPr/>
        </p:nvSpPr>
        <p:spPr>
          <a:xfrm>
            <a:off x="4737505" y="3955237"/>
            <a:ext cx="2991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решений в реляционном хранилище данных.</a:t>
            </a:r>
            <a:endParaRPr lang="en-US" sz="11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9"/>
          <a:srcRect t="-4" b="-4"/>
          <a:stretch/>
        </p:blipFill>
        <p:spPr>
          <a:xfrm>
            <a:off x="8178393" y="1692097"/>
            <a:ext cx="3556102" cy="3949294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8406993" y="2034997"/>
            <a:ext cx="609905" cy="60990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0"/>
          <a:srcRect l="-607" r="-607"/>
          <a:stretch/>
        </p:blipFill>
        <p:spPr>
          <a:xfrm>
            <a:off x="8531351" y="2196846"/>
            <a:ext cx="362102" cy="286207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8406993" y="2872587"/>
            <a:ext cx="2199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Устранение ошибок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8406993" y="337733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25"/>
          <p:cNvSpPr txBox="1"/>
          <p:nvPr/>
        </p:nvSpPr>
        <p:spPr>
          <a:xfrm>
            <a:off x="8598102" y="3292297"/>
            <a:ext cx="29910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и устранение ошибок, возникающих в ходе эксплуатации реляционного хранилища данных.</a:t>
            </a:r>
            <a:endParaRPr lang="en-US" sz="11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rcRect l="-2838" r="-2838"/>
          <a:stretch/>
        </p:blipFill>
        <p:spPr>
          <a:xfrm>
            <a:off x="609905" y="392278"/>
            <a:ext cx="123444" cy="133502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1100938" y="816101"/>
            <a:ext cx="371659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Задачи управления</a:t>
            </a:r>
            <a:endParaRPr lang="en-US" sz="2700" dirty="0"/>
          </a:p>
        </p:txBody>
      </p:sp>
      <p:sp>
        <p:nvSpPr>
          <p:cNvPr id="43" name="Text 27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4" name="Shape 28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29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6" name="Shape 30"/>
          <p:cNvSpPr/>
          <p:nvPr/>
        </p:nvSpPr>
        <p:spPr>
          <a:xfrm>
            <a:off x="457200" y="304495"/>
            <a:ext cx="914400" cy="314554"/>
          </a:xfrm>
          <a:prstGeom prst="roundRect">
            <a:avLst>
              <a:gd name="adj" fmla="val 29069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31"/>
          <p:cNvSpPr txBox="1"/>
          <p:nvPr/>
        </p:nvSpPr>
        <p:spPr>
          <a:xfrm>
            <a:off x="809244" y="304495"/>
            <a:ext cx="6199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УРХД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5316"/>
            <a:ext cx="11277295" cy="2438705"/>
          </a:xfrm>
          <a:prstGeom prst="roundRect">
            <a:avLst>
              <a:gd name="adj" fmla="val 234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457200" y="1385316"/>
            <a:ext cx="47549" cy="2438705"/>
          </a:xfrm>
          <a:prstGeom prst="roundRect">
            <a:avLst>
              <a:gd name="adj" fmla="val 12019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13" r="-13"/>
          <a:stretch/>
        </p:blipFill>
        <p:spPr>
          <a:xfrm>
            <a:off x="9843651" y="1575511"/>
            <a:ext cx="1700649" cy="151131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045306"/>
            <a:ext cx="11277295" cy="2438705"/>
          </a:xfrm>
          <a:prstGeom prst="roundRect">
            <a:avLst>
              <a:gd name="adj" fmla="val 234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>
            <a:off x="457200" y="4045306"/>
            <a:ext cx="47549" cy="2438705"/>
          </a:xfrm>
          <a:prstGeom prst="roundRect">
            <a:avLst>
              <a:gd name="adj" fmla="val 12019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 l="-13" r="-13"/>
          <a:stretch/>
        </p:blipFill>
        <p:spPr>
          <a:xfrm>
            <a:off x="9796102" y="4235501"/>
            <a:ext cx="1748198" cy="155356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1613916"/>
            <a:ext cx="457200" cy="4572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52805" y="1746504"/>
            <a:ext cx="171907" cy="1901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19149" y="1613916"/>
            <a:ext cx="52395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DDS — детальный слой данных Фабрики данных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419149" y="1890065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Data Layer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90295" y="2349094"/>
            <a:ext cx="6039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Назначение 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809244" y="2378354"/>
            <a:ext cx="123444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09244" y="2559406"/>
            <a:ext cx="6182258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Слой данных фабрики данных, который выполняет консолидацию данных из транзакционных систем Банка, приводит данные в единую структуру по методу проектирования модели данных </a:t>
            </a: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Vault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Данный слой является источником для слоя данных DM (Data Mart), а также для разного рода отчетности и глубокого анализа.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7347204" y="2349094"/>
            <a:ext cx="4200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Пользователи 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l="-3440" r="-3440"/>
          <a:stretch/>
        </p:blipFill>
        <p:spPr>
          <a:xfrm>
            <a:off x="7137806" y="2378354"/>
            <a:ext cx="152705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137806" y="2559406"/>
            <a:ext cx="4372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CDS, ДПМ, ДКК, Фин. блок, Блок розничного бизнеса, Блок корпоративного бизнеса, МСБ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7347204" y="3100730"/>
            <a:ext cx="4200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Стек технологий 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l="-3440" r="-3440"/>
          <a:stretch/>
        </p:blipFill>
        <p:spPr>
          <a:xfrm>
            <a:off x="7137806" y="3129077"/>
            <a:ext cx="152705" cy="1143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37806" y="3376615"/>
            <a:ext cx="715061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7865669" y="3376615"/>
            <a:ext cx="534010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8411566" y="3376615"/>
            <a:ext cx="790956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Ymatrix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9220810" y="3376615"/>
            <a:ext cx="762610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Airflow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273906"/>
            <a:ext cx="457200" cy="457200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42746" y="4407408"/>
            <a:ext cx="190195" cy="19019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419149" y="4273906"/>
            <a:ext cx="49725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SAP BW — корпоративная система отчетности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1419149" y="4550054"/>
            <a:ext cx="2139696" cy="286207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Нецелевая система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990295" y="5017313"/>
            <a:ext cx="6039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Назначение 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809244" y="5046574"/>
            <a:ext cx="123444" cy="1143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809244" y="5227625"/>
            <a:ext cx="618225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для построения корпоративных хранилищ данных, которая позволяет собирать, хранить и анализировать большие объемы информации из различных источников для поддержки бизнес-аналитики и формирования корпоративной отчетности.</a:t>
            </a:r>
            <a:endParaRPr lang="en-US" sz="1000" dirty="0"/>
          </a:p>
        </p:txBody>
      </p:sp>
      <p:sp>
        <p:nvSpPr>
          <p:cNvPr id="34" name="Text 21"/>
          <p:cNvSpPr txBox="1"/>
          <p:nvPr/>
        </p:nvSpPr>
        <p:spPr>
          <a:xfrm>
            <a:off x="7347204" y="5017313"/>
            <a:ext cx="4200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Пользователи </a:t>
            </a:r>
            <a:endParaRPr lang="en-US" sz="9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9"/>
          <a:srcRect l="-3440" r="-3440"/>
          <a:stretch/>
        </p:blipFill>
        <p:spPr>
          <a:xfrm>
            <a:off x="7137806" y="5046574"/>
            <a:ext cx="152705" cy="1143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7137806" y="5227625"/>
            <a:ext cx="4372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Фин. блок, Розничный блок, Блок корпоративного бизнеса, МСБ</a:t>
            </a:r>
            <a:endParaRPr lang="en-US" sz="1000" dirty="0"/>
          </a:p>
        </p:txBody>
      </p:sp>
      <p:sp>
        <p:nvSpPr>
          <p:cNvPr id="37" name="Text 23"/>
          <p:cNvSpPr txBox="1"/>
          <p:nvPr/>
        </p:nvSpPr>
        <p:spPr>
          <a:xfrm>
            <a:off x="7347204" y="5760720"/>
            <a:ext cx="4200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Стек технологий </a:t>
            </a:r>
            <a:endParaRPr lang="en-US" sz="9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0"/>
          <a:srcRect l="-3440" r="-3440"/>
          <a:stretch/>
        </p:blipFill>
        <p:spPr>
          <a:xfrm>
            <a:off x="7137806" y="5789066"/>
            <a:ext cx="152705" cy="11430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7137806" y="6036605"/>
            <a:ext cx="829361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SAP BW</a:t>
            </a:r>
            <a:endParaRPr lang="en-US" sz="900" dirty="0"/>
          </a:p>
        </p:txBody>
      </p:sp>
      <p:sp>
        <p:nvSpPr>
          <p:cNvPr id="40" name="Text 25"/>
          <p:cNvSpPr txBox="1"/>
          <p:nvPr/>
        </p:nvSpPr>
        <p:spPr>
          <a:xfrm>
            <a:off x="7979054" y="6036605"/>
            <a:ext cx="676656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ABAP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8666683" y="6036605"/>
            <a:ext cx="715061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</a:t>
            </a:r>
            <a:endParaRPr lang="en-US" sz="900" dirty="0"/>
          </a:p>
        </p:txBody>
      </p:sp>
      <p:sp>
        <p:nvSpPr>
          <p:cNvPr id="42" name="Text 27"/>
          <p:cNvSpPr txBox="1"/>
          <p:nvPr/>
        </p:nvSpPr>
        <p:spPr>
          <a:xfrm>
            <a:off x="9394546" y="6036605"/>
            <a:ext cx="1162202" cy="153233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Center</a:t>
            </a:r>
            <a:endParaRPr lang="en-US" sz="90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/>
        </p:blipFill>
        <p:spPr>
          <a:xfrm>
            <a:off x="609905" y="392278"/>
            <a:ext cx="123444" cy="133502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457200" y="727862"/>
            <a:ext cx="38011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системы</a:t>
            </a:r>
            <a:endParaRPr lang="en-US" sz="2700" dirty="0"/>
          </a:p>
        </p:txBody>
      </p:sp>
      <p:sp>
        <p:nvSpPr>
          <p:cNvPr id="45" name="Text 29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6" name="Shape 30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31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8" name="Shape 32"/>
          <p:cNvSpPr/>
          <p:nvPr/>
        </p:nvSpPr>
        <p:spPr>
          <a:xfrm>
            <a:off x="457200" y="304495"/>
            <a:ext cx="914400" cy="314554"/>
          </a:xfrm>
          <a:prstGeom prst="roundRect">
            <a:avLst>
              <a:gd name="adj" fmla="val 29069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33"/>
          <p:cNvSpPr txBox="1"/>
          <p:nvPr/>
        </p:nvSpPr>
        <p:spPr>
          <a:xfrm>
            <a:off x="809244" y="304495"/>
            <a:ext cx="6199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УРХД 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2"/>
          <p:cNvSpPr/>
          <p:nvPr/>
        </p:nvSpPr>
        <p:spPr>
          <a:xfrm>
            <a:off x="371936" y="567432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371936" y="5871837"/>
            <a:ext cx="123444" cy="1335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2190" y="5836175"/>
            <a:ext cx="1709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Объем данных: </a:t>
            </a:r>
            <a:r>
              <a:rPr lang="en-US" sz="1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TB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2468655" y="5871837"/>
            <a:ext cx="171907" cy="13350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716458" y="5836175"/>
            <a:ext cx="136519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ETL потоков: </a:t>
            </a:r>
            <a:r>
              <a:rPr lang="en-US" sz="1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470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4226132" y="5871837"/>
            <a:ext cx="105156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07183" y="5836175"/>
            <a:ext cx="11960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Отчетов: </a:t>
            </a:r>
            <a:r>
              <a:rPr lang="en-US" sz="1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~2000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0" y="6733185"/>
            <a:ext cx="12191695" cy="114300"/>
          </a:xfrm>
          <a:prstGeom prst="rect">
            <a:avLst/>
          </a:prstGeom>
        </p:spPr>
      </p:pic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 l="-2838" r="-2838"/>
          <a:stretch/>
        </p:blipFill>
        <p:spPr>
          <a:xfrm>
            <a:off x="609905" y="392278"/>
            <a:ext cx="123444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57200" y="72786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 SAP BW</a:t>
            </a: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Text 37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7" name="Shape 38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39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9" name="Shape 40"/>
          <p:cNvSpPr/>
          <p:nvPr/>
        </p:nvSpPr>
        <p:spPr>
          <a:xfrm>
            <a:off x="457200" y="304495"/>
            <a:ext cx="914400" cy="314554"/>
          </a:xfrm>
          <a:prstGeom prst="roundRect">
            <a:avLst>
              <a:gd name="adj" fmla="val 29069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1"/>
          <p:cNvSpPr txBox="1"/>
          <p:nvPr/>
        </p:nvSpPr>
        <p:spPr>
          <a:xfrm>
            <a:off x="809244" y="304495"/>
            <a:ext cx="6199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УРХД </a:t>
            </a:r>
            <a:endParaRPr lang="en-US" sz="1000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F0DB96D8-A9FB-5313-F77B-AF1797B53C83}"/>
              </a:ext>
            </a:extLst>
          </p:cNvPr>
          <p:cNvSpPr/>
          <p:nvPr/>
        </p:nvSpPr>
        <p:spPr>
          <a:xfrm>
            <a:off x="740356" y="1500466"/>
            <a:ext cx="8340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3B81F4"/>
                </a:solidFill>
              </a:rPr>
              <a:t>Sources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CA98B22B-424C-2C51-16B0-BD2A024E9F10}"/>
              </a:ext>
            </a:extLst>
          </p:cNvPr>
          <p:cNvSpPr/>
          <p:nvPr/>
        </p:nvSpPr>
        <p:spPr>
          <a:xfrm>
            <a:off x="2107875" y="1500466"/>
            <a:ext cx="1453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Transformation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33AB0B11-25D7-38C6-9D21-09F20BAFF7AE}"/>
              </a:ext>
            </a:extLst>
          </p:cNvPr>
          <p:cNvSpPr/>
          <p:nvPr/>
        </p:nvSpPr>
        <p:spPr>
          <a:xfrm>
            <a:off x="4108537" y="1499045"/>
            <a:ext cx="6404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41ABE536-C9C6-3434-47B1-124BAD80BAD9}"/>
              </a:ext>
            </a:extLst>
          </p:cNvPr>
          <p:cNvSpPr/>
          <p:nvPr/>
        </p:nvSpPr>
        <p:spPr>
          <a:xfrm>
            <a:off x="7408856" y="1499045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FD3A5C43-7434-65F7-DDEA-92854BDCA562}"/>
              </a:ext>
            </a:extLst>
          </p:cNvPr>
          <p:cNvSpPr/>
          <p:nvPr/>
        </p:nvSpPr>
        <p:spPr>
          <a:xfrm>
            <a:off x="8960977" y="1499045"/>
            <a:ext cx="9609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Historical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2D0AE54-6480-4BF5-6104-38DD9D3E5470}"/>
              </a:ext>
            </a:extLst>
          </p:cNvPr>
          <p:cNvSpPr/>
          <p:nvPr/>
        </p:nvSpPr>
        <p:spPr>
          <a:xfrm>
            <a:off x="10726608" y="1499045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Output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86287F0F-CC2E-FFCA-E2EF-D4FA71DDF922}"/>
              </a:ext>
            </a:extLst>
          </p:cNvPr>
          <p:cNvSpPr/>
          <p:nvPr/>
        </p:nvSpPr>
        <p:spPr>
          <a:xfrm>
            <a:off x="5369391" y="1499045"/>
            <a:ext cx="1453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Transformation</a:t>
            </a:r>
            <a:endParaRPr lang="ru-RU" sz="1600" dirty="0">
              <a:solidFill>
                <a:srgbClr val="3B81F4"/>
              </a:solidFill>
            </a:endParaRPr>
          </a:p>
        </p:txBody>
      </p:sp>
      <p:graphicFrame>
        <p:nvGraphicFramePr>
          <p:cNvPr id="84" name="Таблица 83">
            <a:extLst>
              <a:ext uri="{FF2B5EF4-FFF2-40B4-BE49-F238E27FC236}">
                <a16:creationId xmlns:a16="http://schemas.microsoft.com/office/drawing/2014/main" id="{BF531A50-B897-5D7C-FA56-0EC63B974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87048"/>
              </p:ext>
            </p:extLst>
          </p:nvPr>
        </p:nvGraphicFramePr>
        <p:xfrm>
          <a:off x="300815" y="1985541"/>
          <a:ext cx="11590369" cy="3381152"/>
        </p:xfrm>
        <a:graphic>
          <a:graphicData uri="http://schemas.openxmlformats.org/drawingml/2006/table">
            <a:tbl>
              <a:tblPr/>
              <a:tblGrid>
                <a:gridCol w="1655767">
                  <a:extLst>
                    <a:ext uri="{9D8B030D-6E8A-4147-A177-3AD203B41FA5}">
                      <a16:colId xmlns:a16="http://schemas.microsoft.com/office/drawing/2014/main" val="3408272583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2720750624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2490628204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706948801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3816417188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153015053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1577459570"/>
                    </a:ext>
                  </a:extLst>
                </a:gridCol>
              </a:tblGrid>
              <a:tr h="338115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683003"/>
                  </a:ext>
                </a:extLst>
              </a:tr>
            </a:tbl>
          </a:graphicData>
        </a:graphic>
      </p:graphicFrame>
      <p:sp>
        <p:nvSpPr>
          <p:cNvPr id="85" name="Скругленный прямоугольник 84">
            <a:extLst>
              <a:ext uri="{FF2B5EF4-FFF2-40B4-BE49-F238E27FC236}">
                <a16:creationId xmlns:a16="http://schemas.microsoft.com/office/drawing/2014/main" id="{F3769293-AF49-2C8F-B5E6-C340A9337EC1}"/>
              </a:ext>
            </a:extLst>
          </p:cNvPr>
          <p:cNvSpPr/>
          <p:nvPr/>
        </p:nvSpPr>
        <p:spPr>
          <a:xfrm>
            <a:off x="514520" y="2363307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CBS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9A91CE90-CD89-5069-C9A5-5D706CFE36D6}"/>
              </a:ext>
            </a:extLst>
          </p:cNvPr>
          <p:cNvSpPr/>
          <p:nvPr/>
        </p:nvSpPr>
        <p:spPr>
          <a:xfrm>
            <a:off x="514520" y="2909863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CRS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7" name="Скругленный прямоугольник 86">
            <a:extLst>
              <a:ext uri="{FF2B5EF4-FFF2-40B4-BE49-F238E27FC236}">
                <a16:creationId xmlns:a16="http://schemas.microsoft.com/office/drawing/2014/main" id="{47F04734-FD66-C395-C7FE-B5D41EFEAC03}"/>
              </a:ext>
            </a:extLst>
          </p:cNvPr>
          <p:cNvSpPr/>
          <p:nvPr/>
        </p:nvSpPr>
        <p:spPr>
          <a:xfrm>
            <a:off x="514520" y="3456419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Way4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8" name="Скругленный прямоугольник 87">
            <a:extLst>
              <a:ext uri="{FF2B5EF4-FFF2-40B4-BE49-F238E27FC236}">
                <a16:creationId xmlns:a16="http://schemas.microsoft.com/office/drawing/2014/main" id="{8A688344-CDB5-76CF-C8D7-E054487C5FE8}"/>
              </a:ext>
            </a:extLst>
          </p:cNvPr>
          <p:cNvSpPr/>
          <p:nvPr/>
        </p:nvSpPr>
        <p:spPr>
          <a:xfrm>
            <a:off x="514520" y="4002975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Others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9" name="Скругленный прямоугольник 88">
            <a:extLst>
              <a:ext uri="{FF2B5EF4-FFF2-40B4-BE49-F238E27FC236}">
                <a16:creationId xmlns:a16="http://schemas.microsoft.com/office/drawing/2014/main" id="{17714690-5E55-B8B7-AD41-7ED85A9665D5}"/>
              </a:ext>
            </a:extLst>
          </p:cNvPr>
          <p:cNvSpPr/>
          <p:nvPr/>
        </p:nvSpPr>
        <p:spPr>
          <a:xfrm>
            <a:off x="2196545" y="2764467"/>
            <a:ext cx="1110568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Informatica Power Center</a:t>
            </a:r>
          </a:p>
        </p:txBody>
      </p:sp>
      <p:sp>
        <p:nvSpPr>
          <p:cNvPr id="90" name="Скругленный прямоугольник 89">
            <a:extLst>
              <a:ext uri="{FF2B5EF4-FFF2-40B4-BE49-F238E27FC236}">
                <a16:creationId xmlns:a16="http://schemas.microsoft.com/office/drawing/2014/main" id="{FF293A06-605D-ECE6-958D-87FCBB0150C8}"/>
              </a:ext>
            </a:extLst>
          </p:cNvPr>
          <p:cNvSpPr/>
          <p:nvPr/>
        </p:nvSpPr>
        <p:spPr>
          <a:xfrm>
            <a:off x="3845503" y="2764511"/>
            <a:ext cx="1110568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Staging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(Oracle)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91" name="Скругленный прямоугольник 90">
            <a:extLst>
              <a:ext uri="{FF2B5EF4-FFF2-40B4-BE49-F238E27FC236}">
                <a16:creationId xmlns:a16="http://schemas.microsoft.com/office/drawing/2014/main" id="{27CDF98F-21F1-D5CD-4BB1-4C623991DAB6}"/>
              </a:ext>
            </a:extLst>
          </p:cNvPr>
          <p:cNvSpPr/>
          <p:nvPr/>
        </p:nvSpPr>
        <p:spPr>
          <a:xfrm>
            <a:off x="5651775" y="2760678"/>
            <a:ext cx="4067699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3B81F4"/>
                </a:solidFill>
              </a:rPr>
              <a:t>SAP BW</a:t>
            </a:r>
            <a:endParaRPr lang="ru-RU" sz="2000" dirty="0">
              <a:solidFill>
                <a:srgbClr val="3B81F4"/>
              </a:solidFill>
            </a:endParaRPr>
          </a:p>
        </p:txBody>
      </p:sp>
      <p:sp>
        <p:nvSpPr>
          <p:cNvPr id="92" name="Скругленный прямоугольник 91">
            <a:extLst>
              <a:ext uri="{FF2B5EF4-FFF2-40B4-BE49-F238E27FC236}">
                <a16:creationId xmlns:a16="http://schemas.microsoft.com/office/drawing/2014/main" id="{B36B083B-9FE2-304A-FCE1-181E26733F97}"/>
              </a:ext>
            </a:extLst>
          </p:cNvPr>
          <p:cNvSpPr/>
          <p:nvPr/>
        </p:nvSpPr>
        <p:spPr>
          <a:xfrm>
            <a:off x="10496064" y="2214924"/>
            <a:ext cx="1153167" cy="90082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Регуляторная отчетность.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(sap analysis)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93" name="Скругленный прямоугольник 92">
            <a:extLst>
              <a:ext uri="{FF2B5EF4-FFF2-40B4-BE49-F238E27FC236}">
                <a16:creationId xmlns:a16="http://schemas.microsoft.com/office/drawing/2014/main" id="{FCAB9266-7B19-5B0A-810A-F6E8E89CC010}"/>
              </a:ext>
            </a:extLst>
          </p:cNvPr>
          <p:cNvSpPr/>
          <p:nvPr/>
        </p:nvSpPr>
        <p:spPr>
          <a:xfrm>
            <a:off x="10496064" y="3306117"/>
            <a:ext cx="1153167" cy="8213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Управленческая отчет.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(sap analysis)</a:t>
            </a:r>
            <a:endParaRPr lang="ru-RU" sz="1200" dirty="0">
              <a:solidFill>
                <a:srgbClr val="3B81F4"/>
              </a:solidFill>
            </a:endParaRPr>
          </a:p>
        </p:txBody>
      </p:sp>
      <p:cxnSp>
        <p:nvCxnSpPr>
          <p:cNvPr id="94" name="Скругленная соединительная линия 93">
            <a:extLst>
              <a:ext uri="{FF2B5EF4-FFF2-40B4-BE49-F238E27FC236}">
                <a16:creationId xmlns:a16="http://schemas.microsoft.com/office/drawing/2014/main" id="{99D8C2B5-3183-D638-54D5-E4B29094F12A}"/>
              </a:ext>
            </a:extLst>
          </p:cNvPr>
          <p:cNvCxnSpPr/>
          <p:nvPr/>
        </p:nvCxnSpPr>
        <p:spPr>
          <a:xfrm>
            <a:off x="1411383" y="2572857"/>
            <a:ext cx="785162" cy="566038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Скругленная соединительная линия 94">
            <a:extLst>
              <a:ext uri="{FF2B5EF4-FFF2-40B4-BE49-F238E27FC236}">
                <a16:creationId xmlns:a16="http://schemas.microsoft.com/office/drawing/2014/main" id="{17A53954-1F5F-9A5A-47D8-44B84C943F39}"/>
              </a:ext>
            </a:extLst>
          </p:cNvPr>
          <p:cNvCxnSpPr/>
          <p:nvPr/>
        </p:nvCxnSpPr>
        <p:spPr>
          <a:xfrm flipV="1">
            <a:off x="3093408" y="3119413"/>
            <a:ext cx="752095" cy="1948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Скругленная соединительная линия 95">
            <a:extLst>
              <a:ext uri="{FF2B5EF4-FFF2-40B4-BE49-F238E27FC236}">
                <a16:creationId xmlns:a16="http://schemas.microsoft.com/office/drawing/2014/main" id="{95143ECC-0713-F8E3-BDB1-5D1D1B0487ED}"/>
              </a:ext>
            </a:extLst>
          </p:cNvPr>
          <p:cNvCxnSpPr/>
          <p:nvPr/>
        </p:nvCxnSpPr>
        <p:spPr>
          <a:xfrm flipV="1">
            <a:off x="4742366" y="3117166"/>
            <a:ext cx="909409" cy="2247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Скругленная соединительная линия 96">
            <a:extLst>
              <a:ext uri="{FF2B5EF4-FFF2-40B4-BE49-F238E27FC236}">
                <a16:creationId xmlns:a16="http://schemas.microsoft.com/office/drawing/2014/main" id="{BB254F60-B36A-307A-3CC1-38BBD2250FC1}"/>
              </a:ext>
            </a:extLst>
          </p:cNvPr>
          <p:cNvCxnSpPr/>
          <p:nvPr/>
        </p:nvCxnSpPr>
        <p:spPr>
          <a:xfrm flipV="1">
            <a:off x="9719474" y="2665335"/>
            <a:ext cx="776590" cy="451831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Скругленная соединительная линия 97">
            <a:extLst>
              <a:ext uri="{FF2B5EF4-FFF2-40B4-BE49-F238E27FC236}">
                <a16:creationId xmlns:a16="http://schemas.microsoft.com/office/drawing/2014/main" id="{2E883468-1F25-E127-F9E2-7664461F0E1F}"/>
              </a:ext>
            </a:extLst>
          </p:cNvPr>
          <p:cNvCxnSpPr/>
          <p:nvPr/>
        </p:nvCxnSpPr>
        <p:spPr>
          <a:xfrm>
            <a:off x="9719474" y="3117166"/>
            <a:ext cx="776590" cy="59961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Скругленная соединительная линия 98">
            <a:extLst>
              <a:ext uri="{FF2B5EF4-FFF2-40B4-BE49-F238E27FC236}">
                <a16:creationId xmlns:a16="http://schemas.microsoft.com/office/drawing/2014/main" id="{33E0D10C-743B-7C2F-3BE0-A80209644270}"/>
              </a:ext>
            </a:extLst>
          </p:cNvPr>
          <p:cNvCxnSpPr/>
          <p:nvPr/>
        </p:nvCxnSpPr>
        <p:spPr>
          <a:xfrm>
            <a:off x="1411383" y="3119413"/>
            <a:ext cx="785162" cy="19482"/>
          </a:xfrm>
          <a:prstGeom prst="curvedConnector3">
            <a:avLst>
              <a:gd name="adj1" fmla="val -187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Скругленная соединительная линия 99">
            <a:extLst>
              <a:ext uri="{FF2B5EF4-FFF2-40B4-BE49-F238E27FC236}">
                <a16:creationId xmlns:a16="http://schemas.microsoft.com/office/drawing/2014/main" id="{6E8E4960-AD47-FEDD-2AA1-84C7322220A8}"/>
              </a:ext>
            </a:extLst>
          </p:cNvPr>
          <p:cNvCxnSpPr/>
          <p:nvPr/>
        </p:nvCxnSpPr>
        <p:spPr>
          <a:xfrm flipV="1">
            <a:off x="1411383" y="3138895"/>
            <a:ext cx="785162" cy="527074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Скругленная соединительная линия 100">
            <a:extLst>
              <a:ext uri="{FF2B5EF4-FFF2-40B4-BE49-F238E27FC236}">
                <a16:creationId xmlns:a16="http://schemas.microsoft.com/office/drawing/2014/main" id="{3F99B46B-BE7A-2945-A55E-0B094D94567C}"/>
              </a:ext>
            </a:extLst>
          </p:cNvPr>
          <p:cNvCxnSpPr/>
          <p:nvPr/>
        </p:nvCxnSpPr>
        <p:spPr>
          <a:xfrm flipV="1">
            <a:off x="1411383" y="3138895"/>
            <a:ext cx="785162" cy="1073630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2"/>
          <p:cNvSpPr/>
          <p:nvPr/>
        </p:nvSpPr>
        <p:spPr>
          <a:xfrm>
            <a:off x="413200" y="5537480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413200" y="5734991"/>
            <a:ext cx="123444" cy="1335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3454" y="5699329"/>
            <a:ext cx="1709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Объем данных: </a:t>
            </a:r>
            <a:r>
              <a:rPr lang="en-US" sz="10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TB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2509919" y="5734991"/>
            <a:ext cx="171907" cy="13350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757722" y="5699329"/>
            <a:ext cx="19641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ETL потоков данных: </a:t>
            </a:r>
            <a:r>
              <a:rPr lang="en-US" sz="10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895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2554" y="5734991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051951" y="5699329"/>
            <a:ext cx="12829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DDS таблиц: </a:t>
            </a:r>
            <a:r>
              <a:rPr lang="en-US" sz="105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930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305" y="6733185"/>
            <a:ext cx="12191695" cy="114300"/>
          </a:xfrm>
          <a:prstGeom prst="rect">
            <a:avLst/>
          </a:prstGeom>
        </p:spPr>
      </p:pic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7"/>
          <a:srcRect l="-2838" r="-2838"/>
          <a:stretch/>
        </p:blipFill>
        <p:spPr>
          <a:xfrm>
            <a:off x="609905" y="392278"/>
            <a:ext cx="123444" cy="133502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457200" y="727862"/>
            <a:ext cx="754471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 DDS Фабрики данных as is</a:t>
            </a: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66" name="Shape 57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Text 58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8" name="Shape 59"/>
          <p:cNvSpPr/>
          <p:nvPr/>
        </p:nvSpPr>
        <p:spPr>
          <a:xfrm>
            <a:off x="457200" y="304495"/>
            <a:ext cx="914400" cy="314554"/>
          </a:xfrm>
          <a:prstGeom prst="roundRect">
            <a:avLst>
              <a:gd name="adj" fmla="val 29069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Text 60"/>
          <p:cNvSpPr txBox="1"/>
          <p:nvPr/>
        </p:nvSpPr>
        <p:spPr>
          <a:xfrm>
            <a:off x="809244" y="304495"/>
            <a:ext cx="6199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УРХД </a:t>
            </a:r>
            <a:endParaRPr lang="en-US" sz="1000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2EE3CBDD-DB3D-E77F-693C-1FD8713AB468}"/>
              </a:ext>
            </a:extLst>
          </p:cNvPr>
          <p:cNvSpPr/>
          <p:nvPr/>
        </p:nvSpPr>
        <p:spPr>
          <a:xfrm>
            <a:off x="635497" y="1463778"/>
            <a:ext cx="8340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3B81F4"/>
                </a:solidFill>
              </a:rPr>
              <a:t>Sources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08F69548-6269-BF99-981A-2B63209BA757}"/>
              </a:ext>
            </a:extLst>
          </p:cNvPr>
          <p:cNvSpPr/>
          <p:nvPr/>
        </p:nvSpPr>
        <p:spPr>
          <a:xfrm>
            <a:off x="3631223" y="1457563"/>
            <a:ext cx="1453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Transformation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E7B5A313-DA9E-0549-6FC1-719438BC5313}"/>
              </a:ext>
            </a:extLst>
          </p:cNvPr>
          <p:cNvSpPr/>
          <p:nvPr/>
        </p:nvSpPr>
        <p:spPr>
          <a:xfrm>
            <a:off x="8856118" y="1462357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A9904DB3-7192-C403-A05D-F292DAE38AFE}"/>
              </a:ext>
            </a:extLst>
          </p:cNvPr>
          <p:cNvSpPr/>
          <p:nvPr/>
        </p:nvSpPr>
        <p:spPr>
          <a:xfrm>
            <a:off x="10621749" y="1462357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Output</a:t>
            </a:r>
            <a:endParaRPr lang="ru-RU" sz="1600" dirty="0">
              <a:solidFill>
                <a:srgbClr val="3B81F4"/>
              </a:solidFill>
            </a:endParaRPr>
          </a:p>
        </p:txBody>
      </p:sp>
      <p:graphicFrame>
        <p:nvGraphicFramePr>
          <p:cNvPr id="89" name="Таблица 88">
            <a:extLst>
              <a:ext uri="{FF2B5EF4-FFF2-40B4-BE49-F238E27FC236}">
                <a16:creationId xmlns:a16="http://schemas.microsoft.com/office/drawing/2014/main" id="{8AB271C1-2627-FEE2-2F8E-6C7A60355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370675"/>
              </p:ext>
            </p:extLst>
          </p:nvPr>
        </p:nvGraphicFramePr>
        <p:xfrm>
          <a:off x="300815" y="1919292"/>
          <a:ext cx="11590369" cy="3381152"/>
        </p:xfrm>
        <a:graphic>
          <a:graphicData uri="http://schemas.openxmlformats.org/drawingml/2006/table">
            <a:tbl>
              <a:tblPr/>
              <a:tblGrid>
                <a:gridCol w="1655767">
                  <a:extLst>
                    <a:ext uri="{9D8B030D-6E8A-4147-A177-3AD203B41FA5}">
                      <a16:colId xmlns:a16="http://schemas.microsoft.com/office/drawing/2014/main" val="3408272583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2720750624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2490628204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706948801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3816417188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153015053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1577459570"/>
                    </a:ext>
                  </a:extLst>
                </a:gridCol>
              </a:tblGrid>
              <a:tr h="338115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683003"/>
                  </a:ext>
                </a:extLst>
              </a:tr>
            </a:tbl>
          </a:graphicData>
        </a:graphic>
      </p:graphicFrame>
      <p:sp>
        <p:nvSpPr>
          <p:cNvPr id="114" name="Скругленный прямоугольник 113">
            <a:extLst>
              <a:ext uri="{FF2B5EF4-FFF2-40B4-BE49-F238E27FC236}">
                <a16:creationId xmlns:a16="http://schemas.microsoft.com/office/drawing/2014/main" id="{4A63F3CF-4280-380B-B060-6F1E8FDC0567}"/>
              </a:ext>
            </a:extLst>
          </p:cNvPr>
          <p:cNvSpPr/>
          <p:nvPr/>
        </p:nvSpPr>
        <p:spPr>
          <a:xfrm>
            <a:off x="10399786" y="2147284"/>
            <a:ext cx="1392572" cy="29902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3B81F4"/>
              </a:solidFill>
            </a:endParaRPr>
          </a:p>
        </p:txBody>
      </p:sp>
      <p:sp>
        <p:nvSpPr>
          <p:cNvPr id="90" name="Скругленный прямоугольник 89">
            <a:extLst>
              <a:ext uri="{FF2B5EF4-FFF2-40B4-BE49-F238E27FC236}">
                <a16:creationId xmlns:a16="http://schemas.microsoft.com/office/drawing/2014/main" id="{989C9348-99FD-7A97-7983-72E2378C2D69}"/>
              </a:ext>
            </a:extLst>
          </p:cNvPr>
          <p:cNvSpPr/>
          <p:nvPr/>
        </p:nvSpPr>
        <p:spPr>
          <a:xfrm>
            <a:off x="635497" y="2511017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CBS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91" name="Скругленный прямоугольник 90">
            <a:extLst>
              <a:ext uri="{FF2B5EF4-FFF2-40B4-BE49-F238E27FC236}">
                <a16:creationId xmlns:a16="http://schemas.microsoft.com/office/drawing/2014/main" id="{91C1EF3A-F31A-D8B6-EEB0-02BBA733144E}"/>
              </a:ext>
            </a:extLst>
          </p:cNvPr>
          <p:cNvSpPr/>
          <p:nvPr/>
        </p:nvSpPr>
        <p:spPr>
          <a:xfrm>
            <a:off x="635497" y="3057573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CRS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92" name="Скругленный прямоугольник 91">
            <a:extLst>
              <a:ext uri="{FF2B5EF4-FFF2-40B4-BE49-F238E27FC236}">
                <a16:creationId xmlns:a16="http://schemas.microsoft.com/office/drawing/2014/main" id="{9A138898-1E50-9437-FCA6-A2B048191ADE}"/>
              </a:ext>
            </a:extLst>
          </p:cNvPr>
          <p:cNvSpPr/>
          <p:nvPr/>
        </p:nvSpPr>
        <p:spPr>
          <a:xfrm>
            <a:off x="635497" y="3604129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Way4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93" name="Скругленный прямоугольник 92">
            <a:extLst>
              <a:ext uri="{FF2B5EF4-FFF2-40B4-BE49-F238E27FC236}">
                <a16:creationId xmlns:a16="http://schemas.microsoft.com/office/drawing/2014/main" id="{3E3666FA-D90B-1AC6-9B5D-F3F244F09DB1}"/>
              </a:ext>
            </a:extLst>
          </p:cNvPr>
          <p:cNvSpPr/>
          <p:nvPr/>
        </p:nvSpPr>
        <p:spPr>
          <a:xfrm>
            <a:off x="635497" y="4150685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Others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94" name="Скругленный прямоугольник 93">
            <a:extLst>
              <a:ext uri="{FF2B5EF4-FFF2-40B4-BE49-F238E27FC236}">
                <a16:creationId xmlns:a16="http://schemas.microsoft.com/office/drawing/2014/main" id="{08637669-F32A-E626-B1C8-175BBF0B1F3A}"/>
              </a:ext>
            </a:extLst>
          </p:cNvPr>
          <p:cNvSpPr/>
          <p:nvPr/>
        </p:nvSpPr>
        <p:spPr>
          <a:xfrm>
            <a:off x="2317522" y="2930117"/>
            <a:ext cx="896863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ODS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(Hadoop)</a:t>
            </a:r>
          </a:p>
        </p:txBody>
      </p:sp>
      <p:sp>
        <p:nvSpPr>
          <p:cNvPr id="95" name="Скругленный прямоугольник 94">
            <a:extLst>
              <a:ext uri="{FF2B5EF4-FFF2-40B4-BE49-F238E27FC236}">
                <a16:creationId xmlns:a16="http://schemas.microsoft.com/office/drawing/2014/main" id="{CB6B93CD-2D10-69A1-530D-7B0C2D868B48}"/>
              </a:ext>
            </a:extLst>
          </p:cNvPr>
          <p:cNvSpPr/>
          <p:nvPr/>
        </p:nvSpPr>
        <p:spPr>
          <a:xfrm>
            <a:off x="3969722" y="3231519"/>
            <a:ext cx="896863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ETL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(DEI)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96" name="Скругленный прямоугольник 95">
            <a:extLst>
              <a:ext uri="{FF2B5EF4-FFF2-40B4-BE49-F238E27FC236}">
                <a16:creationId xmlns:a16="http://schemas.microsoft.com/office/drawing/2014/main" id="{802DD70E-C3E6-89B3-762B-386FCC603E91}"/>
              </a:ext>
            </a:extLst>
          </p:cNvPr>
          <p:cNvSpPr/>
          <p:nvPr/>
        </p:nvSpPr>
        <p:spPr>
          <a:xfrm>
            <a:off x="5669968" y="3550142"/>
            <a:ext cx="903305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DDS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(Oracle)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97" name="Скругленный прямоугольник 96">
            <a:extLst>
              <a:ext uri="{FF2B5EF4-FFF2-40B4-BE49-F238E27FC236}">
                <a16:creationId xmlns:a16="http://schemas.microsoft.com/office/drawing/2014/main" id="{E869FD0C-E77E-8C28-E942-F89A00B01F5F}"/>
              </a:ext>
            </a:extLst>
          </p:cNvPr>
          <p:cNvSpPr/>
          <p:nvPr/>
        </p:nvSpPr>
        <p:spPr>
          <a:xfrm>
            <a:off x="10537328" y="2315275"/>
            <a:ext cx="1153167" cy="6156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Регуляторная отчетность.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qlik</a:t>
            </a:r>
            <a:r>
              <a:rPr lang="en-US" sz="1200" dirty="0">
                <a:solidFill>
                  <a:srgbClr val="3B81F4"/>
                </a:solidFill>
              </a:rPr>
              <a:t> sense)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98" name="Скругленный прямоугольник 97">
            <a:extLst>
              <a:ext uri="{FF2B5EF4-FFF2-40B4-BE49-F238E27FC236}">
                <a16:creationId xmlns:a16="http://schemas.microsoft.com/office/drawing/2014/main" id="{CEBB5A03-92C6-DA0B-421D-E92DD97255C0}"/>
              </a:ext>
            </a:extLst>
          </p:cNvPr>
          <p:cNvSpPr/>
          <p:nvPr/>
        </p:nvSpPr>
        <p:spPr>
          <a:xfrm>
            <a:off x="10537328" y="3032400"/>
            <a:ext cx="1153167" cy="56940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Управленческая отчет.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qlik</a:t>
            </a:r>
            <a:r>
              <a:rPr lang="en-US" sz="1200" dirty="0">
                <a:solidFill>
                  <a:srgbClr val="3B81F4"/>
                </a:solidFill>
              </a:rPr>
              <a:t> sense)</a:t>
            </a:r>
            <a:endParaRPr lang="ru-RU" sz="1200" dirty="0">
              <a:solidFill>
                <a:srgbClr val="3B81F4"/>
              </a:solidFill>
            </a:endParaRPr>
          </a:p>
        </p:txBody>
      </p:sp>
      <p:cxnSp>
        <p:nvCxnSpPr>
          <p:cNvPr id="99" name="Скругленная соединительная линия 98">
            <a:extLst>
              <a:ext uri="{FF2B5EF4-FFF2-40B4-BE49-F238E27FC236}">
                <a16:creationId xmlns:a16="http://schemas.microsoft.com/office/drawing/2014/main" id="{5D29F142-8F28-823B-400C-43C8818142C1}"/>
              </a:ext>
            </a:extLst>
          </p:cNvPr>
          <p:cNvCxnSpPr/>
          <p:nvPr/>
        </p:nvCxnSpPr>
        <p:spPr>
          <a:xfrm>
            <a:off x="1532360" y="2720567"/>
            <a:ext cx="785162" cy="566038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Скругленная соединительная линия 99">
            <a:extLst>
              <a:ext uri="{FF2B5EF4-FFF2-40B4-BE49-F238E27FC236}">
                <a16:creationId xmlns:a16="http://schemas.microsoft.com/office/drawing/2014/main" id="{EE6CE837-D6B6-7420-8933-88237AA8C53E}"/>
              </a:ext>
            </a:extLst>
          </p:cNvPr>
          <p:cNvCxnSpPr/>
          <p:nvPr/>
        </p:nvCxnSpPr>
        <p:spPr>
          <a:xfrm>
            <a:off x="3214385" y="3286605"/>
            <a:ext cx="755337" cy="30140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Скругленная соединительная линия 100">
            <a:extLst>
              <a:ext uri="{FF2B5EF4-FFF2-40B4-BE49-F238E27FC236}">
                <a16:creationId xmlns:a16="http://schemas.microsoft.com/office/drawing/2014/main" id="{0616B44A-5AC1-6E25-2C60-761AC19AC147}"/>
              </a:ext>
            </a:extLst>
          </p:cNvPr>
          <p:cNvCxnSpPr/>
          <p:nvPr/>
        </p:nvCxnSpPr>
        <p:spPr>
          <a:xfrm>
            <a:off x="4866585" y="3588007"/>
            <a:ext cx="803383" cy="318623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Скругленная соединительная линия 101">
            <a:extLst>
              <a:ext uri="{FF2B5EF4-FFF2-40B4-BE49-F238E27FC236}">
                <a16:creationId xmlns:a16="http://schemas.microsoft.com/office/drawing/2014/main" id="{46B97222-2EB7-98B0-A1AB-F91256F65515}"/>
              </a:ext>
            </a:extLst>
          </p:cNvPr>
          <p:cNvCxnSpPr/>
          <p:nvPr/>
        </p:nvCxnSpPr>
        <p:spPr>
          <a:xfrm>
            <a:off x="9837681" y="2718396"/>
            <a:ext cx="573511" cy="9647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Скругленная соединительная линия 102">
            <a:extLst>
              <a:ext uri="{FF2B5EF4-FFF2-40B4-BE49-F238E27FC236}">
                <a16:creationId xmlns:a16="http://schemas.microsoft.com/office/drawing/2014/main" id="{A0255ED5-0256-CE35-C0CD-4EF1CB1962BD}"/>
              </a:ext>
            </a:extLst>
          </p:cNvPr>
          <p:cNvCxnSpPr/>
          <p:nvPr/>
        </p:nvCxnSpPr>
        <p:spPr>
          <a:xfrm>
            <a:off x="1532360" y="3267123"/>
            <a:ext cx="785162" cy="1948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Скругленная соединительная линия 103">
            <a:extLst>
              <a:ext uri="{FF2B5EF4-FFF2-40B4-BE49-F238E27FC236}">
                <a16:creationId xmlns:a16="http://schemas.microsoft.com/office/drawing/2014/main" id="{477D9B0A-C350-676D-457B-5764EA28B4C8}"/>
              </a:ext>
            </a:extLst>
          </p:cNvPr>
          <p:cNvCxnSpPr/>
          <p:nvPr/>
        </p:nvCxnSpPr>
        <p:spPr>
          <a:xfrm flipV="1">
            <a:off x="1532360" y="3286605"/>
            <a:ext cx="785162" cy="527074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Скругленная соединительная линия 104">
            <a:extLst>
              <a:ext uri="{FF2B5EF4-FFF2-40B4-BE49-F238E27FC236}">
                <a16:creationId xmlns:a16="http://schemas.microsoft.com/office/drawing/2014/main" id="{C8E8403F-29A5-93AE-1E99-629C0C67A3FB}"/>
              </a:ext>
            </a:extLst>
          </p:cNvPr>
          <p:cNvCxnSpPr/>
          <p:nvPr/>
        </p:nvCxnSpPr>
        <p:spPr>
          <a:xfrm flipV="1">
            <a:off x="1532360" y="3286605"/>
            <a:ext cx="785162" cy="1073630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4CA408EE-302C-99D4-A72E-98AFF0F3FF72}"/>
              </a:ext>
            </a:extLst>
          </p:cNvPr>
          <p:cNvSpPr/>
          <p:nvPr/>
        </p:nvSpPr>
        <p:spPr>
          <a:xfrm>
            <a:off x="2238963" y="1462357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DC912E0B-E6F9-682A-1552-5F66FEB56C4D}"/>
              </a:ext>
            </a:extLst>
          </p:cNvPr>
          <p:cNvSpPr/>
          <p:nvPr/>
        </p:nvSpPr>
        <p:spPr>
          <a:xfrm>
            <a:off x="5564732" y="1456251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108" name="Скругленный прямоугольник 107">
            <a:extLst>
              <a:ext uri="{FF2B5EF4-FFF2-40B4-BE49-F238E27FC236}">
                <a16:creationId xmlns:a16="http://schemas.microsoft.com/office/drawing/2014/main" id="{86E8758A-5DB3-9244-DC80-876758CB1959}"/>
              </a:ext>
            </a:extLst>
          </p:cNvPr>
          <p:cNvSpPr/>
          <p:nvPr/>
        </p:nvSpPr>
        <p:spPr>
          <a:xfrm>
            <a:off x="8934376" y="2361908"/>
            <a:ext cx="903305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DDS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(Oracle)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109" name="Скругленный прямоугольник 108">
            <a:extLst>
              <a:ext uri="{FF2B5EF4-FFF2-40B4-BE49-F238E27FC236}">
                <a16:creationId xmlns:a16="http://schemas.microsoft.com/office/drawing/2014/main" id="{25471D2F-7C5A-FC9A-F9CF-3C84A8C2AA16}"/>
              </a:ext>
            </a:extLst>
          </p:cNvPr>
          <p:cNvSpPr/>
          <p:nvPr/>
        </p:nvSpPr>
        <p:spPr>
          <a:xfrm>
            <a:off x="7258153" y="2364079"/>
            <a:ext cx="896863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ETL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(Power Center)</a:t>
            </a:r>
            <a:endParaRPr lang="ru-RU" sz="1200" dirty="0">
              <a:solidFill>
                <a:srgbClr val="3B81F4"/>
              </a:solidFill>
            </a:endParaRPr>
          </a:p>
        </p:txBody>
      </p:sp>
      <p:cxnSp>
        <p:nvCxnSpPr>
          <p:cNvPr id="110" name="Скругленная соединительная линия 109">
            <a:extLst>
              <a:ext uri="{FF2B5EF4-FFF2-40B4-BE49-F238E27FC236}">
                <a16:creationId xmlns:a16="http://schemas.microsoft.com/office/drawing/2014/main" id="{BA9CAC8A-9C13-7743-7DF4-4FF428334AD6}"/>
              </a:ext>
            </a:extLst>
          </p:cNvPr>
          <p:cNvCxnSpPr/>
          <p:nvPr/>
        </p:nvCxnSpPr>
        <p:spPr>
          <a:xfrm flipV="1">
            <a:off x="6573273" y="2720567"/>
            <a:ext cx="684880" cy="1186063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Скругленная соединительная линия 110">
            <a:extLst>
              <a:ext uri="{FF2B5EF4-FFF2-40B4-BE49-F238E27FC236}">
                <a16:creationId xmlns:a16="http://schemas.microsoft.com/office/drawing/2014/main" id="{11F30E24-0FAA-5780-A634-DC3300B68CFE}"/>
              </a:ext>
            </a:extLst>
          </p:cNvPr>
          <p:cNvCxnSpPr/>
          <p:nvPr/>
        </p:nvCxnSpPr>
        <p:spPr>
          <a:xfrm flipV="1">
            <a:off x="8155016" y="2718396"/>
            <a:ext cx="779360" cy="21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Скругленный прямоугольник 111">
            <a:extLst>
              <a:ext uri="{FF2B5EF4-FFF2-40B4-BE49-F238E27FC236}">
                <a16:creationId xmlns:a16="http://schemas.microsoft.com/office/drawing/2014/main" id="{D6255E8C-E792-59E9-D03A-9E628419EFF3}"/>
              </a:ext>
            </a:extLst>
          </p:cNvPr>
          <p:cNvSpPr/>
          <p:nvPr/>
        </p:nvSpPr>
        <p:spPr>
          <a:xfrm>
            <a:off x="10537328" y="3690290"/>
            <a:ext cx="1153167" cy="6156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Sandbox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113" name="Скругленный прямоугольник 112">
            <a:extLst>
              <a:ext uri="{FF2B5EF4-FFF2-40B4-BE49-F238E27FC236}">
                <a16:creationId xmlns:a16="http://schemas.microsoft.com/office/drawing/2014/main" id="{A1C13372-51C1-21E5-80AE-AD937892906C}"/>
              </a:ext>
            </a:extLst>
          </p:cNvPr>
          <p:cNvSpPr/>
          <p:nvPr/>
        </p:nvSpPr>
        <p:spPr>
          <a:xfrm>
            <a:off x="10537328" y="4412954"/>
            <a:ext cx="1153167" cy="6156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Другие потребители</a:t>
            </a:r>
          </a:p>
        </p:txBody>
      </p:sp>
      <p:cxnSp>
        <p:nvCxnSpPr>
          <p:cNvPr id="115" name="Скругленная соединительная линия 114">
            <a:extLst>
              <a:ext uri="{FF2B5EF4-FFF2-40B4-BE49-F238E27FC236}">
                <a16:creationId xmlns:a16="http://schemas.microsoft.com/office/drawing/2014/main" id="{E982C099-31C6-95A1-C777-61111D8E6A09}"/>
              </a:ext>
            </a:extLst>
          </p:cNvPr>
          <p:cNvCxnSpPr/>
          <p:nvPr/>
        </p:nvCxnSpPr>
        <p:spPr>
          <a:xfrm flipV="1">
            <a:off x="6573273" y="3683120"/>
            <a:ext cx="3837919" cy="22351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913DC5F8-229B-E6D1-4B56-21A14F1B94E9}"/>
              </a:ext>
            </a:extLst>
          </p:cNvPr>
          <p:cNvSpPr/>
          <p:nvPr/>
        </p:nvSpPr>
        <p:spPr>
          <a:xfrm>
            <a:off x="6936275" y="1463778"/>
            <a:ext cx="1453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Transformation</a:t>
            </a:r>
            <a:endParaRPr lang="ru-RU" sz="1600" dirty="0">
              <a:solidFill>
                <a:srgbClr val="3B81F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09905" y="392278"/>
            <a:ext cx="123444" cy="133502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457200" y="758938"/>
            <a:ext cx="76681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 DDS Фабрики данных to be</a:t>
            </a:r>
            <a:endParaRPr lang="en-US" sz="2700" dirty="0"/>
          </a:p>
        </p:txBody>
      </p:sp>
      <p:sp>
        <p:nvSpPr>
          <p:cNvPr id="55" name="Text 48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56" name="Shape 49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0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8" name="Shape 51"/>
          <p:cNvSpPr/>
          <p:nvPr/>
        </p:nvSpPr>
        <p:spPr>
          <a:xfrm>
            <a:off x="457200" y="304495"/>
            <a:ext cx="914400" cy="314554"/>
          </a:xfrm>
          <a:prstGeom prst="roundRect">
            <a:avLst>
              <a:gd name="adj" fmla="val 29069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2"/>
          <p:cNvSpPr txBox="1"/>
          <p:nvPr/>
        </p:nvSpPr>
        <p:spPr>
          <a:xfrm>
            <a:off x="809244" y="304495"/>
            <a:ext cx="6199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УРХД </a:t>
            </a:r>
            <a:endParaRPr lang="en-US" sz="1000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41D334DF-4158-5948-0470-C3FB6EFF1705}"/>
              </a:ext>
            </a:extLst>
          </p:cNvPr>
          <p:cNvSpPr/>
          <p:nvPr/>
        </p:nvSpPr>
        <p:spPr>
          <a:xfrm>
            <a:off x="686698" y="1765974"/>
            <a:ext cx="8340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3B81F4"/>
                </a:solidFill>
              </a:rPr>
              <a:t>Sources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DAAFCDF3-A3DD-366F-7799-FCC1A491A6AA}"/>
              </a:ext>
            </a:extLst>
          </p:cNvPr>
          <p:cNvSpPr/>
          <p:nvPr/>
        </p:nvSpPr>
        <p:spPr>
          <a:xfrm>
            <a:off x="3682424" y="1759759"/>
            <a:ext cx="1453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Transformation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8338A05B-C6A2-41C1-73A1-F966053BE46B}"/>
              </a:ext>
            </a:extLst>
          </p:cNvPr>
          <p:cNvSpPr/>
          <p:nvPr/>
        </p:nvSpPr>
        <p:spPr>
          <a:xfrm>
            <a:off x="8907319" y="1764553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3757492C-9C87-D5F8-5BAF-0A34A29CBFE9}"/>
              </a:ext>
            </a:extLst>
          </p:cNvPr>
          <p:cNvSpPr/>
          <p:nvPr/>
        </p:nvSpPr>
        <p:spPr>
          <a:xfrm>
            <a:off x="10672950" y="1764553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Output</a:t>
            </a:r>
            <a:endParaRPr lang="ru-RU" sz="1600" dirty="0">
              <a:solidFill>
                <a:srgbClr val="3B81F4"/>
              </a:solidFill>
            </a:endParaRPr>
          </a:p>
        </p:txBody>
      </p:sp>
      <p:graphicFrame>
        <p:nvGraphicFramePr>
          <p:cNvPr id="81" name="Таблица 80">
            <a:extLst>
              <a:ext uri="{FF2B5EF4-FFF2-40B4-BE49-F238E27FC236}">
                <a16:creationId xmlns:a16="http://schemas.microsoft.com/office/drawing/2014/main" id="{863EA3F5-8D06-EC73-2B7F-C23CBF5D4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89703"/>
              </p:ext>
            </p:extLst>
          </p:nvPr>
        </p:nvGraphicFramePr>
        <p:xfrm>
          <a:off x="300816" y="2109671"/>
          <a:ext cx="11590369" cy="3381152"/>
        </p:xfrm>
        <a:graphic>
          <a:graphicData uri="http://schemas.openxmlformats.org/drawingml/2006/table">
            <a:tbl>
              <a:tblPr/>
              <a:tblGrid>
                <a:gridCol w="1655767">
                  <a:extLst>
                    <a:ext uri="{9D8B030D-6E8A-4147-A177-3AD203B41FA5}">
                      <a16:colId xmlns:a16="http://schemas.microsoft.com/office/drawing/2014/main" val="3408272583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2720750624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2490628204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706948801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3816417188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153015053"/>
                    </a:ext>
                  </a:extLst>
                </a:gridCol>
                <a:gridCol w="1655767">
                  <a:extLst>
                    <a:ext uri="{9D8B030D-6E8A-4147-A177-3AD203B41FA5}">
                      <a16:colId xmlns:a16="http://schemas.microsoft.com/office/drawing/2014/main" val="1577459570"/>
                    </a:ext>
                  </a:extLst>
                </a:gridCol>
              </a:tblGrid>
              <a:tr h="338115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683003"/>
                  </a:ext>
                </a:extLst>
              </a:tr>
            </a:tbl>
          </a:graphicData>
        </a:graphic>
      </p:graphicFrame>
      <p:sp>
        <p:nvSpPr>
          <p:cNvPr id="106" name="Скругленный прямоугольник 105">
            <a:extLst>
              <a:ext uri="{FF2B5EF4-FFF2-40B4-BE49-F238E27FC236}">
                <a16:creationId xmlns:a16="http://schemas.microsoft.com/office/drawing/2014/main" id="{554FCB41-9ECD-F5E1-F22E-B137E4A6980C}"/>
              </a:ext>
            </a:extLst>
          </p:cNvPr>
          <p:cNvSpPr/>
          <p:nvPr/>
        </p:nvSpPr>
        <p:spPr>
          <a:xfrm>
            <a:off x="10411193" y="2378369"/>
            <a:ext cx="1392572" cy="29902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3B81F4"/>
              </a:solidFill>
            </a:endParaRPr>
          </a:p>
        </p:txBody>
      </p:sp>
      <p:sp>
        <p:nvSpPr>
          <p:cNvPr id="82" name="Скругленный прямоугольник 81">
            <a:extLst>
              <a:ext uri="{FF2B5EF4-FFF2-40B4-BE49-F238E27FC236}">
                <a16:creationId xmlns:a16="http://schemas.microsoft.com/office/drawing/2014/main" id="{FC0B9065-CC28-FEB9-083E-FBAB1A82DCE4}"/>
              </a:ext>
            </a:extLst>
          </p:cNvPr>
          <p:cNvSpPr/>
          <p:nvPr/>
        </p:nvSpPr>
        <p:spPr>
          <a:xfrm>
            <a:off x="635498" y="2701396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CBS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3" name="Скругленный прямоугольник 82">
            <a:extLst>
              <a:ext uri="{FF2B5EF4-FFF2-40B4-BE49-F238E27FC236}">
                <a16:creationId xmlns:a16="http://schemas.microsoft.com/office/drawing/2014/main" id="{CC203FB3-0270-C960-04E1-484A478C8C06}"/>
              </a:ext>
            </a:extLst>
          </p:cNvPr>
          <p:cNvSpPr/>
          <p:nvPr/>
        </p:nvSpPr>
        <p:spPr>
          <a:xfrm>
            <a:off x="635498" y="3247952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CRS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4" name="Скругленный прямоугольник 83">
            <a:extLst>
              <a:ext uri="{FF2B5EF4-FFF2-40B4-BE49-F238E27FC236}">
                <a16:creationId xmlns:a16="http://schemas.microsoft.com/office/drawing/2014/main" id="{56BDCCE4-7163-0293-15E7-CA29699C69B5}"/>
              </a:ext>
            </a:extLst>
          </p:cNvPr>
          <p:cNvSpPr/>
          <p:nvPr/>
        </p:nvSpPr>
        <p:spPr>
          <a:xfrm>
            <a:off x="635498" y="3794508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Way4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5" name="Скругленный прямоугольник 84">
            <a:extLst>
              <a:ext uri="{FF2B5EF4-FFF2-40B4-BE49-F238E27FC236}">
                <a16:creationId xmlns:a16="http://schemas.microsoft.com/office/drawing/2014/main" id="{FA06B563-CAE1-2BBD-CC19-9A012A133E7F}"/>
              </a:ext>
            </a:extLst>
          </p:cNvPr>
          <p:cNvSpPr/>
          <p:nvPr/>
        </p:nvSpPr>
        <p:spPr>
          <a:xfrm>
            <a:off x="635498" y="4341064"/>
            <a:ext cx="896863" cy="4191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3B81F4"/>
                </a:solidFill>
              </a:rPr>
              <a:t>Others</a:t>
            </a:r>
            <a:endParaRPr lang="ru-RU" sz="1400" dirty="0">
              <a:solidFill>
                <a:srgbClr val="3B81F4"/>
              </a:solidFill>
            </a:endParaRP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E8A9FAC1-D12A-BCD2-89B6-2DFB00FDDA87}"/>
              </a:ext>
            </a:extLst>
          </p:cNvPr>
          <p:cNvSpPr/>
          <p:nvPr/>
        </p:nvSpPr>
        <p:spPr>
          <a:xfrm>
            <a:off x="2317523" y="3120496"/>
            <a:ext cx="896863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ODS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ymatrix</a:t>
            </a:r>
            <a:r>
              <a:rPr lang="en-US" sz="1200" dirty="0">
                <a:solidFill>
                  <a:srgbClr val="3B81F4"/>
                </a:solidFill>
              </a:rPr>
              <a:t>)</a:t>
            </a:r>
          </a:p>
        </p:txBody>
      </p:sp>
      <p:sp>
        <p:nvSpPr>
          <p:cNvPr id="87" name="Скругленный прямоугольник 86">
            <a:extLst>
              <a:ext uri="{FF2B5EF4-FFF2-40B4-BE49-F238E27FC236}">
                <a16:creationId xmlns:a16="http://schemas.microsoft.com/office/drawing/2014/main" id="{91F1D1C4-8EAB-DA5D-6A97-2FCF97E31D8C}"/>
              </a:ext>
            </a:extLst>
          </p:cNvPr>
          <p:cNvSpPr/>
          <p:nvPr/>
        </p:nvSpPr>
        <p:spPr>
          <a:xfrm>
            <a:off x="3966481" y="3101014"/>
            <a:ext cx="896863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ETL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(airflow)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88" name="Скругленный прямоугольник 87">
            <a:extLst>
              <a:ext uri="{FF2B5EF4-FFF2-40B4-BE49-F238E27FC236}">
                <a16:creationId xmlns:a16="http://schemas.microsoft.com/office/drawing/2014/main" id="{8F98BC4D-8DE1-A592-55AB-2CD4F7FE2A7C}"/>
              </a:ext>
            </a:extLst>
          </p:cNvPr>
          <p:cNvSpPr/>
          <p:nvPr/>
        </p:nvSpPr>
        <p:spPr>
          <a:xfrm>
            <a:off x="5766649" y="3525627"/>
            <a:ext cx="903305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DDS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ymatrix</a:t>
            </a:r>
            <a:r>
              <a:rPr lang="en-US" sz="1200" dirty="0">
                <a:solidFill>
                  <a:srgbClr val="3B81F4"/>
                </a:solidFill>
              </a:rPr>
              <a:t>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89" name="Скругленный прямоугольник 88">
            <a:extLst>
              <a:ext uri="{FF2B5EF4-FFF2-40B4-BE49-F238E27FC236}">
                <a16:creationId xmlns:a16="http://schemas.microsoft.com/office/drawing/2014/main" id="{66D07F8D-38FB-B6B9-80DC-846BB95801DE}"/>
              </a:ext>
            </a:extLst>
          </p:cNvPr>
          <p:cNvSpPr/>
          <p:nvPr/>
        </p:nvSpPr>
        <p:spPr>
          <a:xfrm>
            <a:off x="10537329" y="2505654"/>
            <a:ext cx="1153167" cy="6156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Регуляторная отчетность.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qlik</a:t>
            </a:r>
            <a:r>
              <a:rPr lang="en-US" sz="1200" dirty="0">
                <a:solidFill>
                  <a:srgbClr val="3B81F4"/>
                </a:solidFill>
              </a:rPr>
              <a:t> sense)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90" name="Скругленный прямоугольник 89">
            <a:extLst>
              <a:ext uri="{FF2B5EF4-FFF2-40B4-BE49-F238E27FC236}">
                <a16:creationId xmlns:a16="http://schemas.microsoft.com/office/drawing/2014/main" id="{CA07AB2B-A781-9ECD-308A-759749FC7A74}"/>
              </a:ext>
            </a:extLst>
          </p:cNvPr>
          <p:cNvSpPr/>
          <p:nvPr/>
        </p:nvSpPr>
        <p:spPr>
          <a:xfrm>
            <a:off x="10537329" y="3222779"/>
            <a:ext cx="1153167" cy="56940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Управленческая отчет.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qlik</a:t>
            </a:r>
            <a:r>
              <a:rPr lang="en-US" sz="1200" dirty="0">
                <a:solidFill>
                  <a:srgbClr val="3B81F4"/>
                </a:solidFill>
              </a:rPr>
              <a:t> sense)</a:t>
            </a:r>
            <a:endParaRPr lang="ru-RU" sz="1200" dirty="0">
              <a:solidFill>
                <a:srgbClr val="3B81F4"/>
              </a:solidFill>
            </a:endParaRPr>
          </a:p>
        </p:txBody>
      </p:sp>
      <p:cxnSp>
        <p:nvCxnSpPr>
          <p:cNvPr id="91" name="Скругленная соединительная линия 90">
            <a:extLst>
              <a:ext uri="{FF2B5EF4-FFF2-40B4-BE49-F238E27FC236}">
                <a16:creationId xmlns:a16="http://schemas.microsoft.com/office/drawing/2014/main" id="{71B6F031-521F-D5B7-7671-5B432EEABEDA}"/>
              </a:ext>
            </a:extLst>
          </p:cNvPr>
          <p:cNvCxnSpPr/>
          <p:nvPr/>
        </p:nvCxnSpPr>
        <p:spPr>
          <a:xfrm>
            <a:off x="1532361" y="2910946"/>
            <a:ext cx="785162" cy="566038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Скругленная соединительная линия 91">
            <a:extLst>
              <a:ext uri="{FF2B5EF4-FFF2-40B4-BE49-F238E27FC236}">
                <a16:creationId xmlns:a16="http://schemas.microsoft.com/office/drawing/2014/main" id="{96B92C74-E88A-3DAD-984B-8476ABCDBA0A}"/>
              </a:ext>
            </a:extLst>
          </p:cNvPr>
          <p:cNvCxnSpPr/>
          <p:nvPr/>
        </p:nvCxnSpPr>
        <p:spPr>
          <a:xfrm flipV="1">
            <a:off x="3214386" y="3457502"/>
            <a:ext cx="752095" cy="1948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Скругленная соединительная линия 92">
            <a:extLst>
              <a:ext uri="{FF2B5EF4-FFF2-40B4-BE49-F238E27FC236}">
                <a16:creationId xmlns:a16="http://schemas.microsoft.com/office/drawing/2014/main" id="{F41C2A31-0D5C-C61A-2A99-99FB5EF8388B}"/>
              </a:ext>
            </a:extLst>
          </p:cNvPr>
          <p:cNvCxnSpPr/>
          <p:nvPr/>
        </p:nvCxnSpPr>
        <p:spPr>
          <a:xfrm>
            <a:off x="4863344" y="3457502"/>
            <a:ext cx="903305" cy="424613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Скругленная соединительная линия 93">
            <a:extLst>
              <a:ext uri="{FF2B5EF4-FFF2-40B4-BE49-F238E27FC236}">
                <a16:creationId xmlns:a16="http://schemas.microsoft.com/office/drawing/2014/main" id="{BBFC1854-5233-00EA-B27D-04BEA7287E79}"/>
              </a:ext>
            </a:extLst>
          </p:cNvPr>
          <p:cNvCxnSpPr/>
          <p:nvPr/>
        </p:nvCxnSpPr>
        <p:spPr>
          <a:xfrm>
            <a:off x="9837682" y="2908775"/>
            <a:ext cx="573511" cy="9647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Скругленная соединительная линия 94">
            <a:extLst>
              <a:ext uri="{FF2B5EF4-FFF2-40B4-BE49-F238E27FC236}">
                <a16:creationId xmlns:a16="http://schemas.microsoft.com/office/drawing/2014/main" id="{EBA52798-E43A-A86C-9A96-8B643F3A4854}"/>
              </a:ext>
            </a:extLst>
          </p:cNvPr>
          <p:cNvCxnSpPr/>
          <p:nvPr/>
        </p:nvCxnSpPr>
        <p:spPr>
          <a:xfrm>
            <a:off x="1532361" y="3457502"/>
            <a:ext cx="785162" cy="19482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Скругленная соединительная линия 95">
            <a:extLst>
              <a:ext uri="{FF2B5EF4-FFF2-40B4-BE49-F238E27FC236}">
                <a16:creationId xmlns:a16="http://schemas.microsoft.com/office/drawing/2014/main" id="{0749BB53-6143-E1F8-89C2-0AE303F1B9D6}"/>
              </a:ext>
            </a:extLst>
          </p:cNvPr>
          <p:cNvCxnSpPr/>
          <p:nvPr/>
        </p:nvCxnSpPr>
        <p:spPr>
          <a:xfrm flipV="1">
            <a:off x="1532361" y="3476984"/>
            <a:ext cx="785162" cy="527074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Скругленная соединительная линия 96">
            <a:extLst>
              <a:ext uri="{FF2B5EF4-FFF2-40B4-BE49-F238E27FC236}">
                <a16:creationId xmlns:a16="http://schemas.microsoft.com/office/drawing/2014/main" id="{F02EE561-1D95-9E25-52CA-D913F345FEF0}"/>
              </a:ext>
            </a:extLst>
          </p:cNvPr>
          <p:cNvCxnSpPr/>
          <p:nvPr/>
        </p:nvCxnSpPr>
        <p:spPr>
          <a:xfrm flipV="1">
            <a:off x="1532361" y="3476984"/>
            <a:ext cx="785162" cy="1073630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F56FAFB-50F8-846C-F9C9-5E835D3598E6}"/>
              </a:ext>
            </a:extLst>
          </p:cNvPr>
          <p:cNvSpPr/>
          <p:nvPr/>
        </p:nvSpPr>
        <p:spPr>
          <a:xfrm>
            <a:off x="2290164" y="1764553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3BF8C7B1-365B-889C-3283-93658F6119D1}"/>
              </a:ext>
            </a:extLst>
          </p:cNvPr>
          <p:cNvSpPr/>
          <p:nvPr/>
        </p:nvSpPr>
        <p:spPr>
          <a:xfrm>
            <a:off x="5615933" y="1758447"/>
            <a:ext cx="817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Storage</a:t>
            </a:r>
            <a:endParaRPr lang="ru-RU" sz="1600" dirty="0">
              <a:solidFill>
                <a:srgbClr val="3B81F4"/>
              </a:solidFill>
            </a:endParaRPr>
          </a:p>
        </p:txBody>
      </p:sp>
      <p:sp>
        <p:nvSpPr>
          <p:cNvPr id="100" name="Скругленный прямоугольник 99">
            <a:extLst>
              <a:ext uri="{FF2B5EF4-FFF2-40B4-BE49-F238E27FC236}">
                <a16:creationId xmlns:a16="http://schemas.microsoft.com/office/drawing/2014/main" id="{7D8CF84F-2B13-6E17-8327-343046BF1E89}"/>
              </a:ext>
            </a:extLst>
          </p:cNvPr>
          <p:cNvSpPr/>
          <p:nvPr/>
        </p:nvSpPr>
        <p:spPr>
          <a:xfrm>
            <a:off x="8934377" y="2552287"/>
            <a:ext cx="903305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DM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</a:t>
            </a:r>
            <a:r>
              <a:rPr lang="en-US" sz="1200" dirty="0" err="1">
                <a:solidFill>
                  <a:srgbClr val="3B81F4"/>
                </a:solidFill>
              </a:rPr>
              <a:t>ymatrix</a:t>
            </a:r>
            <a:r>
              <a:rPr lang="en-US" sz="1200" dirty="0">
                <a:solidFill>
                  <a:srgbClr val="3B81F4"/>
                </a:solidFill>
              </a:rPr>
              <a:t>)</a:t>
            </a:r>
            <a:endParaRPr lang="ru-RU" sz="1200" dirty="0">
              <a:solidFill>
                <a:srgbClr val="3B81F4"/>
              </a:solidFill>
            </a:endParaRPr>
          </a:p>
        </p:txBody>
      </p:sp>
      <p:sp>
        <p:nvSpPr>
          <p:cNvPr id="101" name="Скругленный прямоугольник 100">
            <a:extLst>
              <a:ext uri="{FF2B5EF4-FFF2-40B4-BE49-F238E27FC236}">
                <a16:creationId xmlns:a16="http://schemas.microsoft.com/office/drawing/2014/main" id="{86264299-2281-325E-AFAF-F5A85C80B329}"/>
              </a:ext>
            </a:extLst>
          </p:cNvPr>
          <p:cNvSpPr/>
          <p:nvPr/>
        </p:nvSpPr>
        <p:spPr>
          <a:xfrm>
            <a:off x="7258154" y="2554458"/>
            <a:ext cx="896863" cy="7129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ETL</a:t>
            </a:r>
            <a:br>
              <a:rPr lang="en-US" sz="1200" dirty="0">
                <a:solidFill>
                  <a:srgbClr val="3B81F4"/>
                </a:solidFill>
              </a:rPr>
            </a:br>
            <a:r>
              <a:rPr lang="en-US" sz="1200" dirty="0">
                <a:solidFill>
                  <a:srgbClr val="3B81F4"/>
                </a:solidFill>
              </a:rPr>
              <a:t>(airflow)</a:t>
            </a:r>
            <a:endParaRPr lang="ru-RU" sz="1200" dirty="0">
              <a:solidFill>
                <a:srgbClr val="3B81F4"/>
              </a:solidFill>
            </a:endParaRPr>
          </a:p>
        </p:txBody>
      </p:sp>
      <p:cxnSp>
        <p:nvCxnSpPr>
          <p:cNvPr id="102" name="Скругленная соединительная линия 101">
            <a:extLst>
              <a:ext uri="{FF2B5EF4-FFF2-40B4-BE49-F238E27FC236}">
                <a16:creationId xmlns:a16="http://schemas.microsoft.com/office/drawing/2014/main" id="{D4EB075F-A316-56B7-D98D-3D0EA6F0D300}"/>
              </a:ext>
            </a:extLst>
          </p:cNvPr>
          <p:cNvCxnSpPr/>
          <p:nvPr/>
        </p:nvCxnSpPr>
        <p:spPr>
          <a:xfrm flipV="1">
            <a:off x="6669954" y="2910946"/>
            <a:ext cx="588200" cy="971169"/>
          </a:xfrm>
          <a:prstGeom prst="curved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Скругленная соединительная линия 102">
            <a:extLst>
              <a:ext uri="{FF2B5EF4-FFF2-40B4-BE49-F238E27FC236}">
                <a16:creationId xmlns:a16="http://schemas.microsoft.com/office/drawing/2014/main" id="{F64602F1-6084-936E-5F7D-194CB36CDE67}"/>
              </a:ext>
            </a:extLst>
          </p:cNvPr>
          <p:cNvCxnSpPr/>
          <p:nvPr/>
        </p:nvCxnSpPr>
        <p:spPr>
          <a:xfrm flipV="1">
            <a:off x="8155017" y="2908775"/>
            <a:ext cx="779360" cy="21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Скругленный прямоугольник 104">
            <a:extLst>
              <a:ext uri="{FF2B5EF4-FFF2-40B4-BE49-F238E27FC236}">
                <a16:creationId xmlns:a16="http://schemas.microsoft.com/office/drawing/2014/main" id="{8DBF7B2E-B7E2-98E5-7423-171DEFDB1324}"/>
              </a:ext>
            </a:extLst>
          </p:cNvPr>
          <p:cNvSpPr/>
          <p:nvPr/>
        </p:nvSpPr>
        <p:spPr>
          <a:xfrm>
            <a:off x="10537329" y="4603333"/>
            <a:ext cx="1153167" cy="6156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3B81F4"/>
                </a:solidFill>
              </a:rPr>
              <a:t>Другие потребители</a:t>
            </a:r>
          </a:p>
        </p:txBody>
      </p:sp>
      <p:sp>
        <p:nvSpPr>
          <p:cNvPr id="104" name="Скругленный прямоугольник 103">
            <a:extLst>
              <a:ext uri="{FF2B5EF4-FFF2-40B4-BE49-F238E27FC236}">
                <a16:creationId xmlns:a16="http://schemas.microsoft.com/office/drawing/2014/main" id="{414AF2EE-97E7-E947-4B1F-876A4FB352BB}"/>
              </a:ext>
            </a:extLst>
          </p:cNvPr>
          <p:cNvSpPr/>
          <p:nvPr/>
        </p:nvSpPr>
        <p:spPr>
          <a:xfrm>
            <a:off x="10537329" y="3880669"/>
            <a:ext cx="1153167" cy="61568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B81F4"/>
                </a:solidFill>
              </a:rPr>
              <a:t>Sandbox</a:t>
            </a:r>
            <a:endParaRPr lang="ru-RU" sz="1200" dirty="0">
              <a:solidFill>
                <a:srgbClr val="3B81F4"/>
              </a:solidFill>
            </a:endParaRPr>
          </a:p>
        </p:txBody>
      </p:sp>
      <p:cxnSp>
        <p:nvCxnSpPr>
          <p:cNvPr id="107" name="Скругленная соединительная линия 106">
            <a:extLst>
              <a:ext uri="{FF2B5EF4-FFF2-40B4-BE49-F238E27FC236}">
                <a16:creationId xmlns:a16="http://schemas.microsoft.com/office/drawing/2014/main" id="{1E7126AF-08D0-145D-B4DC-522EA5C75B99}"/>
              </a:ext>
            </a:extLst>
          </p:cNvPr>
          <p:cNvCxnSpPr/>
          <p:nvPr/>
        </p:nvCxnSpPr>
        <p:spPr>
          <a:xfrm flipV="1">
            <a:off x="6669954" y="3873499"/>
            <a:ext cx="3741239" cy="861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FEDF4397-1D05-0B41-F671-786BB0BCB4E2}"/>
              </a:ext>
            </a:extLst>
          </p:cNvPr>
          <p:cNvSpPr/>
          <p:nvPr/>
        </p:nvSpPr>
        <p:spPr>
          <a:xfrm>
            <a:off x="6987476" y="1765974"/>
            <a:ext cx="1453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B81F4"/>
                </a:solidFill>
              </a:rPr>
              <a:t>Transformation</a:t>
            </a:r>
            <a:endParaRPr lang="ru-RU" sz="1600" dirty="0">
              <a:solidFill>
                <a:srgbClr val="3B81F4"/>
              </a:solidFill>
            </a:endParaRPr>
          </a:p>
        </p:txBody>
      </p:sp>
      <p:graphicFrame>
        <p:nvGraphicFramePr>
          <p:cNvPr id="109" name="Таблица 108">
            <a:extLst>
              <a:ext uri="{FF2B5EF4-FFF2-40B4-BE49-F238E27FC236}">
                <a16:creationId xmlns:a16="http://schemas.microsoft.com/office/drawing/2014/main" id="{306B8C8B-135E-6034-C4E2-732857DC8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5183"/>
              </p:ext>
            </p:extLst>
          </p:nvPr>
        </p:nvGraphicFramePr>
        <p:xfrm>
          <a:off x="300815" y="5487155"/>
          <a:ext cx="11590369" cy="602193"/>
        </p:xfrm>
        <a:graphic>
          <a:graphicData uri="http://schemas.openxmlformats.org/drawingml/2006/table">
            <a:tbl>
              <a:tblPr/>
              <a:tblGrid>
                <a:gridCol w="1655767">
                  <a:extLst>
                    <a:ext uri="{9D8B030D-6E8A-4147-A177-3AD203B41FA5}">
                      <a16:colId xmlns:a16="http://schemas.microsoft.com/office/drawing/2014/main" val="3408272583"/>
                    </a:ext>
                  </a:extLst>
                </a:gridCol>
                <a:gridCol w="9934602">
                  <a:extLst>
                    <a:ext uri="{9D8B030D-6E8A-4147-A177-3AD203B41FA5}">
                      <a16:colId xmlns:a16="http://schemas.microsoft.com/office/drawing/2014/main" val="2720750624"/>
                    </a:ext>
                  </a:extLst>
                </a:gridCol>
              </a:tblGrid>
              <a:tr h="602193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683003"/>
                  </a:ext>
                </a:extLst>
              </a:tr>
            </a:tbl>
          </a:graphicData>
        </a:graphic>
      </p:graphicFrame>
      <p:sp>
        <p:nvSpPr>
          <p:cNvPr id="110" name="Скругленный прямоугольник 109">
            <a:extLst>
              <a:ext uri="{FF2B5EF4-FFF2-40B4-BE49-F238E27FC236}">
                <a16:creationId xmlns:a16="http://schemas.microsoft.com/office/drawing/2014/main" id="{32B22018-FD29-F4DC-A22A-A7567D6F98B8}"/>
              </a:ext>
            </a:extLst>
          </p:cNvPr>
          <p:cNvSpPr/>
          <p:nvPr/>
        </p:nvSpPr>
        <p:spPr>
          <a:xfrm>
            <a:off x="653274" y="5590658"/>
            <a:ext cx="918555" cy="408623"/>
          </a:xfrm>
          <a:prstGeom prst="round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3B81F4"/>
                </a:solidFill>
              </a:rPr>
              <a:t>Archive</a:t>
            </a:r>
            <a:endParaRPr lang="ru-RU" dirty="0">
              <a:solidFill>
                <a:srgbClr val="3B81F4"/>
              </a:solidFill>
            </a:endParaRPr>
          </a:p>
        </p:txBody>
      </p:sp>
      <p:sp>
        <p:nvSpPr>
          <p:cNvPr id="111" name="Скругленный прямоугольник 110">
            <a:extLst>
              <a:ext uri="{FF2B5EF4-FFF2-40B4-BE49-F238E27FC236}">
                <a16:creationId xmlns:a16="http://schemas.microsoft.com/office/drawing/2014/main" id="{67B49EEB-4EBD-7E7D-8BFB-7ED9010ACD5E}"/>
              </a:ext>
            </a:extLst>
          </p:cNvPr>
          <p:cNvSpPr/>
          <p:nvPr/>
        </p:nvSpPr>
        <p:spPr>
          <a:xfrm>
            <a:off x="4414912" y="5604029"/>
            <a:ext cx="3582668" cy="4047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B81F4"/>
                </a:solidFill>
              </a:rPr>
              <a:t>Hadoop/s3</a:t>
            </a:r>
            <a:endParaRPr lang="ru-RU" dirty="0">
              <a:solidFill>
                <a:srgbClr val="3B81F4"/>
              </a:solidFill>
            </a:endParaRPr>
          </a:p>
        </p:txBody>
      </p:sp>
      <p:cxnSp>
        <p:nvCxnSpPr>
          <p:cNvPr id="112" name="Скругленная соединительная линия 111">
            <a:extLst>
              <a:ext uri="{FF2B5EF4-FFF2-40B4-BE49-F238E27FC236}">
                <a16:creationId xmlns:a16="http://schemas.microsoft.com/office/drawing/2014/main" id="{877FD0D7-AF34-951F-E44C-B38BDD4512DB}"/>
              </a:ext>
            </a:extLst>
          </p:cNvPr>
          <p:cNvCxnSpPr/>
          <p:nvPr/>
        </p:nvCxnSpPr>
        <p:spPr>
          <a:xfrm rot="16200000" flipH="1">
            <a:off x="2603977" y="3995449"/>
            <a:ext cx="1972912" cy="1648957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Скругленная соединительная линия 112">
            <a:extLst>
              <a:ext uri="{FF2B5EF4-FFF2-40B4-BE49-F238E27FC236}">
                <a16:creationId xmlns:a16="http://schemas.microsoft.com/office/drawing/2014/main" id="{F53CB5EC-E06C-AF1B-E396-B8E24A99B027}"/>
              </a:ext>
            </a:extLst>
          </p:cNvPr>
          <p:cNvCxnSpPr/>
          <p:nvPr/>
        </p:nvCxnSpPr>
        <p:spPr>
          <a:xfrm rot="5400000">
            <a:off x="5529561" y="4915288"/>
            <a:ext cx="1365426" cy="1205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Скругленная соединительная линия 113">
            <a:extLst>
              <a:ext uri="{FF2B5EF4-FFF2-40B4-BE49-F238E27FC236}">
                <a16:creationId xmlns:a16="http://schemas.microsoft.com/office/drawing/2014/main" id="{20DE008B-6B63-A8AB-5126-5DF199835C1E}"/>
              </a:ext>
            </a:extLst>
          </p:cNvPr>
          <p:cNvCxnSpPr/>
          <p:nvPr/>
        </p:nvCxnSpPr>
        <p:spPr>
          <a:xfrm rot="5400000">
            <a:off x="7421245" y="3841598"/>
            <a:ext cx="2541121" cy="1388450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0" name="Image 1" descr="preencoded.png"/>
          <p:cNvPicPr>
            <a:picLocks noChangeAspect="1"/>
          </p:cNvPicPr>
          <p:nvPr/>
        </p:nvPicPr>
        <p:blipFill>
          <a:blip r:embed="rId3"/>
          <a:srcRect l="-20" r="-20"/>
          <a:stretch/>
        </p:blipFill>
        <p:spPr>
          <a:xfrm>
            <a:off x="481897" y="6014534"/>
            <a:ext cx="3759098" cy="761695"/>
          </a:xfrm>
          <a:prstGeom prst="rect">
            <a:avLst/>
          </a:prstGeom>
        </p:spPr>
      </p:pic>
      <p:sp>
        <p:nvSpPr>
          <p:cNvPr id="81" name="Shape 77"/>
          <p:cNvSpPr/>
          <p:nvPr/>
        </p:nvSpPr>
        <p:spPr>
          <a:xfrm>
            <a:off x="682151" y="6190099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2" name="Text 78"/>
          <p:cNvSpPr txBox="1"/>
          <p:nvPr/>
        </p:nvSpPr>
        <p:spPr>
          <a:xfrm>
            <a:off x="910751" y="6174554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 блок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1655072" y="6190099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4" name="Text 80"/>
          <p:cNvSpPr txBox="1"/>
          <p:nvPr/>
        </p:nvSpPr>
        <p:spPr>
          <a:xfrm>
            <a:off x="1883672" y="6174554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 + ИТ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682151" y="6448874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6" name="Text 82"/>
          <p:cNvSpPr txBox="1"/>
          <p:nvPr/>
        </p:nvSpPr>
        <p:spPr>
          <a:xfrm>
            <a:off x="910751" y="6433329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 в Хранилище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2624336" y="6468076"/>
            <a:ext cx="1143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ysDot"/>
          </a:ln>
        </p:spPr>
        <p:txBody>
          <a:bodyPr/>
          <a:lstStyle/>
          <a:p>
            <a:endParaRPr lang="ru-KZ"/>
          </a:p>
        </p:txBody>
      </p:sp>
      <p:sp>
        <p:nvSpPr>
          <p:cNvPr id="88" name="Text 84"/>
          <p:cNvSpPr txBox="1"/>
          <p:nvPr/>
        </p:nvSpPr>
        <p:spPr>
          <a:xfrm>
            <a:off x="2833734" y="6433329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Вехи проекта</a:t>
            </a:r>
            <a:endParaRPr lang="en-US" sz="900" dirty="0"/>
          </a:p>
        </p:txBody>
      </p:sp>
      <p:pic>
        <p:nvPicPr>
          <p:cNvPr id="89" name="Image 2" descr="preencoded.png"/>
          <p:cNvPicPr>
            <a:picLocks noChangeAspect="1"/>
          </p:cNvPicPr>
          <p:nvPr/>
        </p:nvPicPr>
        <p:blipFill>
          <a:blip r:embed="rId4"/>
          <a:srcRect l="-22" r="-22"/>
          <a:stretch/>
        </p:blipFill>
        <p:spPr>
          <a:xfrm>
            <a:off x="4441249" y="6014534"/>
            <a:ext cx="7366406" cy="761695"/>
          </a:xfrm>
          <a:prstGeom prst="rect">
            <a:avLst/>
          </a:prstGeom>
        </p:spPr>
      </p:pic>
      <p:sp>
        <p:nvSpPr>
          <p:cNvPr id="90" name="Text 85"/>
          <p:cNvSpPr txBox="1"/>
          <p:nvPr/>
        </p:nvSpPr>
        <p:spPr>
          <a:xfrm>
            <a:off x="4640588" y="6109632"/>
            <a:ext cx="7086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</a:t>
            </a:r>
            <a:r>
              <a:rPr lang="ru-RU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Начало</a:t>
            </a: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параллельной поддержки</a:t>
            </a: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Новой платформы и Oracle (дек 2025)</a:t>
            </a:r>
            <a:endParaRPr lang="en-US" sz="900" dirty="0"/>
          </a:p>
        </p:txBody>
      </p:sp>
      <p:sp>
        <p:nvSpPr>
          <p:cNvPr id="91" name="Text 86"/>
          <p:cNvSpPr txBox="1"/>
          <p:nvPr/>
        </p:nvSpPr>
        <p:spPr>
          <a:xfrm>
            <a:off x="4640588" y="6319029"/>
            <a:ext cx="7086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</a:t>
            </a:r>
            <a:r>
              <a:rPr lang="en-US" sz="9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Остановка</a:t>
            </a: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новых источников на Oracle</a:t>
            </a: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интеграция новых на Ymatrix (фев 2026)</a:t>
            </a:r>
            <a:endParaRPr lang="en-US" sz="900" dirty="0"/>
          </a:p>
        </p:txBody>
      </p:sp>
      <p:sp>
        <p:nvSpPr>
          <p:cNvPr id="92" name="Text 87"/>
          <p:cNvSpPr txBox="1"/>
          <p:nvPr/>
        </p:nvSpPr>
        <p:spPr>
          <a:xfrm>
            <a:off x="4640588" y="6529341"/>
            <a:ext cx="7086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</a:t>
            </a:r>
            <a:r>
              <a:rPr lang="ru-RU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Окончательный</a:t>
            </a: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запуск и поддержка</a:t>
            </a: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Новой платформы (мар 2027)</a:t>
            </a:r>
            <a:endParaRPr lang="en-US" sz="900" dirty="0"/>
          </a:p>
        </p:txBody>
      </p:sp>
      <p:pic>
        <p:nvPicPr>
          <p:cNvPr id="93" name="Image 3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823003"/>
            <a:ext cx="12191695" cy="45719"/>
          </a:xfrm>
          <a:prstGeom prst="rect">
            <a:avLst/>
          </a:prstGeom>
        </p:spPr>
      </p:pic>
      <p:pic>
        <p:nvPicPr>
          <p:cNvPr id="114" name="Image 4" descr="preencoded.png"/>
          <p:cNvPicPr>
            <a:picLocks noChangeAspect="1"/>
          </p:cNvPicPr>
          <p:nvPr/>
        </p:nvPicPr>
        <p:blipFill>
          <a:blip r:embed="rId6"/>
          <a:srcRect l="-2838" r="-2838"/>
          <a:stretch/>
        </p:blipFill>
        <p:spPr>
          <a:xfrm>
            <a:off x="609905" y="392278"/>
            <a:ext cx="123444" cy="133502"/>
          </a:xfrm>
          <a:prstGeom prst="rect">
            <a:avLst/>
          </a:prstGeom>
        </p:spPr>
      </p:pic>
      <p:sp>
        <p:nvSpPr>
          <p:cNvPr id="115" name="Text 108"/>
          <p:cNvSpPr txBox="1"/>
          <p:nvPr/>
        </p:nvSpPr>
        <p:spPr>
          <a:xfrm>
            <a:off x="457200" y="689458"/>
            <a:ext cx="5000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реализации проекта</a:t>
            </a:r>
            <a:endParaRPr lang="en-US" sz="2700" dirty="0"/>
          </a:p>
        </p:txBody>
      </p:sp>
      <p:sp>
        <p:nvSpPr>
          <p:cNvPr id="116" name="Text 109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117" name="Shape 110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8" name="Text 111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119" name="Shape 112"/>
          <p:cNvSpPr/>
          <p:nvPr/>
        </p:nvSpPr>
        <p:spPr>
          <a:xfrm>
            <a:off x="457200" y="304495"/>
            <a:ext cx="914400" cy="314554"/>
          </a:xfrm>
          <a:prstGeom prst="roundRect">
            <a:avLst>
              <a:gd name="adj" fmla="val 29069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0" name="Text 113"/>
          <p:cNvSpPr txBox="1"/>
          <p:nvPr/>
        </p:nvSpPr>
        <p:spPr>
          <a:xfrm>
            <a:off x="809244" y="304495"/>
            <a:ext cx="6199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УРХД </a:t>
            </a:r>
            <a:endParaRPr lang="en-US" sz="1000" dirty="0"/>
          </a:p>
        </p:txBody>
      </p:sp>
      <p:graphicFrame>
        <p:nvGraphicFramePr>
          <p:cNvPr id="130" name="Table 2">
            <a:extLst>
              <a:ext uri="{FF2B5EF4-FFF2-40B4-BE49-F238E27FC236}">
                <a16:creationId xmlns:a16="http://schemas.microsoft.com/office/drawing/2014/main" id="{DFF1B377-33C0-A186-373F-388DFC07A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51796"/>
              </p:ext>
            </p:extLst>
          </p:nvPr>
        </p:nvGraphicFramePr>
        <p:xfrm>
          <a:off x="534261" y="1411527"/>
          <a:ext cx="11123477" cy="4551116"/>
        </p:xfrm>
        <a:graphic>
          <a:graphicData uri="http://schemas.openxmlformats.org/drawingml/2006/table">
            <a:tbl>
              <a:tblPr firstRow="1" bandRow="1"/>
              <a:tblGrid>
                <a:gridCol w="462742">
                  <a:extLst>
                    <a:ext uri="{9D8B030D-6E8A-4147-A177-3AD203B41FA5}">
                      <a16:colId xmlns:a16="http://schemas.microsoft.com/office/drawing/2014/main" val="745651107"/>
                    </a:ext>
                  </a:extLst>
                </a:gridCol>
                <a:gridCol w="462742">
                  <a:extLst>
                    <a:ext uri="{9D8B030D-6E8A-4147-A177-3AD203B41FA5}">
                      <a16:colId xmlns:a16="http://schemas.microsoft.com/office/drawing/2014/main" val="3203644497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3839570682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436924813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3893106002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896848035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551282697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918172565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055065648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454024556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3603493005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3467692185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2417933110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996688288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235123264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694384775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916501250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2135112102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687201354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2049883281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2998651199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2878034428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1465089206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4283252951"/>
                    </a:ext>
                  </a:extLst>
                </a:gridCol>
                <a:gridCol w="443391">
                  <a:extLst>
                    <a:ext uri="{9D8B030D-6E8A-4147-A177-3AD203B41FA5}">
                      <a16:colId xmlns:a16="http://schemas.microsoft.com/office/drawing/2014/main" val="3913144244"/>
                    </a:ext>
                  </a:extLst>
                </a:gridCol>
              </a:tblGrid>
              <a:tr h="245675">
                <a:tc gridSpan="7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2025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2026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2027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08995"/>
                  </a:ext>
                </a:extLst>
              </a:tr>
              <a:tr h="192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июн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июл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авг.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сен.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окт.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ноя.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дек.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янв.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фев.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мар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апр.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май.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июн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июл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авг.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сен.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окт.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ноя.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дек.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янв.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фев.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мар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апр.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май.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июн</a:t>
                      </a: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15962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58687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579913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725788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91408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816345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02013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537522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accent3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41191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561401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209273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8724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2616"/>
                  </a:ext>
                </a:extLst>
              </a:tr>
              <a:tr h="312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6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152558"/>
                  </a:ext>
                </a:extLst>
              </a:tr>
            </a:tbl>
          </a:graphicData>
        </a:graphic>
      </p:graphicFrame>
      <p:sp>
        <p:nvSpPr>
          <p:cNvPr id="131" name="Rectangle 4">
            <a:extLst>
              <a:ext uri="{FF2B5EF4-FFF2-40B4-BE49-F238E27FC236}">
                <a16:creationId xmlns:a16="http://schemas.microsoft.com/office/drawing/2014/main" id="{B2297A8C-8487-F28C-DBA9-E45C5383A806}"/>
              </a:ext>
            </a:extLst>
          </p:cNvPr>
          <p:cNvSpPr/>
          <p:nvPr/>
        </p:nvSpPr>
        <p:spPr>
          <a:xfrm>
            <a:off x="1002317" y="2245650"/>
            <a:ext cx="1784790" cy="5429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Фреймворк загрузки</a:t>
            </a:r>
          </a:p>
        </p:txBody>
      </p:sp>
      <p:sp>
        <p:nvSpPr>
          <p:cNvPr id="132" name="Rectangle 4">
            <a:extLst>
              <a:ext uri="{FF2B5EF4-FFF2-40B4-BE49-F238E27FC236}">
                <a16:creationId xmlns:a16="http://schemas.microsoft.com/office/drawing/2014/main" id="{2D7D8501-F070-623C-4120-2E486D9C7E54}"/>
              </a:ext>
            </a:extLst>
          </p:cNvPr>
          <p:cNvSpPr/>
          <p:nvPr/>
        </p:nvSpPr>
        <p:spPr>
          <a:xfrm>
            <a:off x="999776" y="2871104"/>
            <a:ext cx="461169" cy="6051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Подготовка кластера</a:t>
            </a:r>
          </a:p>
        </p:txBody>
      </p:sp>
      <p:sp>
        <p:nvSpPr>
          <p:cNvPr id="133" name="Rectangle 4">
            <a:extLst>
              <a:ext uri="{FF2B5EF4-FFF2-40B4-BE49-F238E27FC236}">
                <a16:creationId xmlns:a16="http://schemas.microsoft.com/office/drawing/2014/main" id="{1303C2E5-1132-785B-6FC6-E67DC6D047E0}"/>
              </a:ext>
            </a:extLst>
          </p:cNvPr>
          <p:cNvSpPr/>
          <p:nvPr/>
        </p:nvSpPr>
        <p:spPr>
          <a:xfrm>
            <a:off x="2794837" y="2540834"/>
            <a:ext cx="441109" cy="6880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Репликация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DDS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4" name="Rectangle 4">
            <a:extLst>
              <a:ext uri="{FF2B5EF4-FFF2-40B4-BE49-F238E27FC236}">
                <a16:creationId xmlns:a16="http://schemas.microsoft.com/office/drawing/2014/main" id="{500CC370-5E8D-A9B2-488F-D776269D3E19}"/>
              </a:ext>
            </a:extLst>
          </p:cNvPr>
          <p:cNvSpPr/>
          <p:nvPr/>
        </p:nvSpPr>
        <p:spPr>
          <a:xfrm>
            <a:off x="3243677" y="3173663"/>
            <a:ext cx="429798" cy="55245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Сверка данных</a:t>
            </a:r>
          </a:p>
        </p:txBody>
      </p:sp>
      <p:sp>
        <p:nvSpPr>
          <p:cNvPr id="135" name="Rectangle 4">
            <a:extLst>
              <a:ext uri="{FF2B5EF4-FFF2-40B4-BE49-F238E27FC236}">
                <a16:creationId xmlns:a16="http://schemas.microsoft.com/office/drawing/2014/main" id="{4D02DC29-BC7A-32B2-0227-39FC7E099EE6}"/>
              </a:ext>
            </a:extLst>
          </p:cNvPr>
          <p:cNvSpPr/>
          <p:nvPr/>
        </p:nvSpPr>
        <p:spPr>
          <a:xfrm>
            <a:off x="4581408" y="2871104"/>
            <a:ext cx="5287805" cy="876299"/>
          </a:xfrm>
          <a:prstGeom prst="roundRect">
            <a:avLst/>
          </a:prstGeom>
          <a:solidFill>
            <a:srgbClr val="F36D5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Тестирование песочниц (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CDS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витрин (ДУД)</a:t>
            </a:r>
            <a:b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отчетов (все)</a:t>
            </a:r>
          </a:p>
        </p:txBody>
      </p:sp>
      <p:sp>
        <p:nvSpPr>
          <p:cNvPr id="136" name="Rectangle 4">
            <a:extLst>
              <a:ext uri="{FF2B5EF4-FFF2-40B4-BE49-F238E27FC236}">
                <a16:creationId xmlns:a16="http://schemas.microsoft.com/office/drawing/2014/main" id="{CF2C05F0-D65C-3FC0-182D-2C2DC1B975F8}"/>
              </a:ext>
            </a:extLst>
          </p:cNvPr>
          <p:cNvSpPr/>
          <p:nvPr/>
        </p:nvSpPr>
        <p:spPr>
          <a:xfrm>
            <a:off x="4559819" y="1932231"/>
            <a:ext cx="5327402" cy="247650"/>
          </a:xfrm>
          <a:prstGeom prst="roundRect">
            <a:avLst/>
          </a:prstGeom>
          <a:solidFill>
            <a:srgbClr val="05A65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Переключение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ETL 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Calibri" panose="020F0502020204030204" pitchFamily="34" charset="0"/>
              </a:rPr>
              <a:t>процессов на новую платформу</a:t>
            </a:r>
          </a:p>
        </p:txBody>
      </p:sp>
      <p:sp>
        <p:nvSpPr>
          <p:cNvPr id="137" name="Rectangle 4">
            <a:extLst>
              <a:ext uri="{FF2B5EF4-FFF2-40B4-BE49-F238E27FC236}">
                <a16:creationId xmlns:a16="http://schemas.microsoft.com/office/drawing/2014/main" id="{DB620ABC-8568-CC05-86E9-629B6F95B99F}"/>
              </a:ext>
            </a:extLst>
          </p:cNvPr>
          <p:cNvSpPr/>
          <p:nvPr/>
        </p:nvSpPr>
        <p:spPr>
          <a:xfrm>
            <a:off x="9887221" y="2576760"/>
            <a:ext cx="1343025" cy="516616"/>
          </a:xfrm>
          <a:prstGeom prst="roundRect">
            <a:avLst/>
          </a:prstGeom>
          <a:solidFill>
            <a:srgbClr val="F0A62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k-KZ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Open Sans"/>
                <a:cs typeface="Open Sans"/>
              </a:rPr>
              <a:t>Консервирование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Open Sans"/>
                <a:cs typeface="Open Sans"/>
              </a:rPr>
              <a:t>DDS 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Open Sans"/>
                <a:cs typeface="Open Sans"/>
              </a:rPr>
              <a:t>на платформе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Open Sans"/>
                <a:cs typeface="Open Sans"/>
              </a:rPr>
              <a:t>Oracle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Open Sans"/>
              <a:cs typeface="Open Sans"/>
            </a:endParaRPr>
          </a:p>
        </p:txBody>
      </p:sp>
      <p:sp>
        <p:nvSpPr>
          <p:cNvPr id="138" name="Rectangle 4">
            <a:extLst>
              <a:ext uri="{FF2B5EF4-FFF2-40B4-BE49-F238E27FC236}">
                <a16:creationId xmlns:a16="http://schemas.microsoft.com/office/drawing/2014/main" id="{279CDADE-4FB9-BCA5-BE54-A89DF113D82E}"/>
              </a:ext>
            </a:extLst>
          </p:cNvPr>
          <p:cNvSpPr/>
          <p:nvPr/>
        </p:nvSpPr>
        <p:spPr>
          <a:xfrm>
            <a:off x="8544196" y="3873587"/>
            <a:ext cx="1343025" cy="516616"/>
          </a:xfrm>
          <a:prstGeom prst="roundRect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Open Sans"/>
                <a:cs typeface="Open Sans"/>
              </a:rPr>
              <a:t>Cold data tiered storage Hadoop/S3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Open Sans"/>
              <a:cs typeface="Open Sans"/>
            </a:endParaRPr>
          </a:p>
        </p:txBody>
      </p:sp>
      <p:grpSp>
        <p:nvGrpSpPr>
          <p:cNvPr id="139" name="Group 52">
            <a:extLst>
              <a:ext uri="{FF2B5EF4-FFF2-40B4-BE49-F238E27FC236}">
                <a16:creationId xmlns:a16="http://schemas.microsoft.com/office/drawing/2014/main" id="{08AD1C57-46FE-6131-2A26-9F6BAD04838E}"/>
              </a:ext>
            </a:extLst>
          </p:cNvPr>
          <p:cNvGrpSpPr/>
          <p:nvPr/>
        </p:nvGrpSpPr>
        <p:grpSpPr>
          <a:xfrm>
            <a:off x="3679823" y="1138498"/>
            <a:ext cx="340099" cy="4824145"/>
            <a:chOff x="5331873" y="127357"/>
            <a:chExt cx="340099" cy="5597491"/>
          </a:xfrm>
        </p:grpSpPr>
        <p:sp>
          <p:nvSpPr>
            <p:cNvPr id="140" name="Rectangle 82">
              <a:extLst>
                <a:ext uri="{FF2B5EF4-FFF2-40B4-BE49-F238E27FC236}">
                  <a16:creationId xmlns:a16="http://schemas.microsoft.com/office/drawing/2014/main" id="{B6924655-5538-39AF-C440-A1E4E83284AD}"/>
                </a:ext>
              </a:extLst>
            </p:cNvPr>
            <p:cNvSpPr/>
            <p:nvPr/>
          </p:nvSpPr>
          <p:spPr>
            <a:xfrm>
              <a:off x="5331873" y="133873"/>
              <a:ext cx="340099" cy="228600"/>
            </a:xfrm>
            <a:prstGeom prst="rect">
              <a:avLst/>
            </a:prstGeom>
            <a:gradFill>
              <a:gsLst>
                <a:gs pos="0">
                  <a:srgbClr val="FFC000">
                    <a:lumMod val="5000"/>
                    <a:lumOff val="95000"/>
                  </a:srgbClr>
                </a:gs>
                <a:gs pos="83000">
                  <a:srgbClr val="92D050"/>
                </a:gs>
                <a:gs pos="100000">
                  <a:srgbClr val="92D050"/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F595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1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4F595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41" name="Straight Connector 39">
              <a:extLst>
                <a:ext uri="{FF2B5EF4-FFF2-40B4-BE49-F238E27FC236}">
                  <a16:creationId xmlns:a16="http://schemas.microsoft.com/office/drawing/2014/main" id="{90E3BAB7-85DF-0506-1227-DBC7940A2401}"/>
                </a:ext>
              </a:extLst>
            </p:cNvPr>
            <p:cNvCxnSpPr/>
            <p:nvPr/>
          </p:nvCxnSpPr>
          <p:spPr>
            <a:xfrm>
              <a:off x="5331873" y="127357"/>
              <a:ext cx="0" cy="5597491"/>
            </a:xfrm>
            <a:prstGeom prst="line">
              <a:avLst/>
            </a:prstGeom>
            <a:noFill/>
            <a:ln w="28575" cap="flat" cmpd="sng" algn="ctr">
              <a:solidFill>
                <a:srgbClr val="F0A622">
                  <a:alpha val="60000"/>
                </a:srgbClr>
              </a:solidFill>
              <a:prstDash val="sysDot"/>
            </a:ln>
            <a:effectLst/>
          </p:spPr>
        </p:cxnSp>
      </p:grpSp>
      <p:grpSp>
        <p:nvGrpSpPr>
          <p:cNvPr id="142" name="Group 52">
            <a:extLst>
              <a:ext uri="{FF2B5EF4-FFF2-40B4-BE49-F238E27FC236}">
                <a16:creationId xmlns:a16="http://schemas.microsoft.com/office/drawing/2014/main" id="{D9DC1877-0D0B-545C-08CC-ACD978287F9D}"/>
              </a:ext>
            </a:extLst>
          </p:cNvPr>
          <p:cNvGrpSpPr/>
          <p:nvPr/>
        </p:nvGrpSpPr>
        <p:grpSpPr>
          <a:xfrm>
            <a:off x="4558872" y="1138497"/>
            <a:ext cx="340098" cy="4824145"/>
            <a:chOff x="5331873" y="127357"/>
            <a:chExt cx="340098" cy="5597491"/>
          </a:xfrm>
        </p:grpSpPr>
        <p:sp>
          <p:nvSpPr>
            <p:cNvPr id="143" name="Rectangle 82">
              <a:extLst>
                <a:ext uri="{FF2B5EF4-FFF2-40B4-BE49-F238E27FC236}">
                  <a16:creationId xmlns:a16="http://schemas.microsoft.com/office/drawing/2014/main" id="{AE862B76-FC13-38C7-1854-7DA794D84926}"/>
                </a:ext>
              </a:extLst>
            </p:cNvPr>
            <p:cNvSpPr/>
            <p:nvPr/>
          </p:nvSpPr>
          <p:spPr>
            <a:xfrm>
              <a:off x="5331873" y="133873"/>
              <a:ext cx="340098" cy="228600"/>
            </a:xfrm>
            <a:prstGeom prst="rect">
              <a:avLst/>
            </a:prstGeom>
            <a:gradFill>
              <a:gsLst>
                <a:gs pos="0">
                  <a:srgbClr val="FFC000">
                    <a:lumMod val="5000"/>
                    <a:lumOff val="95000"/>
                  </a:srgbClr>
                </a:gs>
                <a:gs pos="83000">
                  <a:srgbClr val="FFC000"/>
                </a:gs>
                <a:gs pos="100000">
                  <a:srgbClr val="F0A622"/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F595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2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4F595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44" name="Straight Connector 39">
              <a:extLst>
                <a:ext uri="{FF2B5EF4-FFF2-40B4-BE49-F238E27FC236}">
                  <a16:creationId xmlns:a16="http://schemas.microsoft.com/office/drawing/2014/main" id="{8B188E31-BACC-B09E-0352-9D31E0602698}"/>
                </a:ext>
              </a:extLst>
            </p:cNvPr>
            <p:cNvCxnSpPr/>
            <p:nvPr/>
          </p:nvCxnSpPr>
          <p:spPr>
            <a:xfrm>
              <a:off x="5331873" y="127357"/>
              <a:ext cx="0" cy="5597491"/>
            </a:xfrm>
            <a:prstGeom prst="line">
              <a:avLst/>
            </a:prstGeom>
            <a:noFill/>
            <a:ln w="28575" cap="flat" cmpd="sng" algn="ctr">
              <a:solidFill>
                <a:srgbClr val="F0A622">
                  <a:alpha val="60000"/>
                </a:srgbClr>
              </a:solidFill>
              <a:prstDash val="sysDot"/>
            </a:ln>
            <a:effectLst/>
          </p:spPr>
        </p:cxnSp>
      </p:grpSp>
      <p:grpSp>
        <p:nvGrpSpPr>
          <p:cNvPr id="145" name="Group 52">
            <a:extLst>
              <a:ext uri="{FF2B5EF4-FFF2-40B4-BE49-F238E27FC236}">
                <a16:creationId xmlns:a16="http://schemas.microsoft.com/office/drawing/2014/main" id="{0D8B87EE-2483-E92D-D0AC-1134CF03A8F9}"/>
              </a:ext>
            </a:extLst>
          </p:cNvPr>
          <p:cNvGrpSpPr/>
          <p:nvPr/>
        </p:nvGrpSpPr>
        <p:grpSpPr>
          <a:xfrm>
            <a:off x="9878073" y="1149491"/>
            <a:ext cx="364465" cy="4824145"/>
            <a:chOff x="5331873" y="127357"/>
            <a:chExt cx="364465" cy="5597491"/>
          </a:xfrm>
        </p:grpSpPr>
        <p:sp>
          <p:nvSpPr>
            <p:cNvPr id="146" name="Rectangle 82">
              <a:extLst>
                <a:ext uri="{FF2B5EF4-FFF2-40B4-BE49-F238E27FC236}">
                  <a16:creationId xmlns:a16="http://schemas.microsoft.com/office/drawing/2014/main" id="{F1611DD6-EE64-63E6-B471-C12F9B1563CB}"/>
                </a:ext>
              </a:extLst>
            </p:cNvPr>
            <p:cNvSpPr/>
            <p:nvPr/>
          </p:nvSpPr>
          <p:spPr>
            <a:xfrm>
              <a:off x="5331873" y="133873"/>
              <a:ext cx="364465" cy="228600"/>
            </a:xfrm>
            <a:prstGeom prst="rect">
              <a:avLst/>
            </a:prstGeom>
            <a:gradFill>
              <a:gsLst>
                <a:gs pos="0">
                  <a:srgbClr val="FFC000">
                    <a:lumMod val="5000"/>
                    <a:lumOff val="95000"/>
                  </a:srgbClr>
                </a:gs>
                <a:gs pos="83000">
                  <a:srgbClr val="FFC000"/>
                </a:gs>
                <a:gs pos="100000">
                  <a:srgbClr val="F0A622"/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4F595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 3 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4F595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47" name="Straight Connector 39">
              <a:extLst>
                <a:ext uri="{FF2B5EF4-FFF2-40B4-BE49-F238E27FC236}">
                  <a16:creationId xmlns:a16="http://schemas.microsoft.com/office/drawing/2014/main" id="{A795EBD6-32ED-49A3-AFC3-3D7FBC546ECB}"/>
                </a:ext>
              </a:extLst>
            </p:cNvPr>
            <p:cNvCxnSpPr/>
            <p:nvPr/>
          </p:nvCxnSpPr>
          <p:spPr>
            <a:xfrm>
              <a:off x="5331873" y="127357"/>
              <a:ext cx="0" cy="5597491"/>
            </a:xfrm>
            <a:prstGeom prst="line">
              <a:avLst/>
            </a:prstGeom>
            <a:noFill/>
            <a:ln w="28575" cap="flat" cmpd="sng" algn="ctr">
              <a:solidFill>
                <a:srgbClr val="F0A622">
                  <a:alpha val="60000"/>
                </a:srgbClr>
              </a:solidFill>
              <a:prstDash val="sysDot"/>
            </a:ln>
            <a:effectLst/>
          </p:spPr>
        </p:cxnSp>
      </p:grpSp>
      <p:sp>
        <p:nvSpPr>
          <p:cNvPr id="148" name="Rectangle 11">
            <a:extLst>
              <a:ext uri="{FF2B5EF4-FFF2-40B4-BE49-F238E27FC236}">
                <a16:creationId xmlns:a16="http://schemas.microsoft.com/office/drawing/2014/main" id="{6A2BD5F3-D737-7A48-8C79-0A981C565136}"/>
              </a:ext>
            </a:extLst>
          </p:cNvPr>
          <p:cNvSpPr/>
          <p:nvPr/>
        </p:nvSpPr>
        <p:spPr>
          <a:xfrm>
            <a:off x="540696" y="4104419"/>
            <a:ext cx="461621" cy="365760"/>
          </a:xfrm>
          <a:prstGeom prst="round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РО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Rectangle 11">
            <a:extLst>
              <a:ext uri="{FF2B5EF4-FFF2-40B4-BE49-F238E27FC236}">
                <a16:creationId xmlns:a16="http://schemas.microsoft.com/office/drawing/2014/main" id="{5BA7CF60-0F51-36E0-2AF7-A162D345F043}"/>
              </a:ext>
            </a:extLst>
          </p:cNvPr>
          <p:cNvSpPr/>
          <p:nvPr/>
        </p:nvSpPr>
        <p:spPr>
          <a:xfrm>
            <a:off x="540610" y="4517606"/>
            <a:ext cx="3132864" cy="473048"/>
          </a:xfrm>
          <a:prstGeom prst="round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Автоматизация переменных выплат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Rectangle 11">
            <a:extLst>
              <a:ext uri="{FF2B5EF4-FFF2-40B4-BE49-F238E27FC236}">
                <a16:creationId xmlns:a16="http://schemas.microsoft.com/office/drawing/2014/main" id="{CC2F05CB-D495-AD6B-A7A2-780EF6F6E9DD}"/>
              </a:ext>
            </a:extLst>
          </p:cNvPr>
          <p:cNvSpPr/>
          <p:nvPr/>
        </p:nvSpPr>
        <p:spPr>
          <a:xfrm>
            <a:off x="534260" y="5046272"/>
            <a:ext cx="9806022" cy="272041"/>
          </a:xfrm>
          <a:prstGeom prst="round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Перенос отчетов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 SAP BW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 до 2027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Diamond 70">
            <a:extLst>
              <a:ext uri="{FF2B5EF4-FFF2-40B4-BE49-F238E27FC236}">
                <a16:creationId xmlns:a16="http://schemas.microsoft.com/office/drawing/2014/main" id="{04F9DF06-1242-11CD-CDA7-F71228DF52DA}"/>
              </a:ext>
            </a:extLst>
          </p:cNvPr>
          <p:cNvSpPr>
            <a:spLocks noChangeAspect="1"/>
          </p:cNvSpPr>
          <p:nvPr/>
        </p:nvSpPr>
        <p:spPr>
          <a:xfrm>
            <a:off x="9968218" y="2232312"/>
            <a:ext cx="274320" cy="274320"/>
          </a:xfrm>
          <a:prstGeom prst="roundRect">
            <a:avLst/>
          </a:prstGeom>
          <a:solidFill>
            <a:sysClr val="window" lastClr="FFFFFF"/>
          </a:solidFill>
          <a:ln w="19050" cap="flat" cmpd="sng" algn="ctr">
            <a:solidFill>
              <a:srgbClr val="4F5955">
                <a:lumMod val="65000"/>
                <a:lumOff val="35000"/>
              </a:srgbClr>
            </a:solidFill>
            <a:prstDash val="sysDot"/>
          </a:ln>
          <a:effectLst>
            <a:outerShdw blurRad="50800" dist="38100" dir="8100000" algn="tr" rotWithShape="0">
              <a:prstClr val="black">
                <a:alpha val="3543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9325C199-A5B0-BF81-4541-05D0E0460326}"/>
              </a:ext>
            </a:extLst>
          </p:cNvPr>
          <p:cNvSpPr/>
          <p:nvPr/>
        </p:nvSpPr>
        <p:spPr>
          <a:xfrm>
            <a:off x="3693793" y="3500039"/>
            <a:ext cx="858730" cy="55245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rPr>
              <a:t>Мониторинг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Arial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1219169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2053743" y="4506978"/>
            <a:ext cx="8229600" cy="192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2500884" y="4506978"/>
            <a:ext cx="19202" cy="2286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4939589" y="4506978"/>
            <a:ext cx="19202" cy="228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378294" y="4506978"/>
            <a:ext cx="19202" cy="2286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816084" y="4506978"/>
            <a:ext cx="19202" cy="2286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0"/>
            <a:ext cx="12191695" cy="14666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158484" y="4278378"/>
            <a:ext cx="19202" cy="2286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644238" y="3288082"/>
            <a:ext cx="3047695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15"/>
          <p:cNvSpPr/>
          <p:nvPr/>
        </p:nvSpPr>
        <p:spPr>
          <a:xfrm>
            <a:off x="4644238" y="3288082"/>
            <a:ext cx="47549" cy="990295"/>
          </a:xfrm>
          <a:prstGeom prst="roundRect">
            <a:avLst>
              <a:gd name="adj" fmla="val 147928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16"/>
          <p:cNvSpPr txBox="1"/>
          <p:nvPr/>
        </p:nvSpPr>
        <p:spPr>
          <a:xfrm>
            <a:off x="4920387" y="3402382"/>
            <a:ext cx="1047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4920387" y="3706878"/>
            <a:ext cx="2315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3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командами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7222845" y="3847801"/>
            <a:ext cx="286207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19"/>
          <p:cNvSpPr txBox="1"/>
          <p:nvPr/>
        </p:nvSpPr>
        <p:spPr>
          <a:xfrm>
            <a:off x="7306274" y="3894102"/>
            <a:ext cx="111588" cy="1234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7206387" y="3525826"/>
            <a:ext cx="256946" cy="228600"/>
          </a:xfrm>
          <a:prstGeom prst="rect">
            <a:avLst/>
          </a:prstGeom>
        </p:spPr>
      </p:pic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0FB5FCEC-2F22-5462-7692-4B5ED5ED8963}"/>
              </a:ext>
            </a:extLst>
          </p:cNvPr>
          <p:cNvGrpSpPr/>
          <p:nvPr/>
        </p:nvGrpSpPr>
        <p:grpSpPr>
          <a:xfrm>
            <a:off x="6330848" y="4735578"/>
            <a:ext cx="2133295" cy="1686154"/>
            <a:chOff x="1443838" y="4735578"/>
            <a:chExt cx="2133295" cy="1686154"/>
          </a:xfrm>
        </p:grpSpPr>
        <p:sp>
          <p:nvSpPr>
            <p:cNvPr id="33" name="Shape 20"/>
            <p:cNvSpPr/>
            <p:nvPr/>
          </p:nvSpPr>
          <p:spPr>
            <a:xfrm>
              <a:off x="1443838" y="4735578"/>
              <a:ext cx="2133295" cy="1686154"/>
            </a:xfrm>
            <a:prstGeom prst="roundRect">
              <a:avLst>
                <a:gd name="adj" fmla="val 2451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34" name="Shape 21"/>
            <p:cNvSpPr/>
            <p:nvPr/>
          </p:nvSpPr>
          <p:spPr>
            <a:xfrm>
              <a:off x="1443838" y="4735578"/>
              <a:ext cx="47549" cy="1686154"/>
            </a:xfrm>
            <a:prstGeom prst="roundRect">
              <a:avLst>
                <a:gd name="adj" fmla="val 86918"/>
              </a:avLst>
            </a:prstGeom>
            <a:solidFill>
              <a:srgbClr val="00A651"/>
            </a:solidFill>
            <a:ln w="12700">
              <a:solidFill>
                <a:srgbClr val="00A6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5" name="Shape 22"/>
            <p:cNvSpPr/>
            <p:nvPr/>
          </p:nvSpPr>
          <p:spPr>
            <a:xfrm>
              <a:off x="2306117" y="4888282"/>
              <a:ext cx="457200" cy="457200"/>
            </a:xfrm>
            <a:prstGeom prst="ellipse">
              <a:avLst/>
            </a:prstGeom>
            <a:solidFill>
              <a:srgbClr val="F9FAF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36" name="Image 11" descr="preencoded.png"/>
            <p:cNvPicPr>
              <a:picLocks noChangeAspect="1"/>
            </p:cNvPicPr>
            <p:nvPr/>
          </p:nvPicPr>
          <p:blipFill>
            <a:blip r:embed="rId7"/>
            <a:srcRect l="-1282" r="-1282"/>
            <a:stretch/>
          </p:blipFill>
          <p:spPr>
            <a:xfrm>
              <a:off x="2393815" y="5011394"/>
              <a:ext cx="282761" cy="245059"/>
            </a:xfrm>
            <a:prstGeom prst="rect">
              <a:avLst/>
            </a:prstGeom>
          </p:spPr>
        </p:pic>
        <p:sp>
          <p:nvSpPr>
            <p:cNvPr id="37" name="Text 23"/>
            <p:cNvSpPr txBox="1"/>
            <p:nvPr/>
          </p:nvSpPr>
          <p:spPr>
            <a:xfrm>
              <a:off x="1608430" y="5459782"/>
              <a:ext cx="1852574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Главный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разработчик</a:t>
              </a:r>
              <a:endParaRPr lang="en-US" sz="1200" dirty="0"/>
            </a:p>
          </p:txBody>
        </p:sp>
        <p:sp>
          <p:nvSpPr>
            <p:cNvPr id="38" name="Shape 24"/>
            <p:cNvSpPr/>
            <p:nvPr/>
          </p:nvSpPr>
          <p:spPr>
            <a:xfrm>
              <a:off x="2337207" y="5964531"/>
              <a:ext cx="400507" cy="304495"/>
            </a:xfrm>
            <a:prstGeom prst="roundRect">
              <a:avLst>
                <a:gd name="adj" fmla="val 56306"/>
              </a:avLst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9" name="Text 25"/>
            <p:cNvSpPr txBox="1"/>
            <p:nvPr/>
          </p:nvSpPr>
          <p:spPr>
            <a:xfrm>
              <a:off x="2298802" y="5964531"/>
              <a:ext cx="4764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400" dirty="0"/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71C12B79-8A9A-1218-24D0-E8438A5EA687}"/>
              </a:ext>
            </a:extLst>
          </p:cNvPr>
          <p:cNvGrpSpPr/>
          <p:nvPr/>
        </p:nvGrpSpPr>
        <p:grpSpPr>
          <a:xfrm>
            <a:off x="3882543" y="4735578"/>
            <a:ext cx="2133295" cy="1686154"/>
            <a:chOff x="3882543" y="4735578"/>
            <a:chExt cx="2133295" cy="1686154"/>
          </a:xfrm>
        </p:grpSpPr>
        <p:sp>
          <p:nvSpPr>
            <p:cNvPr id="40" name="Shape 26"/>
            <p:cNvSpPr/>
            <p:nvPr/>
          </p:nvSpPr>
          <p:spPr>
            <a:xfrm>
              <a:off x="3882543" y="4735578"/>
              <a:ext cx="2133295" cy="1686154"/>
            </a:xfrm>
            <a:prstGeom prst="roundRect">
              <a:avLst>
                <a:gd name="adj" fmla="val 2451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41" name="Shape 27"/>
            <p:cNvSpPr/>
            <p:nvPr/>
          </p:nvSpPr>
          <p:spPr>
            <a:xfrm>
              <a:off x="3882543" y="4735578"/>
              <a:ext cx="47549" cy="1686154"/>
            </a:xfrm>
            <a:prstGeom prst="roundRect">
              <a:avLst>
                <a:gd name="adj" fmla="val 86918"/>
              </a:avLst>
            </a:prstGeom>
            <a:solidFill>
              <a:srgbClr val="00A651"/>
            </a:solidFill>
            <a:ln w="12700">
              <a:solidFill>
                <a:srgbClr val="00A6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2" name="Shape 28"/>
            <p:cNvSpPr/>
            <p:nvPr/>
          </p:nvSpPr>
          <p:spPr>
            <a:xfrm>
              <a:off x="4743908" y="4888282"/>
              <a:ext cx="457200" cy="457200"/>
            </a:xfrm>
            <a:prstGeom prst="ellipse">
              <a:avLst/>
            </a:prstGeom>
            <a:solidFill>
              <a:srgbClr val="F9FAF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43" name="Image 12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846237" y="5011394"/>
              <a:ext cx="245059" cy="245059"/>
            </a:xfrm>
            <a:prstGeom prst="rect">
              <a:avLst/>
            </a:prstGeom>
          </p:spPr>
        </p:pic>
        <p:sp>
          <p:nvSpPr>
            <p:cNvPr id="44" name="Text 29"/>
            <p:cNvSpPr txBox="1"/>
            <p:nvPr/>
          </p:nvSpPr>
          <p:spPr>
            <a:xfrm>
              <a:off x="4046220" y="5459782"/>
              <a:ext cx="1852574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Эксперт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разработчик</a:t>
              </a:r>
              <a:endParaRPr lang="en-US" sz="1200" dirty="0"/>
            </a:p>
          </p:txBody>
        </p:sp>
        <p:sp>
          <p:nvSpPr>
            <p:cNvPr id="45" name="Shape 30"/>
            <p:cNvSpPr/>
            <p:nvPr/>
          </p:nvSpPr>
          <p:spPr>
            <a:xfrm>
              <a:off x="4774997" y="5964531"/>
              <a:ext cx="400507" cy="304495"/>
            </a:xfrm>
            <a:prstGeom prst="roundRect">
              <a:avLst>
                <a:gd name="adj" fmla="val 56306"/>
              </a:avLst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6" name="Text 31"/>
            <p:cNvSpPr txBox="1"/>
            <p:nvPr/>
          </p:nvSpPr>
          <p:spPr>
            <a:xfrm>
              <a:off x="4737507" y="5964531"/>
              <a:ext cx="4764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400" dirty="0"/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FFD70B43-AC64-9098-A88F-82DD96BD277C}"/>
              </a:ext>
            </a:extLst>
          </p:cNvPr>
          <p:cNvGrpSpPr/>
          <p:nvPr/>
        </p:nvGrpSpPr>
        <p:grpSpPr>
          <a:xfrm>
            <a:off x="8749436" y="4714381"/>
            <a:ext cx="2133295" cy="1686154"/>
            <a:chOff x="6320333" y="4735578"/>
            <a:chExt cx="2133295" cy="1686154"/>
          </a:xfrm>
        </p:grpSpPr>
        <p:sp>
          <p:nvSpPr>
            <p:cNvPr id="47" name="Shape 32"/>
            <p:cNvSpPr/>
            <p:nvPr/>
          </p:nvSpPr>
          <p:spPr>
            <a:xfrm>
              <a:off x="6320333" y="4735578"/>
              <a:ext cx="2133295" cy="1686154"/>
            </a:xfrm>
            <a:prstGeom prst="roundRect">
              <a:avLst>
                <a:gd name="adj" fmla="val 2451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48" name="Shape 33"/>
            <p:cNvSpPr/>
            <p:nvPr/>
          </p:nvSpPr>
          <p:spPr>
            <a:xfrm>
              <a:off x="6320333" y="4735578"/>
              <a:ext cx="47549" cy="1686154"/>
            </a:xfrm>
            <a:prstGeom prst="roundRect">
              <a:avLst>
                <a:gd name="adj" fmla="val 86918"/>
              </a:avLst>
            </a:prstGeom>
            <a:solidFill>
              <a:srgbClr val="00A651"/>
            </a:solidFill>
            <a:ln w="12700">
              <a:solidFill>
                <a:srgbClr val="00A6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49" name="Shape 34"/>
            <p:cNvSpPr/>
            <p:nvPr/>
          </p:nvSpPr>
          <p:spPr>
            <a:xfrm>
              <a:off x="7182612" y="4888282"/>
              <a:ext cx="457200" cy="457200"/>
            </a:xfrm>
            <a:prstGeom prst="ellipse">
              <a:avLst/>
            </a:prstGeom>
            <a:solidFill>
              <a:srgbClr val="F9FAF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50" name="Image 13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295333" y="5001003"/>
              <a:ext cx="245059" cy="245059"/>
            </a:xfrm>
            <a:prstGeom prst="rect">
              <a:avLst/>
            </a:prstGeom>
          </p:spPr>
        </p:pic>
        <p:sp>
          <p:nvSpPr>
            <p:cNvPr id="51" name="Text 35"/>
            <p:cNvSpPr txBox="1"/>
            <p:nvPr/>
          </p:nvSpPr>
          <p:spPr>
            <a:xfrm>
              <a:off x="6484925" y="5459782"/>
              <a:ext cx="1852574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Старший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разработчик</a:t>
              </a:r>
              <a:endParaRPr lang="en-US" sz="1200" dirty="0"/>
            </a:p>
          </p:txBody>
        </p:sp>
        <p:sp>
          <p:nvSpPr>
            <p:cNvPr id="52" name="Shape 36"/>
            <p:cNvSpPr/>
            <p:nvPr/>
          </p:nvSpPr>
          <p:spPr>
            <a:xfrm>
              <a:off x="7213702" y="5964531"/>
              <a:ext cx="400507" cy="304495"/>
            </a:xfrm>
            <a:prstGeom prst="roundRect">
              <a:avLst>
                <a:gd name="adj" fmla="val 56306"/>
              </a:avLst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53" name="Text 37"/>
            <p:cNvSpPr txBox="1"/>
            <p:nvPr/>
          </p:nvSpPr>
          <p:spPr>
            <a:xfrm>
              <a:off x="7190776" y="5964531"/>
              <a:ext cx="4764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400" dirty="0"/>
            </a:p>
          </p:txBody>
        </p:sp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F68FF31C-6F0F-36B6-B269-97DEDDC5C9A8}"/>
              </a:ext>
            </a:extLst>
          </p:cNvPr>
          <p:cNvGrpSpPr/>
          <p:nvPr/>
        </p:nvGrpSpPr>
        <p:grpSpPr>
          <a:xfrm>
            <a:off x="1435619" y="4749825"/>
            <a:ext cx="2133295" cy="1743762"/>
            <a:chOff x="8759038" y="4735578"/>
            <a:chExt cx="2133295" cy="1743762"/>
          </a:xfrm>
        </p:grpSpPr>
        <p:sp>
          <p:nvSpPr>
            <p:cNvPr id="54" name="Shape 38"/>
            <p:cNvSpPr/>
            <p:nvPr/>
          </p:nvSpPr>
          <p:spPr>
            <a:xfrm>
              <a:off x="8759038" y="4735578"/>
              <a:ext cx="2133295" cy="1686154"/>
            </a:xfrm>
            <a:prstGeom prst="roundRect">
              <a:avLst>
                <a:gd name="adj" fmla="val 3196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55" name="Shape 39"/>
            <p:cNvSpPr/>
            <p:nvPr/>
          </p:nvSpPr>
          <p:spPr>
            <a:xfrm>
              <a:off x="8759038" y="4735578"/>
              <a:ext cx="56146" cy="1743762"/>
            </a:xfrm>
            <a:prstGeom prst="roundRect">
              <a:avLst>
                <a:gd name="adj" fmla="val 99255"/>
              </a:avLst>
            </a:prstGeom>
            <a:solidFill>
              <a:srgbClr val="00A651"/>
            </a:solidFill>
            <a:ln w="12700">
              <a:solidFill>
                <a:srgbClr val="00A6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56" name="Shape 40"/>
            <p:cNvSpPr/>
            <p:nvPr/>
          </p:nvSpPr>
          <p:spPr>
            <a:xfrm>
              <a:off x="9621317" y="4888282"/>
              <a:ext cx="457200" cy="457200"/>
            </a:xfrm>
            <a:prstGeom prst="ellipse">
              <a:avLst/>
            </a:prstGeom>
            <a:solidFill>
              <a:srgbClr val="F9FAF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57" name="Image 14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9710263" y="5011394"/>
              <a:ext cx="306324" cy="245059"/>
            </a:xfrm>
            <a:prstGeom prst="rect">
              <a:avLst/>
            </a:prstGeom>
          </p:spPr>
        </p:pic>
        <p:sp>
          <p:nvSpPr>
            <p:cNvPr id="58" name="Text 41"/>
            <p:cNvSpPr txBox="1"/>
            <p:nvPr/>
          </p:nvSpPr>
          <p:spPr>
            <a:xfrm>
              <a:off x="8920887" y="5459782"/>
              <a:ext cx="185806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Developer</a:t>
              </a:r>
              <a:endParaRPr lang="en-US" sz="1200" dirty="0"/>
            </a:p>
          </p:txBody>
        </p:sp>
        <p:sp>
          <p:nvSpPr>
            <p:cNvPr id="59" name="Shape 42"/>
            <p:cNvSpPr/>
            <p:nvPr/>
          </p:nvSpPr>
          <p:spPr>
            <a:xfrm>
              <a:off x="9653505" y="5963615"/>
              <a:ext cx="400507" cy="304495"/>
            </a:xfrm>
            <a:prstGeom prst="roundRect">
              <a:avLst>
                <a:gd name="adj" fmla="val 56306"/>
              </a:avLst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60" name="Text 43"/>
            <p:cNvSpPr txBox="1"/>
            <p:nvPr/>
          </p:nvSpPr>
          <p:spPr>
            <a:xfrm>
              <a:off x="9625224" y="5964073"/>
              <a:ext cx="4764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7</a:t>
              </a:r>
              <a:endParaRPr lang="en-US" sz="1400" dirty="0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7C0030E-A600-B9FA-E230-11A355E911D5}"/>
              </a:ext>
            </a:extLst>
          </p:cNvPr>
          <p:cNvGrpSpPr/>
          <p:nvPr/>
        </p:nvGrpSpPr>
        <p:grpSpPr>
          <a:xfrm>
            <a:off x="8620505" y="2313638"/>
            <a:ext cx="2262226" cy="861322"/>
            <a:chOff x="8084210" y="-1498099"/>
            <a:chExt cx="2262226" cy="861322"/>
          </a:xfrm>
          <a:effectLst>
            <a:outerShdw blurRad="50800" dist="50800" dir="5400000" algn="ctr" rotWithShape="0">
              <a:srgbClr val="000000">
                <a:alpha val="9650"/>
              </a:srgbClr>
            </a:outerShdw>
          </a:effectLst>
        </p:grpSpPr>
        <p:pic>
          <p:nvPicPr>
            <p:cNvPr id="62" name="Image 16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8158276" y="-1438802"/>
              <a:ext cx="738869" cy="738869"/>
            </a:xfrm>
            <a:prstGeom prst="rect">
              <a:avLst/>
            </a:prstGeom>
          </p:spPr>
        </p:pic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96B65B66-2B2D-2352-E21B-9988A6872940}"/>
                </a:ext>
              </a:extLst>
            </p:cNvPr>
            <p:cNvSpPr/>
            <p:nvPr/>
          </p:nvSpPr>
          <p:spPr>
            <a:xfrm>
              <a:off x="8084210" y="-1498099"/>
              <a:ext cx="2262226" cy="861322"/>
            </a:xfrm>
            <a:prstGeom prst="roundRect">
              <a:avLst>
                <a:gd name="adj" fmla="val 10884"/>
              </a:avLst>
            </a:prstGeom>
            <a:solidFill>
              <a:srgbClr val="FFFFFF"/>
            </a:solidFill>
            <a:ln/>
            <a:effectLst>
              <a:outerShdw blurRad="1397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pic>
          <p:nvPicPr>
            <p:cNvPr id="63" name="Image 17" descr="preencoded.png"/>
            <p:cNvPicPr>
              <a:picLocks noChangeAspect="1"/>
            </p:cNvPicPr>
            <p:nvPr/>
          </p:nvPicPr>
          <p:blipFill>
            <a:blip r:embed="rId12"/>
            <a:srcRect l="-607" r="-607"/>
            <a:stretch/>
          </p:blipFill>
          <p:spPr>
            <a:xfrm>
              <a:off x="8313392" y="-1268273"/>
              <a:ext cx="438668" cy="346725"/>
            </a:xfrm>
            <a:prstGeom prst="rect">
              <a:avLst/>
            </a:prstGeom>
          </p:spPr>
        </p:pic>
        <p:sp>
          <p:nvSpPr>
            <p:cNvPr id="64" name="Text 44"/>
            <p:cNvSpPr txBox="1"/>
            <p:nvPr/>
          </p:nvSpPr>
          <p:spPr>
            <a:xfrm>
              <a:off x="8988679" y="-1457577"/>
              <a:ext cx="1271851" cy="2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2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Общий штат</a:t>
              </a:r>
              <a:endParaRPr lang="en-US" sz="1000" b="1" dirty="0"/>
            </a:p>
          </p:txBody>
        </p:sp>
        <p:sp>
          <p:nvSpPr>
            <p:cNvPr id="65" name="Text 45"/>
            <p:cNvSpPr txBox="1"/>
            <p:nvPr/>
          </p:nvSpPr>
          <p:spPr>
            <a:xfrm>
              <a:off x="9012838" y="-1320218"/>
              <a:ext cx="611767" cy="553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18</a:t>
              </a:r>
              <a:endParaRPr lang="en-US" sz="3600" dirty="0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769239E9-6F8B-B21C-89BB-5105BA8C5716}"/>
              </a:ext>
            </a:extLst>
          </p:cNvPr>
          <p:cNvGrpSpPr/>
          <p:nvPr/>
        </p:nvGrpSpPr>
        <p:grpSpPr>
          <a:xfrm>
            <a:off x="4400158" y="1784603"/>
            <a:ext cx="3505810" cy="1215844"/>
            <a:chOff x="3338391" y="-1663999"/>
            <a:chExt cx="3505810" cy="1215844"/>
          </a:xfrm>
        </p:grpSpPr>
        <p:pic>
          <p:nvPicPr>
            <p:cNvPr id="24" name="Image 8" descr="preencoded.png"/>
            <p:cNvPicPr>
              <a:picLocks noChangeAspect="1"/>
            </p:cNvPicPr>
            <p:nvPr/>
          </p:nvPicPr>
          <p:blipFill>
            <a:blip r:embed="rId13"/>
            <a:srcRect l="-57" r="-57"/>
            <a:stretch/>
          </p:blipFill>
          <p:spPr>
            <a:xfrm>
              <a:off x="4840668" y="-1663999"/>
              <a:ext cx="501256" cy="572209"/>
            </a:xfrm>
            <a:prstGeom prst="rect">
              <a:avLst/>
            </a:prstGeom>
          </p:spPr>
        </p:pic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FECC634B-56B6-7E61-D762-B22226F01729}"/>
                </a:ext>
              </a:extLst>
            </p:cNvPr>
            <p:cNvGrpSpPr/>
            <p:nvPr/>
          </p:nvGrpSpPr>
          <p:grpSpPr>
            <a:xfrm>
              <a:off x="3338391" y="-971977"/>
              <a:ext cx="3505810" cy="523822"/>
              <a:chOff x="4342484" y="2509243"/>
              <a:chExt cx="3505810" cy="523822"/>
            </a:xfrm>
          </p:grpSpPr>
          <p:sp>
            <p:nvSpPr>
              <p:cNvPr id="70" name="Text 2">
                <a:extLst>
                  <a:ext uri="{FF2B5EF4-FFF2-40B4-BE49-F238E27FC236}">
                    <a16:creationId xmlns:a16="http://schemas.microsoft.com/office/drawing/2014/main" id="{24AB09EE-B663-8B33-3AB3-1E025BFF21C5}"/>
                  </a:ext>
                </a:extLst>
              </p:cNvPr>
              <p:cNvSpPr txBox="1"/>
              <p:nvPr/>
            </p:nvSpPr>
            <p:spPr>
              <a:xfrm>
                <a:off x="4821173" y="2509243"/>
                <a:ext cx="2548433" cy="1980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Начальник управления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9" name="Text 29">
                <a:extLst>
                  <a:ext uri="{FF2B5EF4-FFF2-40B4-BE49-F238E27FC236}">
                    <a16:creationId xmlns:a16="http://schemas.microsoft.com/office/drawing/2014/main" id="{7293BDB8-F35F-45C4-BAFA-5CD357AF61B3}"/>
                  </a:ext>
                </a:extLst>
              </p:cNvPr>
              <p:cNvSpPr txBox="1"/>
              <p:nvPr/>
            </p:nvSpPr>
            <p:spPr>
              <a:xfrm>
                <a:off x="4342484" y="2766060"/>
                <a:ext cx="350581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ru-RU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Кусаинова </a:t>
                </a:r>
                <a:r>
                  <a:rPr lang="ru-RU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Жамбы</a:t>
                </a:r>
                <a:r>
                  <a:rPr lang="ru-RU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ru-RU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Токеновна</a:t>
                </a:r>
                <a:endParaRPr lang="ru-RU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endParaRPr>
              </a:p>
            </p:txBody>
          </p:sp>
        </p:grpSp>
      </p:grpSp>
      <p:sp>
        <p:nvSpPr>
          <p:cNvPr id="75" name="Shape 0">
            <a:extLst>
              <a:ext uri="{FF2B5EF4-FFF2-40B4-BE49-F238E27FC236}">
                <a16:creationId xmlns:a16="http://schemas.microsoft.com/office/drawing/2014/main" id="{986389A0-C1B3-A9B6-9EE0-95C5642F39B5}"/>
              </a:ext>
            </a:extLst>
          </p:cNvPr>
          <p:cNvSpPr/>
          <p:nvPr/>
        </p:nvSpPr>
        <p:spPr>
          <a:xfrm>
            <a:off x="11645" y="-14247"/>
            <a:ext cx="12191695" cy="157551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A72B114F-E64B-E0F7-6893-15DE35094EE1}"/>
              </a:ext>
            </a:extLst>
          </p:cNvPr>
          <p:cNvSpPr txBox="1"/>
          <p:nvPr/>
        </p:nvSpPr>
        <p:spPr>
          <a:xfrm>
            <a:off x="374906" y="548117"/>
            <a:ext cx="483900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700" b="1" kern="0" spc="-67" dirty="0" err="1">
                <a:solidFill>
                  <a:srgbClr val="111827"/>
                </a:solidFill>
                <a:latin typeface="Montserrat" pitchFamily="34" charset="0"/>
              </a:rPr>
              <a:t>Управление</a:t>
            </a:r>
            <a:r>
              <a:rPr lang="en-US" sz="2700" b="1" kern="0" spc="-67" dirty="0">
                <a:solidFill>
                  <a:srgbClr val="111827"/>
                </a:solidFill>
                <a:latin typeface="Montserrat" pitchFamily="34" charset="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Montserrat" pitchFamily="34" charset="0"/>
              </a:rPr>
              <a:t>развития</a:t>
            </a:r>
            <a:r>
              <a:rPr lang="en-US" sz="2700" b="1" kern="0" spc="-67" dirty="0">
                <a:solidFill>
                  <a:srgbClr val="111827"/>
                </a:solidFill>
                <a:latin typeface="Montserrat" pitchFamily="34" charset="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Montserrat" pitchFamily="34" charset="0"/>
              </a:rPr>
              <a:t>систем</a:t>
            </a:r>
            <a:r>
              <a:rPr lang="en-US" sz="2700" b="1" kern="0" spc="-67" dirty="0">
                <a:solidFill>
                  <a:srgbClr val="111827"/>
                </a:solidFill>
                <a:latin typeface="Montserrat" pitchFamily="34" charset="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Montserrat" pitchFamily="34" charset="0"/>
              </a:rPr>
              <a:t>отчетности</a:t>
            </a:r>
            <a:endParaRPr lang="en-US" sz="2700" b="1" kern="0" spc="-67" dirty="0">
              <a:solidFill>
                <a:srgbClr val="111827"/>
              </a:solidFill>
              <a:latin typeface="Montserrat" pitchFamily="34" charset="0"/>
            </a:endParaRPr>
          </a:p>
        </p:txBody>
      </p: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586F06B3-9353-DB95-4AAC-F768E23FA275}"/>
              </a:ext>
            </a:extLst>
          </p:cNvPr>
          <p:cNvGrpSpPr/>
          <p:nvPr/>
        </p:nvGrpSpPr>
        <p:grpSpPr>
          <a:xfrm>
            <a:off x="9936785" y="190195"/>
            <a:ext cx="1904695" cy="381305"/>
            <a:chOff x="9936785" y="190195"/>
            <a:chExt cx="1904695" cy="381305"/>
          </a:xfrm>
        </p:grpSpPr>
        <p:sp>
          <p:nvSpPr>
            <p:cNvPr id="14" name="Shape 5"/>
            <p:cNvSpPr/>
            <p:nvPr/>
          </p:nvSpPr>
          <p:spPr>
            <a:xfrm>
              <a:off x="9965131" y="190195"/>
              <a:ext cx="381305" cy="381305"/>
            </a:xfrm>
            <a:prstGeom prst="roundRect">
              <a:avLst>
                <a:gd name="adj" fmla="val 35971"/>
              </a:avLst>
            </a:prstGeom>
            <a:solidFill>
              <a:srgbClr val="00A65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5" name="Text 6"/>
            <p:cNvSpPr txBox="1"/>
            <p:nvPr/>
          </p:nvSpPr>
          <p:spPr>
            <a:xfrm>
              <a:off x="9936785" y="190195"/>
              <a:ext cx="438912" cy="3813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</a:t>
              </a:r>
              <a:endParaRPr lang="en-US" sz="1500" dirty="0"/>
            </a:p>
          </p:txBody>
        </p:sp>
        <p:sp>
          <p:nvSpPr>
            <p:cNvPr id="16" name="Text 7"/>
            <p:cNvSpPr txBox="1"/>
            <p:nvPr/>
          </p:nvSpPr>
          <p:spPr>
            <a:xfrm>
              <a:off x="10422331" y="228600"/>
              <a:ext cx="1419149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kern="0" spc="-45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Halyk Bank</a:t>
              </a:r>
              <a:endParaRPr lang="en-US" sz="1800" dirty="0"/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3F4A1841-DA15-EA56-5C31-50E89E580BD9}"/>
              </a:ext>
            </a:extLst>
          </p:cNvPr>
          <p:cNvGrpSpPr/>
          <p:nvPr/>
        </p:nvGrpSpPr>
        <p:grpSpPr>
          <a:xfrm>
            <a:off x="421363" y="190195"/>
            <a:ext cx="962863" cy="314554"/>
            <a:chOff x="457200" y="304495"/>
            <a:chExt cx="962863" cy="314554"/>
          </a:xfrm>
        </p:grpSpPr>
        <p:pic>
          <p:nvPicPr>
            <p:cNvPr id="87" name="Image 17" descr="preencoded.png">
              <a:extLst>
                <a:ext uri="{FF2B5EF4-FFF2-40B4-BE49-F238E27FC236}">
                  <a16:creationId xmlns:a16="http://schemas.microsoft.com/office/drawing/2014/main" id="{A724C3D0-115D-72D7-967C-86423B5FF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88" name="Shape 35">
              <a:extLst>
                <a:ext uri="{FF2B5EF4-FFF2-40B4-BE49-F238E27FC236}">
                  <a16:creationId xmlns:a16="http://schemas.microsoft.com/office/drawing/2014/main" id="{4A4BB1B0-32E4-D676-673D-3A63906F5CD4}"/>
                </a:ext>
              </a:extLst>
            </p:cNvPr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89" name="Text 36">
              <a:extLst>
                <a:ext uri="{FF2B5EF4-FFF2-40B4-BE49-F238E27FC236}">
                  <a16:creationId xmlns:a16="http://schemas.microsoft.com/office/drawing/2014/main" id="{2E0679C3-5988-3456-68B0-3FD2A88C4403}"/>
                </a:ext>
              </a:extLst>
            </p:cNvPr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457200" y="1319479"/>
            <a:ext cx="11277295" cy="819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28954" y="1481328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228954" y="1671523"/>
            <a:ext cx="1552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человека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31619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285439" y="1652321"/>
            <a:ext cx="133502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664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590849" y="1652321"/>
            <a:ext cx="133502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77190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895344" y="1652321"/>
            <a:ext cx="133502" cy="1527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494215" y="1633118"/>
            <a:ext cx="2243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в ODS / DDS слои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457200" y="2443277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9"/>
          <p:cNvSpPr/>
          <p:nvPr/>
        </p:nvSpPr>
        <p:spPr>
          <a:xfrm>
            <a:off x="457200" y="2443277"/>
            <a:ext cx="38405" cy="1371600"/>
          </a:xfrm>
          <a:prstGeom prst="roundRect">
            <a:avLst>
              <a:gd name="adj" fmla="val 132274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0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3077" y="2766974"/>
            <a:ext cx="142646" cy="1901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295705" y="263347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бизнес требований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1295705" y="2938882"/>
            <a:ext cx="4534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требований на интеграцию новых источников, расширение таблиц в ODS/DDS слоях, перегрузку и дозагрузку данных.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6248095" y="2443277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14"/>
          <p:cNvSpPr/>
          <p:nvPr/>
        </p:nvSpPr>
        <p:spPr>
          <a:xfrm>
            <a:off x="6248095" y="2443277"/>
            <a:ext cx="38405" cy="1371600"/>
          </a:xfrm>
          <a:prstGeom prst="roundRect">
            <a:avLst>
              <a:gd name="adj" fmla="val 132274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15"/>
          <p:cNvSpPr/>
          <p:nvPr/>
        </p:nvSpPr>
        <p:spPr>
          <a:xfrm>
            <a:off x="6476695" y="26334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596482" y="2766974"/>
            <a:ext cx="219456" cy="1901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086600" y="263347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7086600" y="2938882"/>
            <a:ext cx="4534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Понимание бизнес-процесса и архитектуры. Определение политик доступа и типов загрузки в ODS для корректного хранения.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57200" y="4037076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19"/>
          <p:cNvSpPr/>
          <p:nvPr/>
        </p:nvSpPr>
        <p:spPr>
          <a:xfrm>
            <a:off x="457200" y="4037076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0"/>
          <p:cNvSpPr/>
          <p:nvPr/>
        </p:nvSpPr>
        <p:spPr>
          <a:xfrm>
            <a:off x="685800" y="4227271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04672" y="4360774"/>
            <a:ext cx="219456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295705" y="4227271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ТЗ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295705" y="453268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согласование технических заданий на интеграцию данных в ODS и DDS слои хранилища.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6248095" y="4037076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24"/>
          <p:cNvSpPr/>
          <p:nvPr/>
        </p:nvSpPr>
        <p:spPr>
          <a:xfrm>
            <a:off x="6248095" y="4037076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25"/>
          <p:cNvSpPr/>
          <p:nvPr/>
        </p:nvSpPr>
        <p:spPr>
          <a:xfrm>
            <a:off x="6476695" y="4227271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10198" y="4360774"/>
            <a:ext cx="190195" cy="19019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7086600" y="4227271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ODS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7086600" y="4532681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загруженных данных в слой ODS на полное соответствие с источником данных.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457200" y="5447081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Shape 29"/>
          <p:cNvSpPr/>
          <p:nvPr/>
        </p:nvSpPr>
        <p:spPr>
          <a:xfrm>
            <a:off x="457200" y="5447081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30"/>
          <p:cNvSpPr/>
          <p:nvPr/>
        </p:nvSpPr>
        <p:spPr>
          <a:xfrm>
            <a:off x="685800" y="5638190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5528" y="5771693"/>
            <a:ext cx="237744" cy="19019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295705" y="563819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DDS с заказчиком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1295705" y="5942686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Совместное с бизнес-заказчиком тестирование и верификация данных, загруженных в слой DDS.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6248095" y="5447081"/>
            <a:ext cx="54864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Shape 34"/>
          <p:cNvSpPr/>
          <p:nvPr/>
        </p:nvSpPr>
        <p:spPr>
          <a:xfrm>
            <a:off x="6248095" y="5447081"/>
            <a:ext cx="38405" cy="1190549"/>
          </a:xfrm>
          <a:prstGeom prst="roundRect">
            <a:avLst>
              <a:gd name="adj" fmla="val 152380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35"/>
          <p:cNvSpPr/>
          <p:nvPr/>
        </p:nvSpPr>
        <p:spPr>
          <a:xfrm>
            <a:off x="6476695" y="5638190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10198" y="5771693"/>
            <a:ext cx="190195" cy="19019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086600" y="563819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Консультация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7086600" y="5942686"/>
            <a:ext cx="4534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Консультирование бизнес-подразделений о наличии данных в хранилище и маршрутах доступа к ним.</a:t>
            </a:r>
            <a:endParaRPr lang="en-US" sz="1000" dirty="0"/>
          </a:p>
        </p:txBody>
      </p:sp>
      <p:sp>
        <p:nvSpPr>
          <p:cNvPr id="53" name="Shape 38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Shape 39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41"/>
          <p:cNvSpPr txBox="1"/>
          <p:nvPr/>
        </p:nvSpPr>
        <p:spPr>
          <a:xfrm>
            <a:off x="457200" y="571500"/>
            <a:ext cx="793034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Направление</a:t>
            </a: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новых источников</a:t>
            </a:r>
            <a:endParaRPr lang="en-US" sz="2200" dirty="0"/>
          </a:p>
        </p:txBody>
      </p:sp>
      <p:sp>
        <p:nvSpPr>
          <p:cNvPr id="58" name="Shape 42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43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0" name="Text 44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887064A7-069A-8D99-D36E-24FB51EEFF5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88C47711-9D4B-CC08-32F8-658EE58AFFC2}"/>
              </a:ext>
            </a:extLst>
          </p:cNvPr>
          <p:cNvGrpSpPr/>
          <p:nvPr/>
        </p:nvGrpSpPr>
        <p:grpSpPr>
          <a:xfrm>
            <a:off x="432968" y="207384"/>
            <a:ext cx="962863" cy="314554"/>
            <a:chOff x="457200" y="304495"/>
            <a:chExt cx="962863" cy="314554"/>
          </a:xfrm>
        </p:grpSpPr>
        <p:pic>
          <p:nvPicPr>
            <p:cNvPr id="64" name="Image 17" descr="preencoded.png">
              <a:extLst>
                <a:ext uri="{FF2B5EF4-FFF2-40B4-BE49-F238E27FC236}">
                  <a16:creationId xmlns:a16="http://schemas.microsoft.com/office/drawing/2014/main" id="{15CB53DC-A0E5-1542-301B-F2A7577D8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65" name="Shape 35">
              <a:extLst>
                <a:ext uri="{FF2B5EF4-FFF2-40B4-BE49-F238E27FC236}">
                  <a16:creationId xmlns:a16="http://schemas.microsoft.com/office/drawing/2014/main" id="{2D699C35-0223-7775-34C8-03CF066AE44C}"/>
                </a:ext>
              </a:extLst>
            </p:cNvPr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66" name="Text 36">
              <a:extLst>
                <a:ext uri="{FF2B5EF4-FFF2-40B4-BE49-F238E27FC236}">
                  <a16:creationId xmlns:a16="http://schemas.microsoft.com/office/drawing/2014/main" id="{EC448BEC-92D8-7C30-DA0C-3EC3B9AD2C1E}"/>
                </a:ext>
              </a:extLst>
            </p:cNvPr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2"/>
          <p:cNvSpPr/>
          <p:nvPr/>
        </p:nvSpPr>
        <p:spPr>
          <a:xfrm>
            <a:off x="457200" y="1313993"/>
            <a:ext cx="11277295" cy="819302"/>
          </a:xfrm>
          <a:prstGeom prst="roundRect">
            <a:avLst>
              <a:gd name="adj" fmla="val 1557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2962656" y="1475842"/>
            <a:ext cx="9144" cy="4956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672" y="1627632"/>
            <a:ext cx="237744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04849" y="1475842"/>
            <a:ext cx="1429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304849" y="1666037"/>
            <a:ext cx="1429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человек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3128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3413455" y="1661465"/>
            <a:ext cx="105156" cy="1234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414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3642055" y="1661465"/>
            <a:ext cx="105156" cy="1234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7700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3870655" y="1661465"/>
            <a:ext cx="105156" cy="12344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9986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4099255" y="1661465"/>
            <a:ext cx="105156" cy="1234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2272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4327855" y="1661465"/>
            <a:ext cx="105156" cy="12344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4558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4556455" y="1661465"/>
            <a:ext cx="105156" cy="123444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6844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4785055" y="1661465"/>
            <a:ext cx="105156" cy="123444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49130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013655" y="1661465"/>
            <a:ext cx="105156" cy="123444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5141671" y="1570939"/>
            <a:ext cx="304495" cy="3044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242255" y="1661465"/>
            <a:ext cx="105156" cy="1234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8261604" y="1627632"/>
            <a:ext cx="32351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Регуляторная отчётность и модели данных</a:t>
            </a:r>
            <a:endParaRPr lang="en-US" sz="1000" dirty="0"/>
          </a:p>
        </p:txBody>
      </p:sp>
      <p:sp>
        <p:nvSpPr>
          <p:cNvPr id="30" name="Shape 17"/>
          <p:cNvSpPr/>
          <p:nvPr/>
        </p:nvSpPr>
        <p:spPr>
          <a:xfrm>
            <a:off x="457200" y="2360981"/>
            <a:ext cx="3610051" cy="180959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Shape 18"/>
          <p:cNvSpPr/>
          <p:nvPr/>
        </p:nvSpPr>
        <p:spPr>
          <a:xfrm>
            <a:off x="457200" y="2360981"/>
            <a:ext cx="38405" cy="1809598"/>
          </a:xfrm>
          <a:prstGeom prst="roundRect">
            <a:avLst>
              <a:gd name="adj" fmla="val 100250"/>
            </a:avLst>
          </a:prstGeom>
          <a:solidFill>
            <a:srgbClr val="05A651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Shape 19"/>
          <p:cNvSpPr/>
          <p:nvPr/>
        </p:nvSpPr>
        <p:spPr>
          <a:xfrm>
            <a:off x="724205" y="2589581"/>
            <a:ext cx="381305" cy="38130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8446" y="2694737"/>
            <a:ext cx="171907" cy="171907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1218895" y="2654503"/>
            <a:ext cx="1905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требований</a:t>
            </a:r>
            <a:endParaRPr lang="en-US" sz="1300" dirty="0"/>
          </a:p>
        </p:txBody>
      </p:sp>
      <p:sp>
        <p:nvSpPr>
          <p:cNvPr id="35" name="Text 21"/>
          <p:cNvSpPr txBox="1"/>
          <p:nvPr/>
        </p:nvSpPr>
        <p:spPr>
          <a:xfrm>
            <a:off x="724205" y="3085186"/>
            <a:ext cx="31912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Системный анализ бизнес-требований к регуляторным отчетам и составление ТЗ.</a:t>
            </a:r>
            <a:endParaRPr lang="en-US" sz="1000" dirty="0"/>
          </a:p>
        </p:txBody>
      </p:sp>
      <p:sp>
        <p:nvSpPr>
          <p:cNvPr id="36" name="Shape 22"/>
          <p:cNvSpPr/>
          <p:nvPr/>
        </p:nvSpPr>
        <p:spPr>
          <a:xfrm>
            <a:off x="4292194" y="2360981"/>
            <a:ext cx="3610051" cy="180959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Shape 23"/>
          <p:cNvSpPr/>
          <p:nvPr/>
        </p:nvSpPr>
        <p:spPr>
          <a:xfrm>
            <a:off x="4292194" y="2360981"/>
            <a:ext cx="38405" cy="1809598"/>
          </a:xfrm>
          <a:prstGeom prst="roundRect">
            <a:avLst>
              <a:gd name="adj" fmla="val 100250"/>
            </a:avLst>
          </a:prstGeom>
          <a:solidFill>
            <a:srgbClr val="05A651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Shape 24"/>
          <p:cNvSpPr/>
          <p:nvPr/>
        </p:nvSpPr>
        <p:spPr>
          <a:xfrm>
            <a:off x="4559198" y="2589581"/>
            <a:ext cx="381305" cy="38130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6"/>
          <a:srcRect t="-2222" b="-2222"/>
          <a:stretch/>
        </p:blipFill>
        <p:spPr>
          <a:xfrm>
            <a:off x="4688129" y="2694737"/>
            <a:ext cx="123444" cy="171907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5054803" y="2654503"/>
            <a:ext cx="1943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отчетов</a:t>
            </a:r>
            <a:endParaRPr lang="en-US" sz="1300" dirty="0"/>
          </a:p>
        </p:txBody>
      </p:sp>
      <p:sp>
        <p:nvSpPr>
          <p:cNvPr id="41" name="Text 26"/>
          <p:cNvSpPr txBox="1"/>
          <p:nvPr/>
        </p:nvSpPr>
        <p:spPr>
          <a:xfrm>
            <a:off x="4559198" y="3085186"/>
            <a:ext cx="31912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отчетов и моделей (QVD), автообновление и поддержка работы.</a:t>
            </a:r>
            <a:endParaRPr lang="en-US" sz="1000" dirty="0"/>
          </a:p>
        </p:txBody>
      </p:sp>
      <p:sp>
        <p:nvSpPr>
          <p:cNvPr id="42" name="Shape 27"/>
          <p:cNvSpPr/>
          <p:nvPr/>
        </p:nvSpPr>
        <p:spPr>
          <a:xfrm>
            <a:off x="8128102" y="2360981"/>
            <a:ext cx="3610051" cy="180959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Shape 28"/>
          <p:cNvSpPr/>
          <p:nvPr/>
        </p:nvSpPr>
        <p:spPr>
          <a:xfrm>
            <a:off x="8128102" y="2360981"/>
            <a:ext cx="38405" cy="1809598"/>
          </a:xfrm>
          <a:prstGeom prst="roundRect">
            <a:avLst>
              <a:gd name="adj" fmla="val 100250"/>
            </a:avLst>
          </a:prstGeom>
          <a:solidFill>
            <a:srgbClr val="05A651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Shape 29"/>
          <p:cNvSpPr/>
          <p:nvPr/>
        </p:nvSpPr>
        <p:spPr>
          <a:xfrm>
            <a:off x="8395106" y="2589581"/>
            <a:ext cx="381305" cy="38130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99348" y="2694737"/>
            <a:ext cx="171907" cy="171907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889797" y="2654503"/>
            <a:ext cx="18004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 Sap BW</a:t>
            </a:r>
            <a:endParaRPr lang="en-US" sz="1300" dirty="0"/>
          </a:p>
        </p:txBody>
      </p:sp>
      <p:sp>
        <p:nvSpPr>
          <p:cNvPr id="47" name="Text 31"/>
          <p:cNvSpPr txBox="1"/>
          <p:nvPr/>
        </p:nvSpPr>
        <p:spPr>
          <a:xfrm>
            <a:off x="8395106" y="3085186"/>
            <a:ext cx="31912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 функционала регуляторной отчетности в системе SAP BW.</a:t>
            </a:r>
            <a:endParaRPr lang="en-US" sz="1000" dirty="0"/>
          </a:p>
        </p:txBody>
      </p:sp>
      <p:sp>
        <p:nvSpPr>
          <p:cNvPr id="48" name="Shape 32"/>
          <p:cNvSpPr/>
          <p:nvPr/>
        </p:nvSpPr>
        <p:spPr>
          <a:xfrm>
            <a:off x="457200" y="4398264"/>
            <a:ext cx="3610051" cy="200985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9" name="Shape 33"/>
          <p:cNvSpPr/>
          <p:nvPr/>
        </p:nvSpPr>
        <p:spPr>
          <a:xfrm>
            <a:off x="457200" y="4398264"/>
            <a:ext cx="38405" cy="2009851"/>
          </a:xfrm>
          <a:prstGeom prst="roundRect">
            <a:avLst>
              <a:gd name="adj" fmla="val 90273"/>
            </a:avLst>
          </a:prstGeom>
          <a:solidFill>
            <a:srgbClr val="05A651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Shape 34"/>
          <p:cNvSpPr/>
          <p:nvPr/>
        </p:nvSpPr>
        <p:spPr>
          <a:xfrm>
            <a:off x="724205" y="4626864"/>
            <a:ext cx="381305" cy="38130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8"/>
          <a:srcRect t="-2725" b="-2725"/>
          <a:stretch/>
        </p:blipFill>
        <p:spPr>
          <a:xfrm>
            <a:off x="843077" y="4731106"/>
            <a:ext cx="142646" cy="171907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1218895" y="4691786"/>
            <a:ext cx="1543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Ad-hoc запросы</a:t>
            </a:r>
            <a:endParaRPr lang="en-US" sz="1300" dirty="0"/>
          </a:p>
        </p:txBody>
      </p:sp>
      <p:sp>
        <p:nvSpPr>
          <p:cNvPr id="53" name="Text 36"/>
          <p:cNvSpPr txBox="1"/>
          <p:nvPr/>
        </p:nvSpPr>
        <p:spPr>
          <a:xfrm>
            <a:off x="724205" y="5122469"/>
            <a:ext cx="31912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Выгрузка данных по запросам регуляторов в Qlik Sense и Sap BW.</a:t>
            </a:r>
            <a:endParaRPr lang="en-US" sz="1000" dirty="0"/>
          </a:p>
        </p:txBody>
      </p:sp>
      <p:sp>
        <p:nvSpPr>
          <p:cNvPr id="54" name="Shape 37"/>
          <p:cNvSpPr/>
          <p:nvPr/>
        </p:nvSpPr>
        <p:spPr>
          <a:xfrm>
            <a:off x="4292194" y="4398264"/>
            <a:ext cx="3610051" cy="200985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5" name="Shape 38"/>
          <p:cNvSpPr/>
          <p:nvPr/>
        </p:nvSpPr>
        <p:spPr>
          <a:xfrm>
            <a:off x="4292194" y="4398264"/>
            <a:ext cx="38405" cy="2009851"/>
          </a:xfrm>
          <a:prstGeom prst="roundRect">
            <a:avLst>
              <a:gd name="adj" fmla="val 90273"/>
            </a:avLst>
          </a:prstGeom>
          <a:solidFill>
            <a:srgbClr val="05A651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Shape 39"/>
          <p:cNvSpPr/>
          <p:nvPr/>
        </p:nvSpPr>
        <p:spPr>
          <a:xfrm>
            <a:off x="4559198" y="4626864"/>
            <a:ext cx="381305" cy="38130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9"/>
          <a:srcRect t="-1310" b="-1310"/>
          <a:stretch/>
        </p:blipFill>
        <p:spPr>
          <a:xfrm>
            <a:off x="4645152" y="4731106"/>
            <a:ext cx="209398" cy="171907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5054803" y="4691786"/>
            <a:ext cx="162031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и SSBI</a:t>
            </a:r>
            <a:endParaRPr lang="en-US" sz="1300" dirty="0"/>
          </a:p>
        </p:txBody>
      </p:sp>
      <p:sp>
        <p:nvSpPr>
          <p:cNvPr id="59" name="Text 41"/>
          <p:cNvSpPr txBox="1"/>
          <p:nvPr/>
        </p:nvSpPr>
        <p:spPr>
          <a:xfrm>
            <a:off x="4559198" y="5122469"/>
            <a:ext cx="31912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Внутреннее обучение Qlik Sense, SQL Ассистенту, инструкции, консультации пользователей.</a:t>
            </a:r>
            <a:endParaRPr lang="en-US" sz="1000" dirty="0"/>
          </a:p>
        </p:txBody>
      </p:sp>
      <p:sp>
        <p:nvSpPr>
          <p:cNvPr id="60" name="Shape 42"/>
          <p:cNvSpPr/>
          <p:nvPr/>
        </p:nvSpPr>
        <p:spPr>
          <a:xfrm>
            <a:off x="8128102" y="4398264"/>
            <a:ext cx="3610051" cy="200985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1" name="Shape 43"/>
          <p:cNvSpPr/>
          <p:nvPr/>
        </p:nvSpPr>
        <p:spPr>
          <a:xfrm>
            <a:off x="8128102" y="4398264"/>
            <a:ext cx="38405" cy="2009851"/>
          </a:xfrm>
          <a:prstGeom prst="roundRect">
            <a:avLst>
              <a:gd name="adj" fmla="val 90273"/>
            </a:avLst>
          </a:prstGeom>
          <a:solidFill>
            <a:srgbClr val="05A651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Shape 44"/>
          <p:cNvSpPr/>
          <p:nvPr/>
        </p:nvSpPr>
        <p:spPr>
          <a:xfrm>
            <a:off x="8395106" y="4626864"/>
            <a:ext cx="381305" cy="381305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99348" y="4731106"/>
            <a:ext cx="171907" cy="171907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8889797" y="4691786"/>
            <a:ext cx="1143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</a:t>
            </a:r>
            <a:endParaRPr lang="en-US" sz="1300" dirty="0"/>
          </a:p>
        </p:txBody>
      </p:sp>
      <p:sp>
        <p:nvSpPr>
          <p:cNvPr id="65" name="Text 46"/>
          <p:cNvSpPr txBox="1"/>
          <p:nvPr/>
        </p:nvSpPr>
        <p:spPr>
          <a:xfrm>
            <a:off x="8395106" y="5122469"/>
            <a:ext cx="31912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Рассмотрение и решение инцидентов по регуляторной отчетности.</a:t>
            </a:r>
            <a:endParaRPr lang="en-US" sz="1000" dirty="0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/>
        </p:blipFill>
        <p:spPr>
          <a:xfrm>
            <a:off x="609905" y="392278"/>
            <a:ext cx="105156" cy="133502"/>
          </a:xfrm>
          <a:prstGeom prst="rect">
            <a:avLst/>
          </a:prstGeom>
        </p:spPr>
      </p:pic>
      <p:sp>
        <p:nvSpPr>
          <p:cNvPr id="67" name="Text 47"/>
          <p:cNvSpPr txBox="1"/>
          <p:nvPr/>
        </p:nvSpPr>
        <p:spPr>
          <a:xfrm>
            <a:off x="457200" y="727862"/>
            <a:ext cx="777331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Направление: </a:t>
            </a:r>
            <a:r>
              <a:rPr lang="en-US" sz="2200" b="1" kern="0" spc="-56" dirty="0">
                <a:solidFill>
                  <a:srgbClr val="05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регуляторной отчётности</a:t>
            </a:r>
            <a:endParaRPr lang="en-US" sz="2200" dirty="0">
              <a:solidFill>
                <a:srgbClr val="05A651"/>
              </a:solidFill>
            </a:endParaRPr>
          </a:p>
        </p:txBody>
      </p:sp>
      <p:sp>
        <p:nvSpPr>
          <p:cNvPr id="68" name="Text 48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354105" y="304495"/>
            <a:ext cx="381305" cy="381305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71" name="Shape 50"/>
          <p:cNvSpPr/>
          <p:nvPr/>
        </p:nvSpPr>
        <p:spPr>
          <a:xfrm>
            <a:off x="457200" y="304495"/>
            <a:ext cx="905256" cy="314554"/>
          </a:xfrm>
          <a:prstGeom prst="roundRect">
            <a:avLst>
              <a:gd name="adj" fmla="val 290697"/>
            </a:avLst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Text 51"/>
          <p:cNvSpPr/>
          <p:nvPr/>
        </p:nvSpPr>
        <p:spPr>
          <a:xfrm>
            <a:off x="790956" y="304495"/>
            <a:ext cx="629107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УРСО </a:t>
            </a:r>
            <a:endParaRPr lang="en-US" sz="1000" dirty="0"/>
          </a:p>
        </p:txBody>
      </p:sp>
      <p:pic>
        <p:nvPicPr>
          <p:cNvPr id="73" name="Image 5" descr="preencoded.png">
            <a:extLst>
              <a:ext uri="{FF2B5EF4-FFF2-40B4-BE49-F238E27FC236}">
                <a16:creationId xmlns:a16="http://schemas.microsoft.com/office/drawing/2014/main" id="{9338EAA7-A0CF-082E-DF4E-909FE3C9B0B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75" name="Image 1" descr="preencoded.png">
            <a:extLst>
              <a:ext uri="{FF2B5EF4-FFF2-40B4-BE49-F238E27FC236}">
                <a16:creationId xmlns:a16="http://schemas.microsoft.com/office/drawing/2014/main" id="{A49F5DB1-0011-D494-A8D5-C85BAA1B50F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76" name="Image 2" descr="preencoded.png">
            <a:extLst>
              <a:ext uri="{FF2B5EF4-FFF2-40B4-BE49-F238E27FC236}">
                <a16:creationId xmlns:a16="http://schemas.microsoft.com/office/drawing/2014/main" id="{8485F7EF-6B71-2027-EB1A-3E7A69946B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FF2A8EB4-F29B-AAED-DE08-01E59DE3E4BD}"/>
              </a:ext>
            </a:extLst>
          </p:cNvPr>
          <p:cNvGrpSpPr/>
          <p:nvPr/>
        </p:nvGrpSpPr>
        <p:grpSpPr>
          <a:xfrm>
            <a:off x="457200" y="4647987"/>
            <a:ext cx="11277295" cy="1505925"/>
            <a:chOff x="457200" y="4647987"/>
            <a:chExt cx="11277295" cy="1505925"/>
          </a:xfrm>
        </p:grpSpPr>
        <p:sp>
          <p:nvSpPr>
            <p:cNvPr id="13" name="Shape 6"/>
            <p:cNvSpPr/>
            <p:nvPr/>
          </p:nvSpPr>
          <p:spPr>
            <a:xfrm>
              <a:off x="457200" y="4648810"/>
              <a:ext cx="11277295" cy="1505102"/>
            </a:xfrm>
            <a:prstGeom prst="roundRect">
              <a:avLst>
                <a:gd name="adj" fmla="val 4614"/>
              </a:avLst>
            </a:prstGeom>
            <a:solidFill>
              <a:srgbClr val="FFFFFF"/>
            </a:solidFill>
            <a:ln/>
            <a:effectLst>
              <a:outerShdw blurRad="1016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Shape 7"/>
            <p:cNvSpPr/>
            <p:nvPr/>
          </p:nvSpPr>
          <p:spPr>
            <a:xfrm>
              <a:off x="457200" y="4648810"/>
              <a:ext cx="57607" cy="1505102"/>
            </a:xfrm>
            <a:prstGeom prst="roundRect">
              <a:avLst>
                <a:gd name="adj" fmla="val 120555"/>
              </a:avLst>
            </a:prstGeom>
            <a:solidFill>
              <a:srgbClr val="059669"/>
            </a:solidFill>
            <a:ln w="12700">
              <a:solidFill>
                <a:srgbClr val="05966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15" name="Image 5" descr="preencoded.png"/>
            <p:cNvPicPr>
              <a:picLocks noChangeAspect="1"/>
            </p:cNvPicPr>
            <p:nvPr/>
          </p:nvPicPr>
          <p:blipFill>
            <a:blip r:embed="rId3"/>
            <a:srcRect l="-4541" r="-4541"/>
            <a:stretch/>
          </p:blipFill>
          <p:spPr>
            <a:xfrm rot="1353513">
              <a:off x="10728606" y="4647987"/>
              <a:ext cx="936457" cy="1144644"/>
            </a:xfrm>
            <a:prstGeom prst="rect">
              <a:avLst/>
            </a:prstGeom>
          </p:spPr>
        </p:pic>
        <p:sp>
          <p:nvSpPr>
            <p:cNvPr id="16" name="Text 8"/>
            <p:cNvSpPr txBox="1"/>
            <p:nvPr/>
          </p:nvSpPr>
          <p:spPr>
            <a:xfrm>
              <a:off x="895198" y="4877410"/>
              <a:ext cx="10573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4B556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План переноса:</a:t>
              </a:r>
              <a:endParaRPr lang="en-US" sz="1800" dirty="0"/>
            </a:p>
          </p:txBody>
        </p:sp>
        <p:sp>
          <p:nvSpPr>
            <p:cNvPr id="17" name="Shape 9"/>
            <p:cNvSpPr/>
            <p:nvPr/>
          </p:nvSpPr>
          <p:spPr>
            <a:xfrm>
              <a:off x="854254" y="5561109"/>
              <a:ext cx="75895" cy="75895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Text 10"/>
            <p:cNvSpPr txBox="1"/>
            <p:nvPr/>
          </p:nvSpPr>
          <p:spPr>
            <a:xfrm>
              <a:off x="1047902" y="5448910"/>
              <a:ext cx="18955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 1 кв 2026 г</a:t>
              </a:r>
              <a:endParaRPr lang="en-US" sz="1600" dirty="0"/>
            </a:p>
          </p:txBody>
        </p:sp>
        <p:sp>
          <p:nvSpPr>
            <p:cNvPr id="19" name="Text 11"/>
            <p:cNvSpPr txBox="1"/>
            <p:nvPr/>
          </p:nvSpPr>
          <p:spPr>
            <a:xfrm>
              <a:off x="1047902" y="5715915"/>
              <a:ext cx="189555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B0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30 отчетов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20" name="Shape 12"/>
            <p:cNvSpPr/>
            <p:nvPr/>
          </p:nvSpPr>
          <p:spPr>
            <a:xfrm>
              <a:off x="2976576" y="5561109"/>
              <a:ext cx="75895" cy="75895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1" name="Text 13"/>
            <p:cNvSpPr txBox="1"/>
            <p:nvPr/>
          </p:nvSpPr>
          <p:spPr>
            <a:xfrm>
              <a:off x="3170225" y="5448910"/>
              <a:ext cx="18955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во 2 кв 2026 г</a:t>
              </a:r>
              <a:endParaRPr lang="en-US" sz="1600" dirty="0"/>
            </a:p>
          </p:txBody>
        </p:sp>
        <p:sp>
          <p:nvSpPr>
            <p:cNvPr id="22" name="Text 14"/>
            <p:cNvSpPr txBox="1"/>
            <p:nvPr/>
          </p:nvSpPr>
          <p:spPr>
            <a:xfrm>
              <a:off x="3170225" y="5715915"/>
              <a:ext cx="189555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B0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50 отчетов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23" name="Shape 15"/>
            <p:cNvSpPr/>
            <p:nvPr/>
          </p:nvSpPr>
          <p:spPr>
            <a:xfrm>
              <a:off x="5098898" y="5561109"/>
              <a:ext cx="75895" cy="75895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4" name="Text 16"/>
            <p:cNvSpPr txBox="1"/>
            <p:nvPr/>
          </p:nvSpPr>
          <p:spPr>
            <a:xfrm>
              <a:off x="5291633" y="5448910"/>
              <a:ext cx="18955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 3 кв 2026 г</a:t>
              </a:r>
              <a:endParaRPr lang="en-US" sz="1600" dirty="0"/>
            </a:p>
          </p:txBody>
        </p:sp>
        <p:sp>
          <p:nvSpPr>
            <p:cNvPr id="25" name="Text 17"/>
            <p:cNvSpPr txBox="1"/>
            <p:nvPr/>
          </p:nvSpPr>
          <p:spPr>
            <a:xfrm>
              <a:off x="5291633" y="5715915"/>
              <a:ext cx="189555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B0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60 отчетов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26" name="Shape 18"/>
            <p:cNvSpPr/>
            <p:nvPr/>
          </p:nvSpPr>
          <p:spPr>
            <a:xfrm>
              <a:off x="7221221" y="5561109"/>
              <a:ext cx="75895" cy="75895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27" name="Text 19"/>
            <p:cNvSpPr txBox="1"/>
            <p:nvPr/>
          </p:nvSpPr>
          <p:spPr>
            <a:xfrm>
              <a:off x="7413955" y="5448910"/>
              <a:ext cx="18955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 4 кв 2026 г</a:t>
              </a:r>
              <a:endParaRPr lang="en-US" sz="1600" dirty="0"/>
            </a:p>
          </p:txBody>
        </p:sp>
        <p:sp>
          <p:nvSpPr>
            <p:cNvPr id="28" name="Text 20"/>
            <p:cNvSpPr txBox="1"/>
            <p:nvPr/>
          </p:nvSpPr>
          <p:spPr>
            <a:xfrm>
              <a:off x="7413955" y="5715915"/>
              <a:ext cx="189555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B0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90 отчетов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29" name="Shape 21"/>
            <p:cNvSpPr/>
            <p:nvPr/>
          </p:nvSpPr>
          <p:spPr>
            <a:xfrm>
              <a:off x="9342629" y="5561109"/>
              <a:ext cx="75895" cy="75895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0" name="Text 22"/>
            <p:cNvSpPr txBox="1"/>
            <p:nvPr/>
          </p:nvSpPr>
          <p:spPr>
            <a:xfrm>
              <a:off x="9536278" y="5448910"/>
              <a:ext cx="18955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в 1 кв 2027 г</a:t>
              </a:r>
              <a:endParaRPr lang="en-US" sz="1600" dirty="0"/>
            </a:p>
          </p:txBody>
        </p:sp>
        <p:sp>
          <p:nvSpPr>
            <p:cNvPr id="31" name="Text 23"/>
            <p:cNvSpPr txBox="1"/>
            <p:nvPr/>
          </p:nvSpPr>
          <p:spPr>
            <a:xfrm>
              <a:off x="9536278" y="5715915"/>
              <a:ext cx="189555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00B0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65 отчетов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48E1932-185F-2151-BC7E-7063C65626FF}"/>
              </a:ext>
            </a:extLst>
          </p:cNvPr>
          <p:cNvGrpSpPr/>
          <p:nvPr/>
        </p:nvGrpSpPr>
        <p:grpSpPr>
          <a:xfrm>
            <a:off x="457200" y="1477807"/>
            <a:ext cx="11278209" cy="2667305"/>
            <a:chOff x="457200" y="1477807"/>
            <a:chExt cx="11278209" cy="2667305"/>
          </a:xfrm>
        </p:grpSpPr>
        <p:sp>
          <p:nvSpPr>
            <p:cNvPr id="5" name="Shape 2"/>
            <p:cNvSpPr/>
            <p:nvPr/>
          </p:nvSpPr>
          <p:spPr>
            <a:xfrm>
              <a:off x="457200" y="1477807"/>
              <a:ext cx="2648102" cy="2667305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28446" y="1858197"/>
              <a:ext cx="1904695" cy="1904695"/>
            </a:xfrm>
            <a:prstGeom prst="rect">
              <a:avLst/>
            </a:prstGeom>
          </p:spPr>
        </p:pic>
        <p:sp>
          <p:nvSpPr>
            <p:cNvPr id="7" name="Shape 3"/>
            <p:cNvSpPr/>
            <p:nvPr/>
          </p:nvSpPr>
          <p:spPr>
            <a:xfrm>
              <a:off x="3333902" y="1477807"/>
              <a:ext cx="2648102" cy="2667305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705149" y="1858197"/>
              <a:ext cx="1904695" cy="1904695"/>
            </a:xfrm>
            <a:prstGeom prst="rect">
              <a:avLst/>
            </a:prstGeom>
          </p:spPr>
        </p:pic>
        <p:sp>
          <p:nvSpPr>
            <p:cNvPr id="9" name="Shape 4"/>
            <p:cNvSpPr/>
            <p:nvPr/>
          </p:nvSpPr>
          <p:spPr>
            <a:xfrm>
              <a:off x="6210605" y="1477807"/>
              <a:ext cx="2648102" cy="2667305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581851" y="1858197"/>
              <a:ext cx="1904695" cy="1904695"/>
            </a:xfrm>
            <a:prstGeom prst="rect">
              <a:avLst/>
            </a:prstGeom>
          </p:spPr>
        </p:pic>
        <p:sp>
          <p:nvSpPr>
            <p:cNvPr id="11" name="Shape 5"/>
            <p:cNvSpPr/>
            <p:nvPr/>
          </p:nvSpPr>
          <p:spPr>
            <a:xfrm>
              <a:off x="9087307" y="1477807"/>
              <a:ext cx="2648102" cy="2667305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635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/>
            </a:p>
          </p:txBody>
        </p:sp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9458554" y="1858197"/>
              <a:ext cx="1904695" cy="1904695"/>
            </a:xfrm>
            <a:prstGeom prst="rect">
              <a:avLst/>
            </a:prstGeom>
          </p:spPr>
        </p:pic>
        <p:pic>
          <p:nvPicPr>
            <p:cNvPr id="32" name="Image 6" descr="preencoded.png"/>
            <p:cNvPicPr>
              <a:picLocks noChangeAspect="1"/>
            </p:cNvPicPr>
            <p:nvPr/>
          </p:nvPicPr>
          <p:blipFill>
            <a:blip r:embed="rId8"/>
            <a:srcRect t="-80" b="-80"/>
            <a:stretch/>
          </p:blipFill>
          <p:spPr>
            <a:xfrm>
              <a:off x="3152851" y="2686644"/>
              <a:ext cx="142646" cy="228600"/>
            </a:xfrm>
            <a:prstGeom prst="rect">
              <a:avLst/>
            </a:prstGeom>
          </p:spPr>
        </p:pic>
        <p:pic>
          <p:nvPicPr>
            <p:cNvPr id="33" name="Image 7" descr="preencoded.png"/>
            <p:cNvPicPr>
              <a:picLocks noChangeAspect="1"/>
            </p:cNvPicPr>
            <p:nvPr/>
          </p:nvPicPr>
          <p:blipFill>
            <a:blip r:embed="rId8"/>
            <a:srcRect t="-80" b="-80"/>
            <a:stretch/>
          </p:blipFill>
          <p:spPr>
            <a:xfrm>
              <a:off x="6029554" y="2686644"/>
              <a:ext cx="142646" cy="228600"/>
            </a:xfrm>
            <a:prstGeom prst="rect">
              <a:avLst/>
            </a:prstGeom>
          </p:spPr>
        </p:pic>
        <p:pic>
          <p:nvPicPr>
            <p:cNvPr id="34" name="Image 8" descr="preencoded.png"/>
            <p:cNvPicPr>
              <a:picLocks noChangeAspect="1"/>
            </p:cNvPicPr>
            <p:nvPr/>
          </p:nvPicPr>
          <p:blipFill>
            <a:blip r:embed="rId8"/>
            <a:srcRect t="-80" b="-80"/>
            <a:stretch/>
          </p:blipFill>
          <p:spPr>
            <a:xfrm>
              <a:off x="8906256" y="2686644"/>
              <a:ext cx="142646" cy="228600"/>
            </a:xfrm>
            <a:prstGeom prst="rect">
              <a:avLst/>
            </a:prstGeom>
          </p:spPr>
        </p:pic>
        <p:sp>
          <p:nvSpPr>
            <p:cNvPr id="35" name="Text 24"/>
            <p:cNvSpPr txBox="1"/>
            <p:nvPr/>
          </p:nvSpPr>
          <p:spPr>
            <a:xfrm>
              <a:off x="1377086" y="2464444"/>
              <a:ext cx="8101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953</a:t>
              </a:r>
              <a:endParaRPr lang="en-US" sz="3000" dirty="0"/>
            </a:p>
          </p:txBody>
        </p:sp>
        <p:sp>
          <p:nvSpPr>
            <p:cNvPr id="36" name="Text 25"/>
            <p:cNvSpPr txBox="1"/>
            <p:nvPr/>
          </p:nvSpPr>
          <p:spPr>
            <a:xfrm>
              <a:off x="1189770" y="2883240"/>
              <a:ext cx="1070367" cy="2002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Всего задач</a:t>
              </a:r>
              <a:endParaRPr lang="en-US" sz="1000" dirty="0">
                <a:latin typeface="Montserrat Medium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в системе</a:t>
              </a:r>
              <a:endParaRPr lang="en-US" sz="1000" dirty="0">
                <a:latin typeface="Montserrat Medium" pitchFamily="2" charset="0"/>
              </a:endParaRPr>
            </a:p>
          </p:txBody>
        </p:sp>
        <p:sp>
          <p:nvSpPr>
            <p:cNvPr id="37" name="Text 26"/>
            <p:cNvSpPr txBox="1"/>
            <p:nvPr/>
          </p:nvSpPr>
          <p:spPr>
            <a:xfrm>
              <a:off x="4256532" y="2464444"/>
              <a:ext cx="8101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599</a:t>
              </a:r>
              <a:endParaRPr lang="en-US" sz="3000" dirty="0"/>
            </a:p>
          </p:txBody>
        </p:sp>
        <p:sp>
          <p:nvSpPr>
            <p:cNvPr id="38" name="Text 27"/>
            <p:cNvSpPr txBox="1"/>
            <p:nvPr/>
          </p:nvSpPr>
          <p:spPr>
            <a:xfrm>
              <a:off x="4266590" y="2883240"/>
              <a:ext cx="7909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Завершено</a:t>
              </a:r>
              <a:endParaRPr lang="en-US" sz="1000" dirty="0">
                <a:latin typeface="Montserrat Medium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и в работе</a:t>
              </a:r>
              <a:endParaRPr lang="en-US" sz="1000" dirty="0">
                <a:latin typeface="Montserrat Medium" pitchFamily="2" charset="0"/>
              </a:endParaRPr>
            </a:p>
          </p:txBody>
        </p:sp>
        <p:sp>
          <p:nvSpPr>
            <p:cNvPr id="39" name="Text 28"/>
            <p:cNvSpPr txBox="1"/>
            <p:nvPr/>
          </p:nvSpPr>
          <p:spPr>
            <a:xfrm>
              <a:off x="7087514" y="2464444"/>
              <a:ext cx="89611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59</a:t>
              </a:r>
              <a:endParaRPr lang="en-US" sz="3000" dirty="0"/>
            </a:p>
          </p:txBody>
        </p:sp>
        <p:sp>
          <p:nvSpPr>
            <p:cNvPr id="40" name="Text 29"/>
            <p:cNvSpPr txBox="1"/>
            <p:nvPr/>
          </p:nvSpPr>
          <p:spPr>
            <a:xfrm>
              <a:off x="7013447" y="2883240"/>
              <a:ext cx="98023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Утеряли</a:t>
              </a:r>
              <a:endParaRPr lang="en-US" sz="1000" dirty="0">
                <a:latin typeface="Montserrat Medium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актуальность</a:t>
              </a:r>
              <a:endParaRPr lang="en-US" sz="1000" dirty="0">
                <a:latin typeface="Montserrat Medium" pitchFamily="2" charset="0"/>
              </a:endParaRPr>
            </a:p>
          </p:txBody>
        </p:sp>
        <p:sp>
          <p:nvSpPr>
            <p:cNvPr id="41" name="Text 30"/>
            <p:cNvSpPr txBox="1"/>
            <p:nvPr/>
          </p:nvSpPr>
          <p:spPr>
            <a:xfrm>
              <a:off x="10019081" y="2464444"/>
              <a:ext cx="79095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295</a:t>
              </a:r>
              <a:endParaRPr lang="en-US" sz="3000" dirty="0"/>
            </a:p>
          </p:txBody>
        </p:sp>
        <p:sp>
          <p:nvSpPr>
            <p:cNvPr id="42" name="Text 31"/>
            <p:cNvSpPr txBox="1"/>
            <p:nvPr/>
          </p:nvSpPr>
          <p:spPr>
            <a:xfrm>
              <a:off x="10029139" y="2883240"/>
              <a:ext cx="771754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Осталось</a:t>
              </a:r>
              <a:endParaRPr lang="en-US" sz="1000" dirty="0">
                <a:latin typeface="Montserrat Medium" pitchFamily="2" charset="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64748B"/>
                  </a:solidFill>
                  <a:latin typeface="Montserrat Medium" pitchFamily="2" charset="0"/>
                  <a:ea typeface="Montserrat" pitchFamily="34" charset="-122"/>
                  <a:cs typeface="Montserrat" pitchFamily="34" charset="-120"/>
                </a:rPr>
                <a:t>к переносу</a:t>
              </a:r>
              <a:endParaRPr lang="en-US" sz="1000" dirty="0">
                <a:latin typeface="Montserrat Medium" pitchFamily="2" charset="0"/>
              </a:endParaRPr>
            </a:p>
          </p:txBody>
        </p:sp>
        <p:pic>
          <p:nvPicPr>
            <p:cNvPr id="43" name="Image 9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2619756" y="1620453"/>
              <a:ext cx="342900" cy="342900"/>
            </a:xfrm>
            <a:prstGeom prst="rect">
              <a:avLst/>
            </a:prstGeom>
          </p:spPr>
        </p:pic>
        <p:pic>
          <p:nvPicPr>
            <p:cNvPr id="44" name="Image 10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714854" y="1715551"/>
              <a:ext cx="152705" cy="152705"/>
            </a:xfrm>
            <a:prstGeom prst="rect">
              <a:avLst/>
            </a:prstGeom>
          </p:spPr>
        </p:pic>
        <p:pic>
          <p:nvPicPr>
            <p:cNvPr id="45" name="Image 11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495544" y="1620453"/>
              <a:ext cx="342900" cy="342900"/>
            </a:xfrm>
            <a:prstGeom prst="rect">
              <a:avLst/>
            </a:prstGeom>
          </p:spPr>
        </p:pic>
        <p:pic>
          <p:nvPicPr>
            <p:cNvPr id="46" name="Image 12" descr="preencoded.png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5591556" y="1715551"/>
              <a:ext cx="152705" cy="152705"/>
            </a:xfrm>
            <a:prstGeom prst="rect">
              <a:avLst/>
            </a:prstGeom>
          </p:spPr>
        </p:pic>
        <p:pic>
          <p:nvPicPr>
            <p:cNvPr id="47" name="Image 13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8372246" y="1620453"/>
              <a:ext cx="342900" cy="342900"/>
            </a:xfrm>
            <a:prstGeom prst="rect">
              <a:avLst/>
            </a:prstGeom>
          </p:spPr>
        </p:pic>
        <p:pic>
          <p:nvPicPr>
            <p:cNvPr id="48" name="Image 14" descr="preencoded.png"/>
            <p:cNvPicPr>
              <a:picLocks noChangeAspect="1"/>
            </p:cNvPicPr>
            <p:nvPr/>
          </p:nvPicPr>
          <p:blipFill>
            <a:blip r:embed="rId12"/>
            <a:srcRect t="-43" b="-43"/>
            <a:stretch/>
          </p:blipFill>
          <p:spPr>
            <a:xfrm>
              <a:off x="8477402" y="1715551"/>
              <a:ext cx="133502" cy="152705"/>
            </a:xfrm>
            <a:prstGeom prst="rect">
              <a:avLst/>
            </a:prstGeom>
          </p:spPr>
        </p:pic>
        <p:pic>
          <p:nvPicPr>
            <p:cNvPr id="49" name="Image 15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1248949" y="1620453"/>
              <a:ext cx="342900" cy="342900"/>
            </a:xfrm>
            <a:prstGeom prst="rect">
              <a:avLst/>
            </a:prstGeom>
          </p:spPr>
        </p:pic>
        <p:pic>
          <p:nvPicPr>
            <p:cNvPr id="50" name="Image 16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11344046" y="1715551"/>
              <a:ext cx="152705" cy="152705"/>
            </a:xfrm>
            <a:prstGeom prst="rect">
              <a:avLst/>
            </a:prstGeom>
          </p:spPr>
        </p:pic>
      </p:grpSp>
      <p:sp>
        <p:nvSpPr>
          <p:cNvPr id="52" name="Text 32"/>
          <p:cNvSpPr txBox="1"/>
          <p:nvPr/>
        </p:nvSpPr>
        <p:spPr>
          <a:xfrm>
            <a:off x="457200" y="727862"/>
            <a:ext cx="7620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Работы в направлении регуляторной отчётности</a:t>
            </a:r>
            <a:endParaRPr lang="en-US" sz="2200" dirty="0"/>
          </a:p>
        </p:txBody>
      </p:sp>
      <p:sp>
        <p:nvSpPr>
          <p:cNvPr id="53" name="Text 33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354105" y="304495"/>
            <a:ext cx="381305" cy="381305"/>
          </a:xfrm>
          <a:prstGeom prst="rect">
            <a:avLst/>
          </a:prstGeom>
        </p:spPr>
      </p:pic>
      <p:sp>
        <p:nvSpPr>
          <p:cNvPr id="55" name="Text 34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6641CFC-F827-03BB-47F5-044A8A314845}"/>
              </a:ext>
            </a:extLst>
          </p:cNvPr>
          <p:cNvGrpSpPr/>
          <p:nvPr/>
        </p:nvGrpSpPr>
        <p:grpSpPr>
          <a:xfrm>
            <a:off x="457200" y="304495"/>
            <a:ext cx="962863" cy="314554"/>
            <a:chOff x="457200" y="304495"/>
            <a:chExt cx="962863" cy="314554"/>
          </a:xfrm>
        </p:grpSpPr>
        <p:pic>
          <p:nvPicPr>
            <p:cNvPr id="51" name="Image 17" descr="preencoded.png"/>
            <p:cNvPicPr>
              <a:picLocks noChangeAspect="1"/>
            </p:cNvPicPr>
            <p:nvPr/>
          </p:nvPicPr>
          <p:blipFill>
            <a:blip r:embed="rId15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56" name="Shape 35"/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57" name="Text 36"/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0280521F-AC97-785E-6D42-7DBF9B7F6E2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457200" y="1319479"/>
            <a:ext cx="11277295" cy="819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50053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777" y="1633118"/>
            <a:ext cx="237744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28954" y="1481328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проекта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228954" y="1671523"/>
            <a:ext cx="15526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человек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31619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285439" y="1652321"/>
            <a:ext cx="133502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664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590849" y="1652321"/>
            <a:ext cx="133502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77190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895344" y="1652321"/>
            <a:ext cx="133502" cy="1527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076395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199839" y="1652321"/>
            <a:ext cx="133502" cy="15270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380890" y="1538021"/>
            <a:ext cx="381305" cy="38130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505249" y="1652321"/>
            <a:ext cx="133502" cy="1527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927287" y="1633118"/>
            <a:ext cx="31519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Qlik Sense • Qlik Nprinting • Отчетность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457200" y="2367382"/>
            <a:ext cx="5486400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1"/>
          <p:cNvSpPr/>
          <p:nvPr/>
        </p:nvSpPr>
        <p:spPr>
          <a:xfrm>
            <a:off x="457200" y="2367382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2"/>
          <p:cNvSpPr/>
          <p:nvPr/>
        </p:nvSpPr>
        <p:spPr>
          <a:xfrm>
            <a:off x="647395" y="25191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2652674"/>
            <a:ext cx="190195" cy="19019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257300" y="251917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Qlik Sense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1257300" y="2824582"/>
            <a:ext cx="4610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пользователей, предоставление доступов, рассмотрение инцидентов, подготовка материалов на закуп лицензии.</a:t>
            </a:r>
            <a:endParaRPr lang="en-US" sz="1000" dirty="0"/>
          </a:p>
        </p:txBody>
      </p:sp>
      <p:sp>
        <p:nvSpPr>
          <p:cNvPr id="26" name="Shape 15"/>
          <p:cNvSpPr/>
          <p:nvPr/>
        </p:nvSpPr>
        <p:spPr>
          <a:xfrm>
            <a:off x="6248095" y="2367382"/>
            <a:ext cx="5486400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16"/>
          <p:cNvSpPr/>
          <p:nvPr/>
        </p:nvSpPr>
        <p:spPr>
          <a:xfrm>
            <a:off x="6248095" y="2367382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17"/>
          <p:cNvSpPr/>
          <p:nvPr/>
        </p:nvSpPr>
        <p:spPr>
          <a:xfrm>
            <a:off x="6439205" y="2519172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2652674"/>
            <a:ext cx="190195" cy="19019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048195" y="251917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Nprinting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7048195" y="2824582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рассылок отчетов из Qlik Sense по маршруту заказчика (почта или сетевая папка), поддержка и доступы.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457200" y="4034333"/>
            <a:ext cx="5486400" cy="1295705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21"/>
          <p:cNvSpPr/>
          <p:nvPr/>
        </p:nvSpPr>
        <p:spPr>
          <a:xfrm>
            <a:off x="457200" y="4034333"/>
            <a:ext cx="38405" cy="1295705"/>
          </a:xfrm>
          <a:prstGeom prst="roundRect">
            <a:avLst>
              <a:gd name="adj" fmla="val 1400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Shape 22"/>
          <p:cNvSpPr/>
          <p:nvPr/>
        </p:nvSpPr>
        <p:spPr>
          <a:xfrm>
            <a:off x="647395" y="4187038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767182" y="4320540"/>
            <a:ext cx="219456" cy="1901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257300" y="418703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SSBI платформы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1257300" y="449153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модели данных в разрезе продуктов (на QVD файлах) и построение конструктора отчетов (визуализация).</a:t>
            </a:r>
            <a:endParaRPr lang="en-US" sz="1000" dirty="0"/>
          </a:p>
        </p:txBody>
      </p:sp>
      <p:sp>
        <p:nvSpPr>
          <p:cNvPr id="38" name="Shape 25"/>
          <p:cNvSpPr/>
          <p:nvPr/>
        </p:nvSpPr>
        <p:spPr>
          <a:xfrm>
            <a:off x="6248095" y="4034333"/>
            <a:ext cx="5486400" cy="1295705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9" name="Shape 26"/>
          <p:cNvSpPr/>
          <p:nvPr/>
        </p:nvSpPr>
        <p:spPr>
          <a:xfrm>
            <a:off x="6248095" y="4034333"/>
            <a:ext cx="38405" cy="1295705"/>
          </a:xfrm>
          <a:prstGeom prst="roundRect">
            <a:avLst>
              <a:gd name="adj" fmla="val 140055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Shape 27"/>
          <p:cNvSpPr/>
          <p:nvPr/>
        </p:nvSpPr>
        <p:spPr>
          <a:xfrm>
            <a:off x="6439205" y="4187038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48018" y="4320540"/>
            <a:ext cx="237744" cy="19019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048195" y="418703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Внутреннее обучение</a:t>
            </a:r>
            <a:endParaRPr lang="en-US" sz="1300" dirty="0"/>
          </a:p>
        </p:txBody>
      </p:sp>
      <p:sp>
        <p:nvSpPr>
          <p:cNvPr id="43" name="Text 29"/>
          <p:cNvSpPr txBox="1"/>
          <p:nvPr/>
        </p:nvSpPr>
        <p:spPr>
          <a:xfrm>
            <a:off x="7048195" y="449153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культуры SSBI: проведение внутреннего обучения работников Банка инструментам Qlik Sense.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457200" y="5518404"/>
            <a:ext cx="11277295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5" name="Shape 31"/>
          <p:cNvSpPr/>
          <p:nvPr/>
        </p:nvSpPr>
        <p:spPr>
          <a:xfrm>
            <a:off x="457200" y="5518404"/>
            <a:ext cx="38405" cy="1114654"/>
          </a:xfrm>
          <a:prstGeom prst="roundRect">
            <a:avLst>
              <a:gd name="adj" fmla="val 162799"/>
            </a:avLst>
          </a:prstGeom>
          <a:solidFill>
            <a:srgbClr val="00A651"/>
          </a:solidFill>
          <a:ln w="12700">
            <a:solidFill>
              <a:srgbClr val="00A6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32"/>
          <p:cNvSpPr/>
          <p:nvPr/>
        </p:nvSpPr>
        <p:spPr>
          <a:xfrm>
            <a:off x="647395" y="5671109"/>
            <a:ext cx="457200" cy="457200"/>
          </a:xfrm>
          <a:prstGeom prst="ellipse">
            <a:avLst/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767182" y="5804611"/>
            <a:ext cx="219456" cy="19019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257300" y="5671109"/>
            <a:ext cx="73728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отчетность</a:t>
            </a:r>
            <a:endParaRPr lang="en-US" sz="1300" dirty="0"/>
          </a:p>
        </p:txBody>
      </p:sp>
      <p:sp>
        <p:nvSpPr>
          <p:cNvPr id="49" name="Text 34"/>
          <p:cNvSpPr txBox="1"/>
          <p:nvPr/>
        </p:nvSpPr>
        <p:spPr>
          <a:xfrm>
            <a:off x="1257300" y="5975604"/>
            <a:ext cx="7555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новых и доработка существующих управленческих отчетов для принятия бизнес-решений.</a:t>
            </a:r>
            <a:endParaRPr lang="en-US" sz="1000" dirty="0"/>
          </a:p>
        </p:txBody>
      </p:sp>
      <p:sp>
        <p:nvSpPr>
          <p:cNvPr id="51" name="Shape 35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2" name="Shape 36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38"/>
          <p:cNvSpPr txBox="1"/>
          <p:nvPr/>
        </p:nvSpPr>
        <p:spPr>
          <a:xfrm>
            <a:off x="457200" y="626092"/>
            <a:ext cx="7547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Направление</a:t>
            </a: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 развитие SSBI</a:t>
            </a:r>
            <a:endParaRPr lang="en-US" sz="2200" dirty="0"/>
          </a:p>
        </p:txBody>
      </p:sp>
      <p:sp>
        <p:nvSpPr>
          <p:cNvPr id="56" name="Shape 39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40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8" name="Text 41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59" name="Image 5" descr="preencoded.png">
            <a:extLst>
              <a:ext uri="{FF2B5EF4-FFF2-40B4-BE49-F238E27FC236}">
                <a16:creationId xmlns:a16="http://schemas.microsoft.com/office/drawing/2014/main" id="{687E97A0-A12B-1C9C-29CD-499F3DB299A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8B92D6DB-0455-7651-6E80-83EAC85BAB31}"/>
              </a:ext>
            </a:extLst>
          </p:cNvPr>
          <p:cNvGrpSpPr/>
          <p:nvPr/>
        </p:nvGrpSpPr>
        <p:grpSpPr>
          <a:xfrm>
            <a:off x="410566" y="304311"/>
            <a:ext cx="962863" cy="314554"/>
            <a:chOff x="457200" y="304495"/>
            <a:chExt cx="962863" cy="314554"/>
          </a:xfrm>
        </p:grpSpPr>
        <p:pic>
          <p:nvPicPr>
            <p:cNvPr id="60" name="Image 17" descr="preencoded.png">
              <a:extLst>
                <a:ext uri="{FF2B5EF4-FFF2-40B4-BE49-F238E27FC236}">
                  <a16:creationId xmlns:a16="http://schemas.microsoft.com/office/drawing/2014/main" id="{3DD188B8-7A28-0E2C-3214-D6B8DF98E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61" name="Shape 35">
              <a:extLst>
                <a:ext uri="{FF2B5EF4-FFF2-40B4-BE49-F238E27FC236}">
                  <a16:creationId xmlns:a16="http://schemas.microsoft.com/office/drawing/2014/main" id="{23BCD3CB-3358-1B53-0047-2F3E14DE1038}"/>
                </a:ext>
              </a:extLst>
            </p:cNvPr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62" name="Text 36">
              <a:extLst>
                <a:ext uri="{FF2B5EF4-FFF2-40B4-BE49-F238E27FC236}">
                  <a16:creationId xmlns:a16="http://schemas.microsoft.com/office/drawing/2014/main" id="{20EB0A51-245D-EF74-D7DD-C84559A8BB3F}"/>
                </a:ext>
              </a:extLst>
            </p:cNvPr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090879"/>
            <a:ext cx="12191695" cy="57726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609905" y="1852574"/>
            <a:ext cx="3403397" cy="4624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5139" y="2414930"/>
            <a:ext cx="28529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Внутренние курсы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781099" y="3085427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1327251" y="4226357"/>
            <a:ext cx="1841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</a:t>
            </a:r>
            <a:endParaRPr lang="en-US" sz="5400" dirty="0"/>
          </a:p>
        </p:txBody>
      </p:sp>
      <p:sp>
        <p:nvSpPr>
          <p:cNvPr id="13" name="Text 7"/>
          <p:cNvSpPr txBox="1"/>
          <p:nvPr/>
        </p:nvSpPr>
        <p:spPr>
          <a:xfrm>
            <a:off x="1628546" y="4985208"/>
            <a:ext cx="1239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сотрудников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394606" y="1852574"/>
            <a:ext cx="3403397" cy="4624121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887468" y="2414930"/>
            <a:ext cx="24176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5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Внешние</a:t>
            </a:r>
            <a:r>
              <a:rPr lang="en-US" sz="1800" b="1" kern="0" spc="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курсы</a:t>
            </a:r>
            <a:endParaRPr lang="en-US" sz="18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rcRect l="-18" r="-18"/>
          <a:stretch/>
        </p:blipFill>
        <p:spPr>
          <a:xfrm>
            <a:off x="4698797" y="3429000"/>
            <a:ext cx="2794406" cy="78089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822241" y="3610051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Level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4822241" y="3762756"/>
            <a:ext cx="16294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Профессионалы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6426098" y="3590849"/>
            <a:ext cx="952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</a:t>
            </a:r>
            <a:endParaRPr lang="en-US" sz="36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rcRect l="-18" r="-18"/>
          <a:stretch/>
        </p:blipFill>
        <p:spPr>
          <a:xfrm>
            <a:off x="4698797" y="4438498"/>
            <a:ext cx="2794406" cy="78089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822241" y="4619549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4822241" y="4772254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DataCamp</a:t>
            </a:r>
            <a:endParaRPr lang="en-US" sz="1300" dirty="0"/>
          </a:p>
        </p:txBody>
      </p:sp>
      <p:sp>
        <p:nvSpPr>
          <p:cNvPr id="24" name="Text 14"/>
          <p:cNvSpPr txBox="1"/>
          <p:nvPr/>
        </p:nvSpPr>
        <p:spPr>
          <a:xfrm>
            <a:off x="6100572" y="4601261"/>
            <a:ext cx="1286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</a:t>
            </a:r>
            <a:endParaRPr lang="en-US" sz="36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Shape 25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27"/>
          <p:cNvSpPr txBox="1"/>
          <p:nvPr/>
        </p:nvSpPr>
        <p:spPr>
          <a:xfrm>
            <a:off x="457200" y="585674"/>
            <a:ext cx="64257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работников Банка </a:t>
            </a:r>
            <a:endParaRPr lang="en-US" sz="2200" dirty="0"/>
          </a:p>
        </p:txBody>
      </p:sp>
      <p:sp>
        <p:nvSpPr>
          <p:cNvPr id="45" name="Shape 28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29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7" name="Text 30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77847" y="1548079"/>
            <a:ext cx="666598" cy="666598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44268" y="1747418"/>
            <a:ext cx="333756" cy="267005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62549" y="1548079"/>
            <a:ext cx="666598" cy="666598"/>
          </a:xfrm>
          <a:prstGeom prst="rect">
            <a:avLst/>
          </a:prstGeom>
        </p:spPr>
      </p:pic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2BEDC6D7-4785-1067-2304-20526014C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78850" y="1847545"/>
            <a:ext cx="3403397" cy="4624121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62802" y="1747418"/>
            <a:ext cx="267005" cy="267005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47250" y="1548079"/>
            <a:ext cx="666598" cy="666598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13671" y="1747418"/>
            <a:ext cx="333756" cy="26700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560613" y="2414930"/>
            <a:ext cx="264535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Сетевые Ресурсы</a:t>
            </a:r>
            <a:endParaRPr lang="en-US" sz="1800" dirty="0"/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D2DD5858-3A52-DDB7-6749-470C9FDDCFDC}"/>
              </a:ext>
            </a:extLst>
          </p:cNvPr>
          <p:cNvGrpSpPr/>
          <p:nvPr/>
        </p:nvGrpSpPr>
        <p:grpSpPr>
          <a:xfrm>
            <a:off x="8649310" y="3577423"/>
            <a:ext cx="2574950" cy="648309"/>
            <a:chOff x="8635594" y="3290926"/>
            <a:chExt cx="2574950" cy="648309"/>
          </a:xfrm>
        </p:grpSpPr>
        <p:sp>
          <p:nvSpPr>
            <p:cNvPr id="28" name="Shape 16"/>
            <p:cNvSpPr/>
            <p:nvPr/>
          </p:nvSpPr>
          <p:spPr>
            <a:xfrm>
              <a:off x="8635594" y="3290926"/>
              <a:ext cx="381305" cy="381305"/>
            </a:xfrm>
            <a:prstGeom prst="ellipse">
              <a:avLst/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29" name="Image 10" descr="preencoded.png"/>
            <p:cNvPicPr>
              <a:picLocks noChangeAspect="1"/>
            </p:cNvPicPr>
            <p:nvPr/>
          </p:nvPicPr>
          <p:blipFill>
            <a:blip r:embed="rId10"/>
            <a:srcRect l="-33" r="-33"/>
            <a:stretch/>
          </p:blipFill>
          <p:spPr>
            <a:xfrm>
              <a:off x="8740750" y="3405226"/>
              <a:ext cx="171907" cy="152705"/>
            </a:xfrm>
            <a:prstGeom prst="rect">
              <a:avLst/>
            </a:prstGeom>
          </p:spPr>
        </p:pic>
        <p:sp>
          <p:nvSpPr>
            <p:cNvPr id="30" name="Text 17"/>
            <p:cNvSpPr txBox="1"/>
            <p:nvPr/>
          </p:nvSpPr>
          <p:spPr>
            <a:xfrm>
              <a:off x="9169603" y="3290926"/>
              <a:ext cx="204094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Ролики</a:t>
              </a:r>
              <a:endParaRPr lang="en-US" sz="1300" dirty="0"/>
            </a:p>
          </p:txBody>
        </p:sp>
        <p:sp>
          <p:nvSpPr>
            <p:cNvPr id="31" name="Text 18"/>
            <p:cNvSpPr txBox="1"/>
            <p:nvPr/>
          </p:nvSpPr>
          <p:spPr>
            <a:xfrm>
              <a:off x="9169603" y="3557930"/>
              <a:ext cx="203911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Обучающие видеоматериалы</a:t>
              </a:r>
              <a:endParaRPr lang="en-US" sz="1000" dirty="0"/>
            </a:p>
          </p:txBody>
        </p: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5699600E-C4DF-EB77-F078-3643323F9211}"/>
              </a:ext>
            </a:extLst>
          </p:cNvPr>
          <p:cNvGrpSpPr/>
          <p:nvPr/>
        </p:nvGrpSpPr>
        <p:grpSpPr>
          <a:xfrm>
            <a:off x="8649310" y="4415927"/>
            <a:ext cx="2574950" cy="647396"/>
            <a:chOff x="8635594" y="4129430"/>
            <a:chExt cx="2574950" cy="647396"/>
          </a:xfrm>
        </p:grpSpPr>
        <p:sp>
          <p:nvSpPr>
            <p:cNvPr id="32" name="Shape 19"/>
            <p:cNvSpPr/>
            <p:nvPr/>
          </p:nvSpPr>
          <p:spPr>
            <a:xfrm>
              <a:off x="8635594" y="4129430"/>
              <a:ext cx="381305" cy="381305"/>
            </a:xfrm>
            <a:prstGeom prst="ellipse">
              <a:avLst/>
            </a:prstGeom>
            <a:solidFill>
              <a:srgbClr val="D1FAE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33" name="Image 11" descr="preencoded.png"/>
            <p:cNvPicPr>
              <a:picLocks noChangeAspect="1"/>
            </p:cNvPicPr>
            <p:nvPr/>
          </p:nvPicPr>
          <p:blipFill>
            <a:blip r:embed="rId11"/>
            <a:srcRect l="-33" r="-33"/>
            <a:stretch/>
          </p:blipFill>
          <p:spPr>
            <a:xfrm>
              <a:off x="8740750" y="4243730"/>
              <a:ext cx="171907" cy="152705"/>
            </a:xfrm>
            <a:prstGeom prst="rect">
              <a:avLst/>
            </a:prstGeom>
          </p:spPr>
        </p:pic>
        <p:sp>
          <p:nvSpPr>
            <p:cNvPr id="34" name="Text 20"/>
            <p:cNvSpPr txBox="1"/>
            <p:nvPr/>
          </p:nvSpPr>
          <p:spPr>
            <a:xfrm>
              <a:off x="9169603" y="4129430"/>
              <a:ext cx="204094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Записи веб-сессий</a:t>
              </a:r>
              <a:endParaRPr lang="en-US" sz="1300" dirty="0"/>
            </a:p>
          </p:txBody>
        </p:sp>
        <p:sp>
          <p:nvSpPr>
            <p:cNvPr id="35" name="Text 21"/>
            <p:cNvSpPr txBox="1"/>
            <p:nvPr/>
          </p:nvSpPr>
          <p:spPr>
            <a:xfrm>
              <a:off x="9169603" y="4395521"/>
              <a:ext cx="2039112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Архив проведенных вебинаров</a:t>
              </a:r>
              <a:endParaRPr lang="en-US" sz="1000" dirty="0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FC98AF71-4DAA-C2C4-1273-79B0C83BF5D3}"/>
              </a:ext>
            </a:extLst>
          </p:cNvPr>
          <p:cNvGrpSpPr/>
          <p:nvPr/>
        </p:nvGrpSpPr>
        <p:grpSpPr>
          <a:xfrm>
            <a:off x="8649310" y="5435026"/>
            <a:ext cx="2495398" cy="476402"/>
            <a:chOff x="8635594" y="5695798"/>
            <a:chExt cx="2495398" cy="476402"/>
          </a:xfrm>
        </p:grpSpPr>
        <p:sp>
          <p:nvSpPr>
            <p:cNvPr id="36" name="Shape 22"/>
            <p:cNvSpPr/>
            <p:nvPr/>
          </p:nvSpPr>
          <p:spPr>
            <a:xfrm>
              <a:off x="8635594" y="5695798"/>
              <a:ext cx="2495398" cy="476402"/>
            </a:xfrm>
            <a:prstGeom prst="roundRect">
              <a:avLst>
                <a:gd name="adj" fmla="val 30710"/>
              </a:avLst>
            </a:prstGeom>
            <a:solidFill>
              <a:srgbClr val="ECFDF5"/>
            </a:solidFill>
            <a:ln w="12700">
              <a:solidFill>
                <a:srgbClr val="D1FAE5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37" name="Text 23"/>
            <p:cNvSpPr txBox="1"/>
            <p:nvPr/>
          </p:nvSpPr>
          <p:spPr>
            <a:xfrm>
              <a:off x="9108339" y="5815417"/>
              <a:ext cx="17730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Доступны для всех </a:t>
              </a:r>
              <a:endParaRPr lang="en-US" sz="1200" dirty="0"/>
            </a:p>
          </p:txBody>
        </p:sp>
        <p:pic>
          <p:nvPicPr>
            <p:cNvPr id="38" name="Image 12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945850" y="5852907"/>
              <a:ext cx="191110" cy="191110"/>
            </a:xfrm>
            <a:prstGeom prst="rect">
              <a:avLst/>
            </a:prstGeom>
          </p:spPr>
        </p:pic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D32AD085-DC42-601B-4B8C-E66C11DE36AD}"/>
              </a:ext>
            </a:extLst>
          </p:cNvPr>
          <p:cNvGrpSpPr/>
          <p:nvPr/>
        </p:nvGrpSpPr>
        <p:grpSpPr>
          <a:xfrm>
            <a:off x="1063447" y="3472891"/>
            <a:ext cx="2495398" cy="476402"/>
            <a:chOff x="1063447" y="3472891"/>
            <a:chExt cx="2495398" cy="476402"/>
          </a:xfrm>
        </p:grpSpPr>
        <p:sp>
          <p:nvSpPr>
            <p:cNvPr id="56" name="Shape 22">
              <a:extLst>
                <a:ext uri="{FF2B5EF4-FFF2-40B4-BE49-F238E27FC236}">
                  <a16:creationId xmlns:a16="http://schemas.microsoft.com/office/drawing/2014/main" id="{D072CF04-5DCA-93D4-7EA6-1DDE3229A728}"/>
                </a:ext>
              </a:extLst>
            </p:cNvPr>
            <p:cNvSpPr/>
            <p:nvPr/>
          </p:nvSpPr>
          <p:spPr>
            <a:xfrm>
              <a:off x="1063447" y="3472891"/>
              <a:ext cx="2495398" cy="476402"/>
            </a:xfrm>
            <a:prstGeom prst="roundRect">
              <a:avLst>
                <a:gd name="adj" fmla="val 30710"/>
              </a:avLst>
            </a:prstGeom>
            <a:solidFill>
              <a:srgbClr val="ECFDF5"/>
            </a:solidFill>
            <a:ln w="12700">
              <a:solidFill>
                <a:srgbClr val="D1FAE5"/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13"/>
            <a:srcRect t="-43" b="-43"/>
            <a:stretch/>
          </p:blipFill>
          <p:spPr>
            <a:xfrm>
              <a:off x="1676652" y="3623134"/>
              <a:ext cx="198036" cy="175580"/>
            </a:xfrm>
            <a:prstGeom prst="rect">
              <a:avLst/>
            </a:prstGeom>
          </p:spPr>
        </p:pic>
        <p:sp>
          <p:nvSpPr>
            <p:cNvPr id="11" name="Text 5"/>
            <p:cNvSpPr txBox="1"/>
            <p:nvPr/>
          </p:nvSpPr>
          <p:spPr>
            <a:xfrm>
              <a:off x="1837392" y="3520272"/>
              <a:ext cx="100864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A65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Обучено</a:t>
              </a:r>
              <a:endParaRPr lang="en-US" sz="1600" dirty="0"/>
            </a:p>
          </p:txBody>
        </p:sp>
      </p:grpSp>
      <p:sp>
        <p:nvSpPr>
          <p:cNvPr id="58" name="Text 4">
            <a:extLst>
              <a:ext uri="{FF2B5EF4-FFF2-40B4-BE49-F238E27FC236}">
                <a16:creationId xmlns:a16="http://schemas.microsoft.com/office/drawing/2014/main" id="{288606BA-3B48-CF04-35FC-27F8AAACF17D}"/>
              </a:ext>
            </a:extLst>
          </p:cNvPr>
          <p:cNvSpPr txBox="1"/>
          <p:nvPr/>
        </p:nvSpPr>
        <p:spPr>
          <a:xfrm>
            <a:off x="5652262" y="3085427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50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DFF1D51-EACB-1B57-8214-6F0DBC26BD7B}"/>
              </a:ext>
            </a:extLst>
          </p:cNvPr>
          <p:cNvGrpSpPr/>
          <p:nvPr/>
        </p:nvGrpSpPr>
        <p:grpSpPr>
          <a:xfrm>
            <a:off x="457200" y="234680"/>
            <a:ext cx="962863" cy="314554"/>
            <a:chOff x="457200" y="304495"/>
            <a:chExt cx="962863" cy="314554"/>
          </a:xfrm>
        </p:grpSpPr>
        <p:pic>
          <p:nvPicPr>
            <p:cNvPr id="7" name="Image 17" descr="preencoded.png">
              <a:extLst>
                <a:ext uri="{FF2B5EF4-FFF2-40B4-BE49-F238E27FC236}">
                  <a16:creationId xmlns:a16="http://schemas.microsoft.com/office/drawing/2014/main" id="{0F9829DC-6516-DC9E-83AF-2D33562AD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9" name="Shape 35">
              <a:extLst>
                <a:ext uri="{FF2B5EF4-FFF2-40B4-BE49-F238E27FC236}">
                  <a16:creationId xmlns:a16="http://schemas.microsoft.com/office/drawing/2014/main" id="{9D4D90D0-0813-8B29-1AD0-A7DEDC5FFC26}"/>
                </a:ext>
              </a:extLst>
            </p:cNvPr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16" name="Text 36">
              <a:extLst>
                <a:ext uri="{FF2B5EF4-FFF2-40B4-BE49-F238E27FC236}">
                  <a16:creationId xmlns:a16="http://schemas.microsoft.com/office/drawing/2014/main" id="{29909DA0-71B7-A618-C18E-F4F9CE1A3191}"/>
                </a:ext>
              </a:extLst>
            </p:cNvPr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305" y="1095451"/>
            <a:ext cx="12191695" cy="57726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09905" y="1395374"/>
            <a:ext cx="3562502" cy="4076395"/>
          </a:xfrm>
          <a:custGeom>
            <a:avLst/>
            <a:gdLst/>
            <a:ahLst/>
            <a:cxnLst/>
            <a:rect l="l" t="t" r="r" b="b"/>
            <a:pathLst>
              <a:path w="3562502" h="4076395">
                <a:moveTo>
                  <a:pt x="0" y="0"/>
                </a:moveTo>
                <a:lnTo>
                  <a:pt x="3206252" y="0"/>
                </a:lnTo>
                <a:lnTo>
                  <a:pt x="3562502" y="2038198"/>
                </a:lnTo>
                <a:lnTo>
                  <a:pt x="3206252" y="4076395"/>
                </a:lnTo>
                <a:lnTo>
                  <a:pt x="0" y="407639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 txBox="1"/>
          <p:nvPr/>
        </p:nvSpPr>
        <p:spPr>
          <a:xfrm>
            <a:off x="990295" y="1623974"/>
            <a:ext cx="8101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90295" y="2345436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1175918" y="2517343"/>
            <a:ext cx="237744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295" y="3183941"/>
            <a:ext cx="3029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Корпоративные данные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90295" y="3526841"/>
            <a:ext cx="3029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Входные данные</a:t>
            </a:r>
            <a:endParaRPr lang="en-US" sz="1000" b="1" dirty="0"/>
          </a:p>
        </p:txBody>
      </p:sp>
      <p:sp>
        <p:nvSpPr>
          <p:cNvPr id="11" name="Text 8"/>
          <p:cNvSpPr txBox="1"/>
          <p:nvPr/>
        </p:nvSpPr>
        <p:spPr>
          <a:xfrm>
            <a:off x="1171346" y="3792931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QVD файлов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0295" y="3831336"/>
            <a:ext cx="105156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71346" y="4059936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ODS слой хранилища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0295" y="4098341"/>
            <a:ext cx="105156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1346" y="4326941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DDS витрины данных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990295" y="4364431"/>
            <a:ext cx="105156" cy="1143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261104" y="1395374"/>
            <a:ext cx="3638398" cy="4076395"/>
          </a:xfrm>
          <a:custGeom>
            <a:avLst/>
            <a:gdLst/>
            <a:ahLst/>
            <a:cxnLst/>
            <a:rect l="l" t="t" r="r" b="b"/>
            <a:pathLst>
              <a:path w="3638398" h="4076395">
                <a:moveTo>
                  <a:pt x="0" y="0"/>
                </a:moveTo>
                <a:lnTo>
                  <a:pt x="3274558" y="0"/>
                </a:lnTo>
                <a:lnTo>
                  <a:pt x="3638398" y="2038198"/>
                </a:lnTo>
                <a:lnTo>
                  <a:pt x="3274558" y="4076395"/>
                </a:lnTo>
                <a:lnTo>
                  <a:pt x="0" y="4076395"/>
                </a:lnTo>
                <a:lnTo>
                  <a:pt x="363840" y="20381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2"/>
          <p:cNvSpPr txBox="1"/>
          <p:nvPr/>
        </p:nvSpPr>
        <p:spPr>
          <a:xfrm>
            <a:off x="4641494" y="1623974"/>
            <a:ext cx="857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4718304" y="3183941"/>
            <a:ext cx="3029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Конструктор Qlik Sense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4718304" y="3526841"/>
            <a:ext cx="3029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 сборки</a:t>
            </a:r>
            <a:endParaRPr lang="en-US" sz="1000" b="1" dirty="0"/>
          </a:p>
        </p:txBody>
      </p:sp>
      <p:sp>
        <p:nvSpPr>
          <p:cNvPr id="24" name="Text 15"/>
          <p:cNvSpPr txBox="1"/>
          <p:nvPr/>
        </p:nvSpPr>
        <p:spPr>
          <a:xfrm>
            <a:off x="4908499" y="3792931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Визуальная сборка витрин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4908499" y="4059936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фильтров и мер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18304" y="4098341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908499" y="4326941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KPI и дашбордов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18304" y="4364431"/>
            <a:ext cx="114300" cy="11430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10074" y="3823106"/>
            <a:ext cx="133502" cy="133502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7988198" y="1395374"/>
            <a:ext cx="3600907" cy="4076395"/>
          </a:xfrm>
          <a:custGeom>
            <a:avLst/>
            <a:gdLst/>
            <a:ahLst/>
            <a:cxnLst/>
            <a:rect l="l" t="t" r="r" b="b"/>
            <a:pathLst>
              <a:path w="3600907" h="4076395">
                <a:moveTo>
                  <a:pt x="0" y="0"/>
                </a:moveTo>
                <a:lnTo>
                  <a:pt x="3240816" y="0"/>
                </a:lnTo>
                <a:lnTo>
                  <a:pt x="3600907" y="2038198"/>
                </a:lnTo>
                <a:lnTo>
                  <a:pt x="3240816" y="4076395"/>
                </a:lnTo>
                <a:lnTo>
                  <a:pt x="0" y="4076395"/>
                </a:lnTo>
                <a:lnTo>
                  <a:pt x="360091" y="20381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19"/>
          <p:cNvSpPr txBox="1"/>
          <p:nvPr/>
        </p:nvSpPr>
        <p:spPr>
          <a:xfrm>
            <a:off x="8369503" y="1623974"/>
            <a:ext cx="857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Shape 20"/>
          <p:cNvSpPr/>
          <p:nvPr/>
        </p:nvSpPr>
        <p:spPr>
          <a:xfrm>
            <a:off x="8575243" y="2347637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80068" y="2498140"/>
            <a:ext cx="249631" cy="332841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545525" y="3165653"/>
            <a:ext cx="287304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Ad-hoc отчеты</a:t>
            </a:r>
            <a:endParaRPr lang="en-US" sz="1500" dirty="0"/>
          </a:p>
        </p:txBody>
      </p:sp>
      <p:sp>
        <p:nvSpPr>
          <p:cNvPr id="35" name="Text 22"/>
          <p:cNvSpPr txBox="1"/>
          <p:nvPr/>
        </p:nvSpPr>
        <p:spPr>
          <a:xfrm>
            <a:off x="8545525" y="3526841"/>
            <a:ext cx="28730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00" b="1" dirty="0"/>
          </a:p>
        </p:txBody>
      </p:sp>
      <p:sp>
        <p:nvSpPr>
          <p:cNvPr id="36" name="Text 23"/>
          <p:cNvSpPr txBox="1"/>
          <p:nvPr/>
        </p:nvSpPr>
        <p:spPr>
          <a:xfrm>
            <a:off x="8545525" y="3743221"/>
            <a:ext cx="283921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Отчеты, которые можно быстро создать для решения текущей задачи анализа без привлечения разработчиков.</a:t>
            </a:r>
            <a:endParaRPr lang="en-US" sz="1000" dirty="0"/>
          </a:p>
        </p:txBody>
      </p:sp>
      <p:sp>
        <p:nvSpPr>
          <p:cNvPr id="38" name="Shape 24"/>
          <p:cNvSpPr/>
          <p:nvPr/>
        </p:nvSpPr>
        <p:spPr>
          <a:xfrm>
            <a:off x="9665597" y="4338871"/>
            <a:ext cx="1591056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25"/>
          <p:cNvSpPr txBox="1"/>
          <p:nvPr/>
        </p:nvSpPr>
        <p:spPr>
          <a:xfrm>
            <a:off x="9903357" y="4338871"/>
            <a:ext cx="139811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Быстрый результат </a:t>
            </a:r>
            <a:endParaRPr lang="en-US" sz="900" dirty="0"/>
          </a:p>
        </p:txBody>
      </p:sp>
      <p:sp>
        <p:nvSpPr>
          <p:cNvPr id="40" name="Shape 26"/>
          <p:cNvSpPr/>
          <p:nvPr/>
        </p:nvSpPr>
        <p:spPr>
          <a:xfrm>
            <a:off x="609905" y="5772607"/>
            <a:ext cx="3409797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Shape 27"/>
          <p:cNvSpPr/>
          <p:nvPr/>
        </p:nvSpPr>
        <p:spPr>
          <a:xfrm>
            <a:off x="809244" y="5971946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23544" y="6086246"/>
            <a:ext cx="152705" cy="15270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1343254" y="5971946"/>
            <a:ext cx="2071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скорость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1343254" y="6200546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Мгновенное построение отчетов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4261104" y="5772150"/>
            <a:ext cx="3486607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31"/>
          <p:cNvSpPr/>
          <p:nvPr/>
        </p:nvSpPr>
        <p:spPr>
          <a:xfrm>
            <a:off x="4543654" y="5971946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4638751" y="6086246"/>
            <a:ext cx="190195" cy="152705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5076749" y="5971946"/>
            <a:ext cx="24871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Самообслуживание</a:t>
            </a:r>
            <a:endParaRPr lang="en-US" sz="1000" dirty="0"/>
          </a:p>
        </p:txBody>
      </p:sp>
      <p:sp>
        <p:nvSpPr>
          <p:cNvPr id="49" name="Text 33"/>
          <p:cNvSpPr txBox="1"/>
          <p:nvPr/>
        </p:nvSpPr>
        <p:spPr>
          <a:xfrm>
            <a:off x="5076749" y="6200546"/>
            <a:ext cx="2839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 </a:t>
            </a:r>
            <a:r>
              <a:rPr lang="en-US" sz="90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</a:t>
            </a: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</a:t>
            </a: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отчеты (Self-Service)</a:t>
            </a:r>
            <a:endParaRPr lang="en-US" sz="900" dirty="0"/>
          </a:p>
        </p:txBody>
      </p:sp>
      <p:sp>
        <p:nvSpPr>
          <p:cNvPr id="50" name="Shape 34"/>
          <p:cNvSpPr/>
          <p:nvPr/>
        </p:nvSpPr>
        <p:spPr>
          <a:xfrm>
            <a:off x="7987305" y="5762549"/>
            <a:ext cx="343126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Shape 35"/>
          <p:cNvSpPr/>
          <p:nvPr/>
        </p:nvSpPr>
        <p:spPr>
          <a:xfrm>
            <a:off x="8277149" y="5971946"/>
            <a:ext cx="381305" cy="3813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8401507" y="6086246"/>
            <a:ext cx="133502" cy="152705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8810244" y="5971946"/>
            <a:ext cx="2268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источник</a:t>
            </a:r>
            <a:endParaRPr lang="en-US" sz="1000" dirty="0"/>
          </a:p>
        </p:txBody>
      </p:sp>
      <p:sp>
        <p:nvSpPr>
          <p:cNvPr id="54" name="Text 37"/>
          <p:cNvSpPr txBox="1"/>
          <p:nvPr/>
        </p:nvSpPr>
        <p:spPr>
          <a:xfrm>
            <a:off x="8810244" y="6200546"/>
            <a:ext cx="2268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Достоверные данные из хранилища</a:t>
            </a:r>
            <a:endParaRPr lang="en-US" sz="90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2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6" name="Shape 38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7" name="Shape 39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Text 41"/>
          <p:cNvSpPr txBox="1"/>
          <p:nvPr/>
        </p:nvSpPr>
        <p:spPr>
          <a:xfrm>
            <a:off x="457200" y="571500"/>
            <a:ext cx="826434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SSBI решение: </a:t>
            </a:r>
            <a:r>
              <a:rPr lang="en-US" sz="22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Конструктор витрин на Qlik Sense</a:t>
            </a:r>
            <a:endParaRPr lang="en-US" sz="2200" dirty="0"/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F6EB2D66-DD82-8BC8-2CE9-661FF2C5E651}"/>
              </a:ext>
            </a:extLst>
          </p:cNvPr>
          <p:cNvSpPr/>
          <p:nvPr/>
        </p:nvSpPr>
        <p:spPr>
          <a:xfrm>
            <a:off x="4776825" y="2345436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Shape 42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43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3" name="Text 44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3"/>
          <a:srcRect l="-685" r="-685"/>
          <a:stretch/>
        </p:blipFill>
        <p:spPr>
          <a:xfrm>
            <a:off x="4934933" y="2517343"/>
            <a:ext cx="304495" cy="267005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9753853" y="4396021"/>
            <a:ext cx="105156" cy="114300"/>
          </a:xfrm>
          <a:prstGeom prst="rect">
            <a:avLst/>
          </a:prstGeom>
        </p:spPr>
      </p:pic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AEB4AF6-CE74-CDF5-BAAC-344693E9C5BD}"/>
              </a:ext>
            </a:extLst>
          </p:cNvPr>
          <p:cNvGrpSpPr/>
          <p:nvPr/>
        </p:nvGrpSpPr>
        <p:grpSpPr>
          <a:xfrm>
            <a:off x="457200" y="234680"/>
            <a:ext cx="962863" cy="314554"/>
            <a:chOff x="457200" y="304495"/>
            <a:chExt cx="962863" cy="314554"/>
          </a:xfrm>
        </p:grpSpPr>
        <p:pic>
          <p:nvPicPr>
            <p:cNvPr id="68" name="Image 17" descr="preencoded.png">
              <a:extLst>
                <a:ext uri="{FF2B5EF4-FFF2-40B4-BE49-F238E27FC236}">
                  <a16:creationId xmlns:a16="http://schemas.microsoft.com/office/drawing/2014/main" id="{69147F10-BE08-ACE3-5F2F-2E1835B3E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69" name="Shape 35">
              <a:extLst>
                <a:ext uri="{FF2B5EF4-FFF2-40B4-BE49-F238E27FC236}">
                  <a16:creationId xmlns:a16="http://schemas.microsoft.com/office/drawing/2014/main" id="{ACA9A0A5-CCB3-E28E-3005-F5ABA3D28070}"/>
                </a:ext>
              </a:extLst>
            </p:cNvPr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70" name="Text 36">
              <a:extLst>
                <a:ext uri="{FF2B5EF4-FFF2-40B4-BE49-F238E27FC236}">
                  <a16:creationId xmlns:a16="http://schemas.microsoft.com/office/drawing/2014/main" id="{3771723E-02C3-429B-D32D-90F70BD0341E}"/>
                </a:ext>
              </a:extLst>
            </p:cNvPr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305" y="1095451"/>
            <a:ext cx="12191695" cy="5772607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395374"/>
            <a:ext cx="7448702" cy="194310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657454" y="1986077"/>
            <a:ext cx="761695" cy="7616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7" r="-27"/>
          <a:stretch/>
        </p:blipFill>
        <p:spPr>
          <a:xfrm>
            <a:off x="823874" y="2195474"/>
            <a:ext cx="428854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7749" y="1758391"/>
            <a:ext cx="6172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это такое?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47749" y="2139696"/>
            <a:ext cx="61347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AI-ассистент, который понимает бизнес-вопросы и автоматически формирует корректные SQL-запросы по корпоративной базе данных.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28102" y="1395374"/>
            <a:ext cx="3610051" cy="194310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11001146" y="1557223"/>
            <a:ext cx="571500" cy="5715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0" y="1595628"/>
            <a:ext cx="3057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Текущий фокус 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73160" y="1649577"/>
            <a:ext cx="190196" cy="190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61197" y="1848496"/>
            <a:ext cx="29919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 и точность данных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333768" y="2260098"/>
            <a:ext cx="3209544" cy="819302"/>
          </a:xfrm>
          <a:prstGeom prst="roundRect">
            <a:avLst>
              <a:gd name="adj" fmla="val 10382"/>
            </a:avLst>
          </a:prstGeom>
          <a:solidFill>
            <a:srgbClr val="ECFEF6"/>
          </a:solidFill>
          <a:ln w="12700">
            <a:noFill/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1"/>
          <p:cNvSpPr txBox="1"/>
          <p:nvPr/>
        </p:nvSpPr>
        <p:spPr>
          <a:xfrm>
            <a:off x="8661197" y="2349041"/>
            <a:ext cx="28291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только с разрешёнными таблицами и полями, строго в рамках бизнес-логики. </a:t>
            </a:r>
            <a:endParaRPr lang="en-US" sz="1000" b="1" dirty="0">
              <a:solidFill>
                <a:srgbClr val="05A651"/>
              </a:solidFill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67125" y="2417165"/>
            <a:ext cx="133502" cy="1335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567074"/>
            <a:ext cx="5524805" cy="2991002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3"/>
          <p:cNvSpPr/>
          <p:nvPr/>
        </p:nvSpPr>
        <p:spPr>
          <a:xfrm>
            <a:off x="466344" y="3576218"/>
            <a:ext cx="5505602" cy="790956"/>
          </a:xfrm>
          <a:prstGeom prst="roundRect">
            <a:avLst>
              <a:gd name="adj" fmla="val 22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4"/>
          <p:cNvSpPr/>
          <p:nvPr/>
        </p:nvSpPr>
        <p:spPr>
          <a:xfrm>
            <a:off x="466344" y="4358030"/>
            <a:ext cx="5505602" cy="9144"/>
          </a:xfrm>
          <a:prstGeom prst="roundRect">
            <a:avLst>
              <a:gd name="adj" fmla="val 1927711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657454" y="3767328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7921" y="3871570"/>
            <a:ext cx="237744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09751" y="3834079"/>
            <a:ext cx="19604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это работает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424" r="-424"/>
          <a:stretch/>
        </p:blipFill>
        <p:spPr>
          <a:xfrm>
            <a:off x="800100" y="4922215"/>
            <a:ext cx="19202" cy="3236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14654" y="4674413"/>
            <a:ext cx="3248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 пользователя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1114654" y="4903013"/>
            <a:ext cx="33375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 задаёт вопрос обычным языком (NLP)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424" r="-424"/>
          <a:stretch/>
        </p:blipFill>
        <p:spPr>
          <a:xfrm>
            <a:off x="800100" y="5531206"/>
            <a:ext cx="19202" cy="32369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114654" y="5284318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структуры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114654" y="5512918"/>
            <a:ext cx="3474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анализирует структуру БД и связи таблиц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1114654" y="5893308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результата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114654" y="6121908"/>
            <a:ext cx="36804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Генерирует точный SQL и возвращает готовый результат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210605" y="3567074"/>
            <a:ext cx="5524805" cy="2991002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24"/>
          <p:cNvSpPr/>
          <p:nvPr/>
        </p:nvSpPr>
        <p:spPr>
          <a:xfrm>
            <a:off x="6219749" y="3576218"/>
            <a:ext cx="5505602" cy="790956"/>
          </a:xfrm>
          <a:prstGeom prst="roundRect">
            <a:avLst>
              <a:gd name="adj" fmla="val 22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Shape 25"/>
          <p:cNvSpPr/>
          <p:nvPr/>
        </p:nvSpPr>
        <p:spPr>
          <a:xfrm>
            <a:off x="6219749" y="4358030"/>
            <a:ext cx="5505602" cy="9144"/>
          </a:xfrm>
          <a:prstGeom prst="roundRect">
            <a:avLst>
              <a:gd name="adj" fmla="val 1927711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26"/>
          <p:cNvSpPr/>
          <p:nvPr/>
        </p:nvSpPr>
        <p:spPr>
          <a:xfrm>
            <a:off x="6409944" y="3767328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6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15100" y="3871570"/>
            <a:ext cx="19019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963156" y="3834079"/>
            <a:ext cx="24560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Ценность для бизнеса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6409944" y="4693615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24244" y="4883810"/>
            <a:ext cx="190195" cy="1901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829654" y="48079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6829654" y="4998110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аналитики и отчётов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9048902" y="4693615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63202" y="4883810"/>
            <a:ext cx="237744" cy="19019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515246" y="4807915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Разгрузка IT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9515246" y="499811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нагрузки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6409944" y="5531206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6524244" y="5722315"/>
            <a:ext cx="171907" cy="19019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810451" y="5645506"/>
            <a:ext cx="1696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</a:t>
            </a:r>
            <a:endParaRPr lang="en-US" sz="1000" dirty="0"/>
          </a:p>
        </p:txBody>
      </p:sp>
      <p:sp>
        <p:nvSpPr>
          <p:cNvPr id="49" name="Text 36"/>
          <p:cNvSpPr txBox="1"/>
          <p:nvPr/>
        </p:nvSpPr>
        <p:spPr>
          <a:xfrm>
            <a:off x="6810451" y="5836615"/>
            <a:ext cx="1696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 ошибок SQL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9048902" y="5531206"/>
            <a:ext cx="2486254" cy="57150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9163202" y="5722315"/>
            <a:ext cx="171907" cy="190195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448495" y="5645506"/>
            <a:ext cx="1648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Доступность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9448495" y="5836615"/>
            <a:ext cx="1648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быстрый доступ к данным</a:t>
            </a:r>
            <a:endParaRPr lang="en-US" sz="9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4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6" name="Shape 41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43"/>
          <p:cNvSpPr txBox="1"/>
          <p:nvPr/>
        </p:nvSpPr>
        <p:spPr>
          <a:xfrm>
            <a:off x="470848" y="585148"/>
            <a:ext cx="383499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Assistant</a:t>
            </a:r>
            <a:endParaRPr lang="en-US" sz="2200" dirty="0"/>
          </a:p>
        </p:txBody>
      </p:sp>
      <p:sp>
        <p:nvSpPr>
          <p:cNvPr id="60" name="Shape 44"/>
          <p:cNvSpPr/>
          <p:nvPr/>
        </p:nvSpPr>
        <p:spPr>
          <a:xfrm>
            <a:off x="9965131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45"/>
          <p:cNvSpPr txBox="1"/>
          <p:nvPr/>
        </p:nvSpPr>
        <p:spPr>
          <a:xfrm>
            <a:off x="9936785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62" name="Text 46"/>
          <p:cNvSpPr txBox="1"/>
          <p:nvPr/>
        </p:nvSpPr>
        <p:spPr>
          <a:xfrm>
            <a:off x="1042233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63" name="Shape 47"/>
          <p:cNvSpPr/>
          <p:nvPr/>
        </p:nvSpPr>
        <p:spPr>
          <a:xfrm>
            <a:off x="657454" y="4636008"/>
            <a:ext cx="304495" cy="304495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4" name="Text 48"/>
          <p:cNvSpPr txBox="1"/>
          <p:nvPr/>
        </p:nvSpPr>
        <p:spPr>
          <a:xfrm>
            <a:off x="629107" y="4636008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Shape 49"/>
          <p:cNvSpPr/>
          <p:nvPr/>
        </p:nvSpPr>
        <p:spPr>
          <a:xfrm>
            <a:off x="657454" y="5245913"/>
            <a:ext cx="304495" cy="304495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6" name="Text 50"/>
          <p:cNvSpPr txBox="1"/>
          <p:nvPr/>
        </p:nvSpPr>
        <p:spPr>
          <a:xfrm>
            <a:off x="629107" y="5245913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57454" y="5855818"/>
            <a:ext cx="304495" cy="304495"/>
          </a:xfrm>
          <a:prstGeom prst="rect">
            <a:avLst/>
          </a:prstGeom>
        </p:spPr>
      </p:pic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6"/>
          <a:srcRect t="-80" b="-80"/>
          <a:stretch/>
        </p:blipFill>
        <p:spPr>
          <a:xfrm>
            <a:off x="737921" y="5950915"/>
            <a:ext cx="142646" cy="114300"/>
          </a:xfrm>
          <a:prstGeom prst="rect">
            <a:avLst/>
          </a:prstGeom>
        </p:spPr>
      </p:pic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9C3E2E16-7525-D2D9-4931-C3057724555A}"/>
              </a:ext>
            </a:extLst>
          </p:cNvPr>
          <p:cNvGrpSpPr/>
          <p:nvPr/>
        </p:nvGrpSpPr>
        <p:grpSpPr>
          <a:xfrm>
            <a:off x="457200" y="234680"/>
            <a:ext cx="962863" cy="314554"/>
            <a:chOff x="457200" y="304495"/>
            <a:chExt cx="962863" cy="314554"/>
          </a:xfrm>
        </p:grpSpPr>
        <p:pic>
          <p:nvPicPr>
            <p:cNvPr id="78" name="Image 17" descr="preencoded.png">
              <a:extLst>
                <a:ext uri="{FF2B5EF4-FFF2-40B4-BE49-F238E27FC236}">
                  <a16:creationId xmlns:a16="http://schemas.microsoft.com/office/drawing/2014/main" id="{337E28A2-BCAA-CFFB-98D2-EF598EF41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-2512" r="-2512"/>
            <a:stretch/>
          </p:blipFill>
          <p:spPr>
            <a:xfrm>
              <a:off x="609905" y="392278"/>
              <a:ext cx="105156" cy="133502"/>
            </a:xfrm>
            <a:prstGeom prst="rect">
              <a:avLst/>
            </a:prstGeom>
          </p:spPr>
        </p:pic>
        <p:sp>
          <p:nvSpPr>
            <p:cNvPr id="79" name="Shape 35">
              <a:extLst>
                <a:ext uri="{FF2B5EF4-FFF2-40B4-BE49-F238E27FC236}">
                  <a16:creationId xmlns:a16="http://schemas.microsoft.com/office/drawing/2014/main" id="{73C5E7CB-90E4-1BA6-8244-F259E0CB847E}"/>
                </a:ext>
              </a:extLst>
            </p:cNvPr>
            <p:cNvSpPr/>
            <p:nvPr/>
          </p:nvSpPr>
          <p:spPr>
            <a:xfrm>
              <a:off x="457200" y="304495"/>
              <a:ext cx="905256" cy="314554"/>
            </a:xfrm>
            <a:prstGeom prst="roundRect">
              <a:avLst>
                <a:gd name="adj" fmla="val 290697"/>
              </a:avLst>
            </a:prstGeom>
            <a:solidFill>
              <a:srgbClr val="059669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80" name="Text 36">
              <a:extLst>
                <a:ext uri="{FF2B5EF4-FFF2-40B4-BE49-F238E27FC236}">
                  <a16:creationId xmlns:a16="http://schemas.microsoft.com/office/drawing/2014/main" id="{9D7A96FD-7333-C9FF-0EF6-4188896F76E3}"/>
                </a:ext>
              </a:extLst>
            </p:cNvPr>
            <p:cNvSpPr/>
            <p:nvPr/>
          </p:nvSpPr>
          <p:spPr>
            <a:xfrm>
              <a:off x="790956" y="304495"/>
              <a:ext cx="629107" cy="3145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51" dirty="0">
                  <a:solidFill>
                    <a:srgbClr val="05966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УРСО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7551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450" r="-450"/>
          <a:stretch/>
        </p:blipFill>
        <p:spPr>
          <a:xfrm>
            <a:off x="6086246" y="3499409"/>
            <a:ext cx="19202" cy="3044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450" r="-450"/>
          <a:stretch/>
        </p:blipFill>
        <p:spPr>
          <a:xfrm>
            <a:off x="6086246" y="4918558"/>
            <a:ext cx="19202" cy="3044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4953305" y="3803904"/>
            <a:ext cx="2286000" cy="11146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000"/>
              </a:srgbClr>
            </a:outerShdw>
          </a:effectLst>
        </p:spPr>
      </p:pic>
      <p:sp>
        <p:nvSpPr>
          <p:cNvPr id="13" name="Text 5"/>
          <p:cNvSpPr txBox="1"/>
          <p:nvPr/>
        </p:nvSpPr>
        <p:spPr>
          <a:xfrm>
            <a:off x="5709514" y="4195267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DevLead</a:t>
            </a:r>
            <a:endParaRPr lang="en-US" sz="1200" dirty="0"/>
          </a:p>
        </p:txBody>
      </p:sp>
      <p:sp>
        <p:nvSpPr>
          <p:cNvPr id="14" name="Shape 6"/>
          <p:cNvSpPr/>
          <p:nvPr/>
        </p:nvSpPr>
        <p:spPr>
          <a:xfrm>
            <a:off x="5905195" y="4518965"/>
            <a:ext cx="381305" cy="286207"/>
          </a:xfrm>
          <a:prstGeom prst="roundRect">
            <a:avLst>
              <a:gd name="adj" fmla="val 85197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14B8A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7"/>
          <p:cNvSpPr txBox="1"/>
          <p:nvPr/>
        </p:nvSpPr>
        <p:spPr>
          <a:xfrm>
            <a:off x="5867705" y="4518965"/>
            <a:ext cx="4572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/>
          <a:stretch/>
        </p:blipFill>
        <p:spPr>
          <a:xfrm>
            <a:off x="5976518" y="3947465"/>
            <a:ext cx="237744" cy="190195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t="-400" b="-400"/>
          <a:stretch/>
        </p:blipFill>
        <p:spPr>
          <a:xfrm>
            <a:off x="2609698" y="5071262"/>
            <a:ext cx="6972300" cy="1920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450" r="-450"/>
          <a:stretch/>
        </p:blipFill>
        <p:spPr>
          <a:xfrm>
            <a:off x="2609698" y="5071262"/>
            <a:ext cx="19202" cy="30449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450" r="-450"/>
          <a:stretch/>
        </p:blipFill>
        <p:spPr>
          <a:xfrm>
            <a:off x="4934102" y="5071262"/>
            <a:ext cx="19202" cy="304495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450" r="-450"/>
          <a:stretch/>
        </p:blipFill>
        <p:spPr>
          <a:xfrm>
            <a:off x="7258507" y="5071262"/>
            <a:ext cx="19202" cy="304495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450" r="-450"/>
          <a:stretch/>
        </p:blipFill>
        <p:spPr>
          <a:xfrm>
            <a:off x="9581998" y="5071262"/>
            <a:ext cx="19202" cy="304495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8"/>
          <a:srcRect l="-26" r="-26"/>
          <a:stretch/>
        </p:blipFill>
        <p:spPr>
          <a:xfrm>
            <a:off x="1561795" y="5375758"/>
            <a:ext cx="2095805" cy="103784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203"/>
              </a:srgbClr>
            </a:outerShdw>
          </a:effectLst>
        </p:spPr>
      </p:pic>
      <p:sp>
        <p:nvSpPr>
          <p:cNvPr id="23" name="Text 8"/>
          <p:cNvSpPr txBox="1"/>
          <p:nvPr/>
        </p:nvSpPr>
        <p:spPr>
          <a:xfrm>
            <a:off x="1739189" y="5766206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 Data инженер</a:t>
            </a:r>
            <a:endParaRPr lang="en-US" sz="1000" dirty="0"/>
          </a:p>
        </p:txBody>
      </p:sp>
      <p:sp>
        <p:nvSpPr>
          <p:cNvPr id="24" name="Shape 9"/>
          <p:cNvSpPr/>
          <p:nvPr/>
        </p:nvSpPr>
        <p:spPr>
          <a:xfrm>
            <a:off x="2419502" y="6052414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14B8A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Text 10"/>
          <p:cNvSpPr txBox="1"/>
          <p:nvPr/>
        </p:nvSpPr>
        <p:spPr>
          <a:xfrm>
            <a:off x="2381098" y="605241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1282" r="-1282"/>
          <a:stretch/>
        </p:blipFill>
        <p:spPr>
          <a:xfrm>
            <a:off x="2499970" y="5518404"/>
            <a:ext cx="219456" cy="190195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8"/>
          <a:srcRect l="-26" r="-26"/>
          <a:stretch/>
        </p:blipFill>
        <p:spPr>
          <a:xfrm>
            <a:off x="3886200" y="5375758"/>
            <a:ext cx="2095805" cy="103784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203"/>
              </a:srgbClr>
            </a:outerShdw>
          </a:effectLst>
        </p:spPr>
      </p:pic>
      <p:sp>
        <p:nvSpPr>
          <p:cNvPr id="28" name="Text 11"/>
          <p:cNvSpPr txBox="1"/>
          <p:nvPr/>
        </p:nvSpPr>
        <p:spPr>
          <a:xfrm>
            <a:off x="4114800" y="5766206"/>
            <a:ext cx="1648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 разработчик</a:t>
            </a:r>
            <a:endParaRPr lang="en-US" sz="1000" dirty="0"/>
          </a:p>
        </p:txBody>
      </p:sp>
      <p:sp>
        <p:nvSpPr>
          <p:cNvPr id="29" name="Shape 12"/>
          <p:cNvSpPr/>
          <p:nvPr/>
        </p:nvSpPr>
        <p:spPr>
          <a:xfrm>
            <a:off x="4743907" y="6052414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14B8A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Text 13"/>
          <p:cNvSpPr txBox="1"/>
          <p:nvPr/>
        </p:nvSpPr>
        <p:spPr>
          <a:xfrm>
            <a:off x="4705502" y="605241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/>
          <a:stretch/>
        </p:blipFill>
        <p:spPr>
          <a:xfrm>
            <a:off x="4862779" y="5518404"/>
            <a:ext cx="142646" cy="190195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8"/>
          <a:srcRect l="-26" r="-26"/>
          <a:stretch/>
        </p:blipFill>
        <p:spPr>
          <a:xfrm>
            <a:off x="6210605" y="5375758"/>
            <a:ext cx="2095805" cy="103784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203"/>
              </a:srgbClr>
            </a:outerShdw>
          </a:effectLst>
        </p:spPr>
      </p:pic>
      <p:sp>
        <p:nvSpPr>
          <p:cNvPr id="33" name="Text 14"/>
          <p:cNvSpPr txBox="1"/>
          <p:nvPr/>
        </p:nvSpPr>
        <p:spPr>
          <a:xfrm>
            <a:off x="6429146" y="5766206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разработчик</a:t>
            </a:r>
            <a:endParaRPr lang="en-US" sz="1000" dirty="0"/>
          </a:p>
        </p:txBody>
      </p:sp>
      <p:sp>
        <p:nvSpPr>
          <p:cNvPr id="34" name="Shape 15"/>
          <p:cNvSpPr/>
          <p:nvPr/>
        </p:nvSpPr>
        <p:spPr>
          <a:xfrm>
            <a:off x="7067398" y="6052414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14B8A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Text 16"/>
          <p:cNvSpPr txBox="1"/>
          <p:nvPr/>
        </p:nvSpPr>
        <p:spPr>
          <a:xfrm>
            <a:off x="7029907" y="605241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/>
          <a:stretch/>
        </p:blipFill>
        <p:spPr>
          <a:xfrm>
            <a:off x="7162495" y="5518404"/>
            <a:ext cx="190195" cy="190195"/>
          </a:xfrm>
          <a:prstGeom prst="rect">
            <a:avLst/>
          </a:prstGeom>
        </p:spPr>
      </p:pic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8"/>
          <a:srcRect l="-26" r="-26"/>
          <a:stretch/>
        </p:blipFill>
        <p:spPr>
          <a:xfrm>
            <a:off x="8534095" y="5375758"/>
            <a:ext cx="2095805" cy="103784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203"/>
              </a:srgbClr>
            </a:outerShdw>
          </a:effectLst>
        </p:spPr>
      </p:pic>
      <p:sp>
        <p:nvSpPr>
          <p:cNvPr id="38" name="Text 17"/>
          <p:cNvSpPr txBox="1"/>
          <p:nvPr/>
        </p:nvSpPr>
        <p:spPr>
          <a:xfrm>
            <a:off x="9186062" y="5766206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39" name="Shape 18"/>
          <p:cNvSpPr/>
          <p:nvPr/>
        </p:nvSpPr>
        <p:spPr>
          <a:xfrm>
            <a:off x="9391802" y="6052414"/>
            <a:ext cx="381305" cy="247802"/>
          </a:xfrm>
          <a:prstGeom prst="roundRect">
            <a:avLst>
              <a:gd name="adj" fmla="val 113540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14B8A6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0" name="Text 19"/>
          <p:cNvSpPr txBox="1"/>
          <p:nvPr/>
        </p:nvSpPr>
        <p:spPr>
          <a:xfrm>
            <a:off x="9353398" y="6052414"/>
            <a:ext cx="4572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41" name="Image 1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/>
          <a:stretch/>
        </p:blipFill>
        <p:spPr>
          <a:xfrm>
            <a:off x="9463126" y="5518404"/>
            <a:ext cx="237744" cy="190195"/>
          </a:xfrm>
          <a:prstGeom prst="rect">
            <a:avLst/>
          </a:prstGeom>
        </p:spPr>
      </p:pic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609905" y="316382"/>
            <a:ext cx="152705" cy="133502"/>
          </a:xfrm>
          <a:prstGeom prst="rect">
            <a:avLst/>
          </a:prstGeom>
        </p:spPr>
      </p:pic>
      <p:sp>
        <p:nvSpPr>
          <p:cNvPr id="43" name="Text 20"/>
          <p:cNvSpPr txBox="1"/>
          <p:nvPr/>
        </p:nvSpPr>
        <p:spPr>
          <a:xfrm>
            <a:off x="457200" y="689458"/>
            <a:ext cx="450067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развития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аналитических систем</a:t>
            </a:r>
            <a:endParaRPr lang="en-US" sz="2700" dirty="0"/>
          </a:p>
        </p:txBody>
      </p:sp>
      <p:sp>
        <p:nvSpPr>
          <p:cNvPr id="47" name="Text 23"/>
          <p:cNvSpPr txBox="1"/>
          <p:nvPr/>
        </p:nvSpPr>
        <p:spPr>
          <a:xfrm>
            <a:off x="9927641" y="267005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48" name="Shape 24"/>
          <p:cNvSpPr/>
          <p:nvPr/>
        </p:nvSpPr>
        <p:spPr>
          <a:xfrm>
            <a:off x="11354105" y="228600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25"/>
          <p:cNvSpPr txBox="1"/>
          <p:nvPr/>
        </p:nvSpPr>
        <p:spPr>
          <a:xfrm>
            <a:off x="11324844" y="228600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50" name="Shape 26"/>
          <p:cNvSpPr/>
          <p:nvPr/>
        </p:nvSpPr>
        <p:spPr>
          <a:xfrm>
            <a:off x="457200" y="228600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27"/>
          <p:cNvSpPr txBox="1"/>
          <p:nvPr/>
        </p:nvSpPr>
        <p:spPr>
          <a:xfrm>
            <a:off x="838505" y="228600"/>
            <a:ext cx="61904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УРАС </a:t>
            </a:r>
            <a:endParaRPr lang="en-US" sz="1000" dirty="0"/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E0854454-7358-70CC-EDEE-6A206DF76EFE}"/>
              </a:ext>
            </a:extLst>
          </p:cNvPr>
          <p:cNvGrpSpPr/>
          <p:nvPr/>
        </p:nvGrpSpPr>
        <p:grpSpPr>
          <a:xfrm>
            <a:off x="9194854" y="2499512"/>
            <a:ext cx="1872691" cy="800100"/>
            <a:chOff x="6661404" y="-1337522"/>
            <a:chExt cx="1872691" cy="800100"/>
          </a:xfrm>
        </p:grpSpPr>
        <p:pic>
          <p:nvPicPr>
            <p:cNvPr id="52" name="Image 22" descr="preencoded.png"/>
            <p:cNvPicPr>
              <a:picLocks noChangeAspect="1"/>
            </p:cNvPicPr>
            <p:nvPr/>
          </p:nvPicPr>
          <p:blipFill>
            <a:blip r:embed="rId14"/>
            <a:srcRect t="-4" b="-4"/>
            <a:stretch/>
          </p:blipFill>
          <p:spPr>
            <a:xfrm>
              <a:off x="6661404" y="-1337522"/>
              <a:ext cx="1872691" cy="8001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6353"/>
                </a:srgbClr>
              </a:outerShdw>
            </a:effectLst>
          </p:spPr>
        </p:pic>
        <p:sp>
          <p:nvSpPr>
            <p:cNvPr id="53" name="Text 28"/>
            <p:cNvSpPr txBox="1"/>
            <p:nvPr/>
          </p:nvSpPr>
          <p:spPr>
            <a:xfrm>
              <a:off x="7004304" y="-1223222"/>
              <a:ext cx="13057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45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Общий штат</a:t>
              </a:r>
              <a:endParaRPr lang="en-US" sz="900" dirty="0"/>
            </a:p>
          </p:txBody>
        </p:sp>
        <p:sp>
          <p:nvSpPr>
            <p:cNvPr id="54" name="Text 29"/>
            <p:cNvSpPr txBox="1"/>
            <p:nvPr/>
          </p:nvSpPr>
          <p:spPr>
            <a:xfrm>
              <a:off x="7004304" y="-1033027"/>
              <a:ext cx="1529791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700" b="1" dirty="0">
                  <a:solidFill>
                    <a:srgbClr val="14B8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9 </a:t>
              </a:r>
              <a:r>
                <a:rPr lang="en-US" sz="1000" b="1" dirty="0">
                  <a:solidFill>
                    <a:srgbClr val="9CA3A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сотрудников</a:t>
              </a:r>
              <a:endParaRPr lang="en-US" sz="2700" dirty="0"/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EDCAF2C7-FE26-FC81-AC13-4CBA04A5CE62}"/>
              </a:ext>
            </a:extLst>
          </p:cNvPr>
          <p:cNvGrpSpPr/>
          <p:nvPr/>
        </p:nvGrpSpPr>
        <p:grpSpPr>
          <a:xfrm>
            <a:off x="4333341" y="2152206"/>
            <a:ext cx="3505810" cy="1194956"/>
            <a:chOff x="4572000" y="-1529724"/>
            <a:chExt cx="3505810" cy="119495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FC79483D-1659-B0F1-9657-9B966EEC9218}"/>
                </a:ext>
              </a:extLst>
            </p:cNvPr>
            <p:cNvGrpSpPr/>
            <p:nvPr/>
          </p:nvGrpSpPr>
          <p:grpSpPr>
            <a:xfrm>
              <a:off x="4572000" y="-858590"/>
              <a:ext cx="3505810" cy="523822"/>
              <a:chOff x="4342484" y="2509243"/>
              <a:chExt cx="3505810" cy="523822"/>
            </a:xfrm>
          </p:grpSpPr>
          <p:sp>
            <p:nvSpPr>
              <p:cNvPr id="57" name="Text 2">
                <a:extLst>
                  <a:ext uri="{FF2B5EF4-FFF2-40B4-BE49-F238E27FC236}">
                    <a16:creationId xmlns:a16="http://schemas.microsoft.com/office/drawing/2014/main" id="{FB52F2C7-E73C-44F6-F03B-B84B620A8B36}"/>
                  </a:ext>
                </a:extLst>
              </p:cNvPr>
              <p:cNvSpPr txBox="1"/>
              <p:nvPr/>
            </p:nvSpPr>
            <p:spPr>
              <a:xfrm>
                <a:off x="4821173" y="2509243"/>
                <a:ext cx="2548433" cy="1980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Начальник управления</a:t>
                </a: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Text 29">
                <a:extLst>
                  <a:ext uri="{FF2B5EF4-FFF2-40B4-BE49-F238E27FC236}">
                    <a16:creationId xmlns:a16="http://schemas.microsoft.com/office/drawing/2014/main" id="{0156ECCC-EDF3-3262-5FE7-D3FDE16B9BAD}"/>
                  </a:ext>
                </a:extLst>
              </p:cNvPr>
              <p:cNvSpPr txBox="1"/>
              <p:nvPr/>
            </p:nvSpPr>
            <p:spPr>
              <a:xfrm>
                <a:off x="4342484" y="2766060"/>
                <a:ext cx="3505810" cy="2670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Секимов</a:t>
                </a:r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Рауан</a:t>
                </a:r>
                <a:r>
                  <a:rPr lang="ru-RU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6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Толегенович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59" name="Image 3" descr="preencoded.png">
              <a:extLst>
                <a:ext uri="{FF2B5EF4-FFF2-40B4-BE49-F238E27FC236}">
                  <a16:creationId xmlns:a16="http://schemas.microsoft.com/office/drawing/2014/main" id="{710F1053-39A7-D9E9-030D-D3E9D0C5B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80000"/>
            </a:blip>
            <a:srcRect l="-1648" r="-1648"/>
            <a:stretch/>
          </p:blipFill>
          <p:spPr>
            <a:xfrm>
              <a:off x="6077595" y="-1529724"/>
              <a:ext cx="536146" cy="5931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3295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5793" y="6829099"/>
            <a:ext cx="12191695" cy="11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1713" y="1286880"/>
            <a:ext cx="3610051" cy="263804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451713" y="1286880"/>
            <a:ext cx="47549" cy="2638044"/>
          </a:xfrm>
          <a:prstGeom prst="roundRect">
            <a:avLst>
              <a:gd name="adj" fmla="val 8331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99000" y="2673383"/>
            <a:ext cx="771655" cy="77165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86707" y="1286880"/>
            <a:ext cx="3610051" cy="263804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>
            <a:off x="4286707" y="1286880"/>
            <a:ext cx="47549" cy="2638044"/>
          </a:xfrm>
          <a:prstGeom prst="roundRect">
            <a:avLst>
              <a:gd name="adj" fmla="val 8331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6622" r="-6622"/>
          <a:stretch/>
        </p:blipFill>
        <p:spPr>
          <a:xfrm>
            <a:off x="6911561" y="2600675"/>
            <a:ext cx="799962" cy="9418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122615" y="1286880"/>
            <a:ext cx="3610051" cy="263804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7"/>
          <p:cNvSpPr/>
          <p:nvPr/>
        </p:nvSpPr>
        <p:spPr>
          <a:xfrm>
            <a:off x="8122615" y="1286880"/>
            <a:ext cx="47549" cy="2638044"/>
          </a:xfrm>
          <a:prstGeom prst="roundRect">
            <a:avLst>
              <a:gd name="adj" fmla="val 8331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2600" b="-2600"/>
          <a:stretch/>
        </p:blipFill>
        <p:spPr>
          <a:xfrm>
            <a:off x="10627614" y="2505775"/>
            <a:ext cx="1028700" cy="96194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1713" y="4148038"/>
            <a:ext cx="3610051" cy="263804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9"/>
          <p:cNvSpPr/>
          <p:nvPr/>
        </p:nvSpPr>
        <p:spPr>
          <a:xfrm>
            <a:off x="451713" y="4148038"/>
            <a:ext cx="47549" cy="2638044"/>
          </a:xfrm>
          <a:prstGeom prst="roundRect">
            <a:avLst>
              <a:gd name="adj" fmla="val 8331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56839" y="5425454"/>
            <a:ext cx="855975" cy="85597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286707" y="4148038"/>
            <a:ext cx="3610051" cy="263804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Shape 11"/>
          <p:cNvSpPr/>
          <p:nvPr/>
        </p:nvSpPr>
        <p:spPr>
          <a:xfrm>
            <a:off x="4286707" y="4148038"/>
            <a:ext cx="47549" cy="2638044"/>
          </a:xfrm>
          <a:prstGeom prst="roundRect">
            <a:avLst>
              <a:gd name="adj" fmla="val 8331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72643" y="5392994"/>
            <a:ext cx="933602" cy="93360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22615" y="4148038"/>
            <a:ext cx="3610051" cy="263804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3"/>
          <p:cNvSpPr/>
          <p:nvPr/>
        </p:nvSpPr>
        <p:spPr>
          <a:xfrm>
            <a:off x="8122615" y="4148038"/>
            <a:ext cx="47549" cy="2638044"/>
          </a:xfrm>
          <a:prstGeom prst="roundRect">
            <a:avLst>
              <a:gd name="adj" fmla="val 8331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664224" y="5410824"/>
            <a:ext cx="933602" cy="933602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89457" y="1878497"/>
            <a:ext cx="31811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15"/>
          <p:cNvSpPr/>
          <p:nvPr/>
        </p:nvSpPr>
        <p:spPr>
          <a:xfrm>
            <a:off x="689457" y="147799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756208" y="1553885"/>
            <a:ext cx="171907" cy="1527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89964" y="1497192"/>
            <a:ext cx="12271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VarData КБ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689457" y="2039431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</a:t>
            </a:r>
            <a:endParaRPr lang="en-US" sz="800" dirty="0"/>
          </a:p>
        </p:txBody>
      </p:sp>
      <p:sp>
        <p:nvSpPr>
          <p:cNvPr id="28" name="Text 18"/>
          <p:cNvSpPr txBox="1"/>
          <p:nvPr/>
        </p:nvSpPr>
        <p:spPr>
          <a:xfrm>
            <a:off x="689457" y="2207681"/>
            <a:ext cx="32580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для анализа фин. состояния клиента на основе РО (баланс, ОПиУ, ОДДС), а также для фин. отраслевого и peer-to-peer анализа.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689457" y="2834045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800" dirty="0"/>
          </a:p>
        </p:txBody>
      </p:sp>
      <p:sp>
        <p:nvSpPr>
          <p:cNvPr id="30" name="Text 20"/>
          <p:cNvSpPr txBox="1"/>
          <p:nvPr/>
        </p:nvSpPr>
        <p:spPr>
          <a:xfrm>
            <a:off x="689457" y="3001380"/>
            <a:ext cx="3296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КБ, ДКА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689457" y="3286673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800" dirty="0"/>
          </a:p>
        </p:txBody>
      </p:sp>
      <p:sp>
        <p:nvSpPr>
          <p:cNvPr id="32" name="Text 22"/>
          <p:cNvSpPr txBox="1"/>
          <p:nvPr/>
        </p:nvSpPr>
        <p:spPr>
          <a:xfrm>
            <a:off x="689457" y="3474616"/>
            <a:ext cx="981151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(Flask)</a:t>
            </a:r>
            <a:endParaRPr lang="en-US" sz="800" dirty="0"/>
          </a:p>
        </p:txBody>
      </p:sp>
      <p:sp>
        <p:nvSpPr>
          <p:cNvPr id="33" name="Text 23"/>
          <p:cNvSpPr txBox="1"/>
          <p:nvPr/>
        </p:nvSpPr>
        <p:spPr>
          <a:xfrm>
            <a:off x="1733983" y="3474616"/>
            <a:ext cx="562356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jQuery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2371777" y="3474616"/>
            <a:ext cx="838505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4525365" y="1878497"/>
            <a:ext cx="31811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26"/>
          <p:cNvSpPr/>
          <p:nvPr/>
        </p:nvSpPr>
        <p:spPr>
          <a:xfrm>
            <a:off x="4525365" y="147799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4592116" y="1553885"/>
            <a:ext cx="171907" cy="15270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924958" y="1497192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SpecCond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4525365" y="2039431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</a:t>
            </a:r>
            <a:endParaRPr lang="en-US" sz="800" dirty="0"/>
          </a:p>
        </p:txBody>
      </p:sp>
      <p:sp>
        <p:nvSpPr>
          <p:cNvPr id="40" name="Text 29"/>
          <p:cNvSpPr txBox="1"/>
          <p:nvPr/>
        </p:nvSpPr>
        <p:spPr>
          <a:xfrm>
            <a:off x="4525365" y="2207681"/>
            <a:ext cx="32580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Система, хранящая все особые условия уполномоченных органов Банка, принимающих решения по займам МСБ.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4525365" y="2834045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800" dirty="0"/>
          </a:p>
        </p:txBody>
      </p:sp>
      <p:sp>
        <p:nvSpPr>
          <p:cNvPr id="42" name="Text 31"/>
          <p:cNvSpPr txBox="1"/>
          <p:nvPr/>
        </p:nvSpPr>
        <p:spPr>
          <a:xfrm>
            <a:off x="4525365" y="3001380"/>
            <a:ext cx="3296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КБ, ДАБО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4525365" y="3286673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800" dirty="0"/>
          </a:p>
        </p:txBody>
      </p:sp>
      <p:sp>
        <p:nvSpPr>
          <p:cNvPr id="44" name="Text 33"/>
          <p:cNvSpPr txBox="1"/>
          <p:nvPr/>
        </p:nvSpPr>
        <p:spPr>
          <a:xfrm>
            <a:off x="4508423" y="3475800"/>
            <a:ext cx="981151" cy="219456"/>
          </a:xfrm>
          <a:prstGeom prst="roundRect">
            <a:avLst>
              <a:gd name="adj" fmla="val 30108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>
            <a:lvl1pPr indent="0" algn="ctr">
              <a:buNone/>
              <a:defRPr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-US" dirty="0"/>
              <a:t>Python (Flask)</a:t>
            </a:r>
          </a:p>
        </p:txBody>
      </p:sp>
      <p:sp>
        <p:nvSpPr>
          <p:cNvPr id="45" name="Text 34"/>
          <p:cNvSpPr txBox="1"/>
          <p:nvPr/>
        </p:nvSpPr>
        <p:spPr>
          <a:xfrm>
            <a:off x="5591987" y="3475800"/>
            <a:ext cx="562356" cy="219456"/>
          </a:xfrm>
          <a:prstGeom prst="roundRect">
            <a:avLst>
              <a:gd name="adj" fmla="val 30108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>
            <a:lvl1pPr indent="0" algn="ctr">
              <a:buNone/>
              <a:defRPr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-US" dirty="0"/>
              <a:t>jQuery</a:t>
            </a:r>
          </a:p>
        </p:txBody>
      </p:sp>
      <p:sp>
        <p:nvSpPr>
          <p:cNvPr id="46" name="Text 35"/>
          <p:cNvSpPr txBox="1"/>
          <p:nvPr/>
        </p:nvSpPr>
        <p:spPr>
          <a:xfrm>
            <a:off x="6229781" y="3475800"/>
            <a:ext cx="838505" cy="219456"/>
          </a:xfrm>
          <a:prstGeom prst="roundRect">
            <a:avLst>
              <a:gd name="adj" fmla="val 30108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>
            <a:lvl1pPr indent="0" algn="ctr">
              <a:buNone/>
              <a:defRPr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-US"/>
              <a:t>PostgreSQL</a:t>
            </a:r>
            <a:endParaRPr lang="en-US" dirty="0"/>
          </a:p>
        </p:txBody>
      </p:sp>
      <p:sp>
        <p:nvSpPr>
          <p:cNvPr id="47" name="Shape 36"/>
          <p:cNvSpPr/>
          <p:nvPr/>
        </p:nvSpPr>
        <p:spPr>
          <a:xfrm>
            <a:off x="8360359" y="1878497"/>
            <a:ext cx="31811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37"/>
          <p:cNvSpPr/>
          <p:nvPr/>
        </p:nvSpPr>
        <p:spPr>
          <a:xfrm>
            <a:off x="8360359" y="147799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8427110" y="1553885"/>
            <a:ext cx="171907" cy="152705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8760866" y="1497192"/>
            <a:ext cx="13816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"Набивалка"</a:t>
            </a:r>
            <a:endParaRPr lang="en-US" sz="1500" dirty="0"/>
          </a:p>
        </p:txBody>
      </p:sp>
      <p:sp>
        <p:nvSpPr>
          <p:cNvPr id="51" name="Text 39"/>
          <p:cNvSpPr txBox="1"/>
          <p:nvPr/>
        </p:nvSpPr>
        <p:spPr>
          <a:xfrm>
            <a:off x="8360359" y="2039431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</a:t>
            </a:r>
            <a:endParaRPr lang="en-US" sz="800" dirty="0"/>
          </a:p>
        </p:txBody>
      </p:sp>
      <p:sp>
        <p:nvSpPr>
          <p:cNvPr id="52" name="Text 40"/>
          <p:cNvSpPr txBox="1"/>
          <p:nvPr/>
        </p:nvSpPr>
        <p:spPr>
          <a:xfrm>
            <a:off x="8360359" y="2207681"/>
            <a:ext cx="3258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Ввод и хранение дополнительных условий по займам.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8360359" y="2663052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800" dirty="0"/>
          </a:p>
        </p:txBody>
      </p:sp>
      <p:sp>
        <p:nvSpPr>
          <p:cNvPr id="54" name="Text 42"/>
          <p:cNvSpPr txBox="1"/>
          <p:nvPr/>
        </p:nvSpPr>
        <p:spPr>
          <a:xfrm>
            <a:off x="8360359" y="2831302"/>
            <a:ext cx="3296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ФБ, ДАБО, КБ, ДЦК ЮЛ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8360359" y="3286673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800" dirty="0"/>
          </a:p>
        </p:txBody>
      </p:sp>
      <p:sp>
        <p:nvSpPr>
          <p:cNvPr id="56" name="Text 44"/>
          <p:cNvSpPr txBox="1"/>
          <p:nvPr/>
        </p:nvSpPr>
        <p:spPr>
          <a:xfrm>
            <a:off x="8360359" y="3474616"/>
            <a:ext cx="1457554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(Flask, FastAPI)</a:t>
            </a:r>
            <a:endParaRPr lang="en-US" sz="800" dirty="0"/>
          </a:p>
        </p:txBody>
      </p:sp>
      <p:sp>
        <p:nvSpPr>
          <p:cNvPr id="57" name="Text 45"/>
          <p:cNvSpPr txBox="1"/>
          <p:nvPr/>
        </p:nvSpPr>
        <p:spPr>
          <a:xfrm>
            <a:off x="9872388" y="3474616"/>
            <a:ext cx="629107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React.js</a:t>
            </a:r>
            <a:endParaRPr lang="en-US" sz="800" dirty="0"/>
          </a:p>
        </p:txBody>
      </p:sp>
      <p:sp>
        <p:nvSpPr>
          <p:cNvPr id="58" name="Text 46"/>
          <p:cNvSpPr txBox="1"/>
          <p:nvPr/>
        </p:nvSpPr>
        <p:spPr>
          <a:xfrm>
            <a:off x="10555970" y="3474616"/>
            <a:ext cx="838505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59" name="Shape 47"/>
          <p:cNvSpPr/>
          <p:nvPr/>
        </p:nvSpPr>
        <p:spPr>
          <a:xfrm>
            <a:off x="689457" y="4738740"/>
            <a:ext cx="31811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Shape 48"/>
          <p:cNvSpPr/>
          <p:nvPr/>
        </p:nvSpPr>
        <p:spPr>
          <a:xfrm>
            <a:off x="689457" y="433823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66267" y="4414128"/>
            <a:ext cx="152705" cy="15270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1089964" y="4357435"/>
            <a:ext cx="1257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VarData МБ</a:t>
            </a:r>
            <a:endParaRPr lang="en-US" sz="1500" dirty="0"/>
          </a:p>
        </p:txBody>
      </p:sp>
      <p:sp>
        <p:nvSpPr>
          <p:cNvPr id="63" name="Text 50"/>
          <p:cNvSpPr txBox="1"/>
          <p:nvPr/>
        </p:nvSpPr>
        <p:spPr>
          <a:xfrm>
            <a:off x="689457" y="4900589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</a:t>
            </a:r>
            <a:endParaRPr lang="en-US" sz="800" dirty="0"/>
          </a:p>
        </p:txBody>
      </p:sp>
      <p:sp>
        <p:nvSpPr>
          <p:cNvPr id="64" name="Text 51"/>
          <p:cNvSpPr txBox="1"/>
          <p:nvPr/>
        </p:nvSpPr>
        <p:spPr>
          <a:xfrm>
            <a:off x="689457" y="5067924"/>
            <a:ext cx="3258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экон. экспертизы по физическому кредитованию МСБ. Оценка экон. деятельности.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689457" y="5523295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800" dirty="0"/>
          </a:p>
        </p:txBody>
      </p:sp>
      <p:sp>
        <p:nvSpPr>
          <p:cNvPr id="66" name="Text 53"/>
          <p:cNvSpPr txBox="1"/>
          <p:nvPr/>
        </p:nvSpPr>
        <p:spPr>
          <a:xfrm>
            <a:off x="689457" y="5691545"/>
            <a:ext cx="3296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КБ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668883" y="6146915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800" dirty="0"/>
          </a:p>
        </p:txBody>
      </p:sp>
      <p:sp>
        <p:nvSpPr>
          <p:cNvPr id="68" name="Text 55"/>
          <p:cNvSpPr txBox="1"/>
          <p:nvPr/>
        </p:nvSpPr>
        <p:spPr>
          <a:xfrm>
            <a:off x="674041" y="6335774"/>
            <a:ext cx="1114654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(FastAPI)</a:t>
            </a:r>
            <a:endParaRPr lang="en-US" sz="800" dirty="0"/>
          </a:p>
        </p:txBody>
      </p:sp>
      <p:sp>
        <p:nvSpPr>
          <p:cNvPr id="69" name="Text 56"/>
          <p:cNvSpPr txBox="1"/>
          <p:nvPr/>
        </p:nvSpPr>
        <p:spPr>
          <a:xfrm>
            <a:off x="1844426" y="6335774"/>
            <a:ext cx="629107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React.js</a:t>
            </a:r>
            <a:endParaRPr lang="en-US" sz="800" dirty="0"/>
          </a:p>
        </p:txBody>
      </p:sp>
      <p:sp>
        <p:nvSpPr>
          <p:cNvPr id="70" name="Text 57"/>
          <p:cNvSpPr txBox="1"/>
          <p:nvPr/>
        </p:nvSpPr>
        <p:spPr>
          <a:xfrm>
            <a:off x="2529264" y="6335774"/>
            <a:ext cx="838505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71" name="Shape 58"/>
          <p:cNvSpPr/>
          <p:nvPr/>
        </p:nvSpPr>
        <p:spPr>
          <a:xfrm>
            <a:off x="4525365" y="4738740"/>
            <a:ext cx="31811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Shape 59"/>
          <p:cNvSpPr/>
          <p:nvPr/>
        </p:nvSpPr>
        <p:spPr>
          <a:xfrm>
            <a:off x="4525365" y="433823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601260" y="4414128"/>
            <a:ext cx="152705" cy="152705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4924958" y="4357435"/>
            <a:ext cx="476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ESG</a:t>
            </a:r>
            <a:endParaRPr lang="en-US" sz="1500" dirty="0"/>
          </a:p>
        </p:txBody>
      </p:sp>
      <p:sp>
        <p:nvSpPr>
          <p:cNvPr id="75" name="Text 61"/>
          <p:cNvSpPr txBox="1"/>
          <p:nvPr/>
        </p:nvSpPr>
        <p:spPr>
          <a:xfrm>
            <a:off x="4525365" y="4900589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</a:t>
            </a:r>
            <a:endParaRPr lang="en-US" sz="800" dirty="0"/>
          </a:p>
        </p:txBody>
      </p:sp>
      <p:sp>
        <p:nvSpPr>
          <p:cNvPr id="76" name="Text 62"/>
          <p:cNvSpPr txBox="1"/>
          <p:nvPr/>
        </p:nvSpPr>
        <p:spPr>
          <a:xfrm>
            <a:off x="4525365" y="5067924"/>
            <a:ext cx="32580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процесса ESG (Environmental, Social, Governance). Анализ экологического риска для клиента.</a:t>
            </a:r>
            <a:endParaRPr lang="en-US" sz="900" dirty="0"/>
          </a:p>
        </p:txBody>
      </p:sp>
      <p:sp>
        <p:nvSpPr>
          <p:cNvPr id="77" name="Text 63"/>
          <p:cNvSpPr txBox="1"/>
          <p:nvPr/>
        </p:nvSpPr>
        <p:spPr>
          <a:xfrm>
            <a:off x="4525365" y="5694288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800" dirty="0"/>
          </a:p>
        </p:txBody>
      </p:sp>
      <p:sp>
        <p:nvSpPr>
          <p:cNvPr id="78" name="Text 64"/>
          <p:cNvSpPr txBox="1"/>
          <p:nvPr/>
        </p:nvSpPr>
        <p:spPr>
          <a:xfrm>
            <a:off x="4525365" y="5862538"/>
            <a:ext cx="3296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Блок рисков, DS</a:t>
            </a:r>
            <a:endParaRPr lang="en-US" sz="900" dirty="0"/>
          </a:p>
        </p:txBody>
      </p:sp>
      <p:sp>
        <p:nvSpPr>
          <p:cNvPr id="79" name="Text 65"/>
          <p:cNvSpPr txBox="1"/>
          <p:nvPr/>
        </p:nvSpPr>
        <p:spPr>
          <a:xfrm>
            <a:off x="4525365" y="6146916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800" dirty="0"/>
          </a:p>
        </p:txBody>
      </p:sp>
      <p:sp>
        <p:nvSpPr>
          <p:cNvPr id="80" name="Text 66"/>
          <p:cNvSpPr txBox="1"/>
          <p:nvPr/>
        </p:nvSpPr>
        <p:spPr>
          <a:xfrm>
            <a:off x="4525365" y="6335774"/>
            <a:ext cx="981151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(Flask)</a:t>
            </a:r>
            <a:endParaRPr lang="en-US" sz="800" dirty="0"/>
          </a:p>
        </p:txBody>
      </p:sp>
      <p:sp>
        <p:nvSpPr>
          <p:cNvPr id="81" name="Text 67"/>
          <p:cNvSpPr txBox="1"/>
          <p:nvPr/>
        </p:nvSpPr>
        <p:spPr>
          <a:xfrm>
            <a:off x="5576959" y="6335774"/>
            <a:ext cx="562356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jQuery</a:t>
            </a:r>
            <a:endParaRPr lang="en-US" sz="800" dirty="0"/>
          </a:p>
        </p:txBody>
      </p:sp>
      <p:sp>
        <p:nvSpPr>
          <p:cNvPr id="82" name="Text 68"/>
          <p:cNvSpPr txBox="1"/>
          <p:nvPr/>
        </p:nvSpPr>
        <p:spPr>
          <a:xfrm>
            <a:off x="6197871" y="6335774"/>
            <a:ext cx="314554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</a:t>
            </a:r>
            <a:endParaRPr lang="en-US" sz="800" dirty="0"/>
          </a:p>
        </p:txBody>
      </p:sp>
      <p:sp>
        <p:nvSpPr>
          <p:cNvPr id="83" name="Text 69"/>
          <p:cNvSpPr txBox="1"/>
          <p:nvPr/>
        </p:nvSpPr>
        <p:spPr>
          <a:xfrm>
            <a:off x="6593561" y="6335774"/>
            <a:ext cx="838505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84" name="Shape 70"/>
          <p:cNvSpPr/>
          <p:nvPr/>
        </p:nvSpPr>
        <p:spPr>
          <a:xfrm>
            <a:off x="8360359" y="4738740"/>
            <a:ext cx="31811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5" name="Shape 71"/>
          <p:cNvSpPr/>
          <p:nvPr/>
        </p:nvSpPr>
        <p:spPr>
          <a:xfrm>
            <a:off x="8360359" y="433823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437168" y="4414128"/>
            <a:ext cx="152705" cy="152705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8760866" y="4357435"/>
            <a:ext cx="12865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Факсимиле</a:t>
            </a:r>
            <a:endParaRPr lang="en-US" sz="1500" dirty="0"/>
          </a:p>
        </p:txBody>
      </p:sp>
      <p:sp>
        <p:nvSpPr>
          <p:cNvPr id="88" name="Text 73"/>
          <p:cNvSpPr txBox="1"/>
          <p:nvPr/>
        </p:nvSpPr>
        <p:spPr>
          <a:xfrm>
            <a:off x="8360359" y="4900589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</a:t>
            </a:r>
            <a:endParaRPr lang="en-US" sz="800" dirty="0"/>
          </a:p>
        </p:txBody>
      </p:sp>
      <p:sp>
        <p:nvSpPr>
          <p:cNvPr id="89" name="Text 74"/>
          <p:cNvSpPr txBox="1"/>
          <p:nvPr/>
        </p:nvSpPr>
        <p:spPr>
          <a:xfrm>
            <a:off x="8360359" y="5067924"/>
            <a:ext cx="3258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Сервис хранит верифицированные и санкционированные факсимиле УЛ филиалов.</a:t>
            </a:r>
            <a:endParaRPr lang="en-US" sz="900" dirty="0"/>
          </a:p>
        </p:txBody>
      </p:sp>
      <p:sp>
        <p:nvSpPr>
          <p:cNvPr id="90" name="Text 75"/>
          <p:cNvSpPr txBox="1"/>
          <p:nvPr/>
        </p:nvSpPr>
        <p:spPr>
          <a:xfrm>
            <a:off x="8360359" y="5523295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800" dirty="0"/>
          </a:p>
        </p:txBody>
      </p:sp>
      <p:sp>
        <p:nvSpPr>
          <p:cNvPr id="91" name="Text 76"/>
          <p:cNvSpPr txBox="1"/>
          <p:nvPr/>
        </p:nvSpPr>
        <p:spPr>
          <a:xfrm>
            <a:off x="8360359" y="5691545"/>
            <a:ext cx="3296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Филиалы, ФБ, ДАБО</a:t>
            </a:r>
            <a:endParaRPr lang="en-US" sz="900" dirty="0"/>
          </a:p>
        </p:txBody>
      </p:sp>
      <p:sp>
        <p:nvSpPr>
          <p:cNvPr id="92" name="Text 77"/>
          <p:cNvSpPr txBox="1"/>
          <p:nvPr/>
        </p:nvSpPr>
        <p:spPr>
          <a:xfrm>
            <a:off x="8360359" y="6146916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9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технологий</a:t>
            </a:r>
            <a:endParaRPr lang="en-US" sz="800" dirty="0"/>
          </a:p>
        </p:txBody>
      </p:sp>
      <p:sp>
        <p:nvSpPr>
          <p:cNvPr id="93" name="Text 78"/>
          <p:cNvSpPr txBox="1"/>
          <p:nvPr/>
        </p:nvSpPr>
        <p:spPr>
          <a:xfrm>
            <a:off x="8360359" y="6335774"/>
            <a:ext cx="981151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(Flask)</a:t>
            </a:r>
            <a:endParaRPr lang="en-US" sz="800" dirty="0"/>
          </a:p>
        </p:txBody>
      </p:sp>
      <p:sp>
        <p:nvSpPr>
          <p:cNvPr id="94" name="Text 79"/>
          <p:cNvSpPr txBox="1"/>
          <p:nvPr/>
        </p:nvSpPr>
        <p:spPr>
          <a:xfrm>
            <a:off x="9427006" y="6335774"/>
            <a:ext cx="562356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jQuery</a:t>
            </a:r>
            <a:endParaRPr lang="en-US" sz="800" dirty="0"/>
          </a:p>
        </p:txBody>
      </p:sp>
      <p:sp>
        <p:nvSpPr>
          <p:cNvPr id="95" name="Text 80"/>
          <p:cNvSpPr txBox="1"/>
          <p:nvPr/>
        </p:nvSpPr>
        <p:spPr>
          <a:xfrm>
            <a:off x="10082242" y="6335774"/>
            <a:ext cx="838505" cy="21664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0" tIns="36000" rIns="0" bIns="3600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800" dirty="0"/>
          </a:p>
        </p:txBody>
      </p:sp>
      <p:pic>
        <p:nvPicPr>
          <p:cNvPr id="96" name="Image 13" descr="preencoded.png"/>
          <p:cNvPicPr>
            <a:picLocks noChangeAspect="1"/>
          </p:cNvPicPr>
          <p:nvPr/>
        </p:nvPicPr>
        <p:blipFill>
          <a:blip r:embed="rId16"/>
          <a:srcRect l="-837" r="-837"/>
          <a:stretch/>
        </p:blipFill>
        <p:spPr>
          <a:xfrm>
            <a:off x="609905" y="392278"/>
            <a:ext cx="152705" cy="133502"/>
          </a:xfrm>
          <a:prstGeom prst="rect">
            <a:avLst/>
          </a:prstGeom>
        </p:spPr>
      </p:pic>
      <p:sp>
        <p:nvSpPr>
          <p:cNvPr id="97" name="Text 81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98" name="Shape 82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9" name="Text 83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100" name="Shape 84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1" name="Text 85"/>
          <p:cNvSpPr txBox="1"/>
          <p:nvPr/>
        </p:nvSpPr>
        <p:spPr>
          <a:xfrm>
            <a:off x="838505" y="304495"/>
            <a:ext cx="61904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УРАС </a:t>
            </a:r>
            <a:endParaRPr lang="en-US" sz="1000" dirty="0"/>
          </a:p>
        </p:txBody>
      </p:sp>
      <p:sp>
        <p:nvSpPr>
          <p:cNvPr id="102" name="Text 86"/>
          <p:cNvSpPr txBox="1"/>
          <p:nvPr/>
        </p:nvSpPr>
        <p:spPr>
          <a:xfrm>
            <a:off x="457200" y="727862"/>
            <a:ext cx="80778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Сопровождаемые и развиваемые системы</a:t>
            </a:r>
            <a:endParaRPr lang="en-US" sz="2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967021"/>
            <a:ext cx="11392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6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развития на текущий год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5386730"/>
            <a:ext cx="11277295" cy="1019556"/>
          </a:xfrm>
          <a:prstGeom prst="roundRect">
            <a:avLst>
              <a:gd name="adj" fmla="val 10058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57200" y="5386730"/>
            <a:ext cx="57607" cy="1019556"/>
          </a:xfrm>
          <a:prstGeom prst="roundRect">
            <a:avLst>
              <a:gd name="adj" fmla="val 178016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 txBox="1"/>
          <p:nvPr/>
        </p:nvSpPr>
        <p:spPr>
          <a:xfrm>
            <a:off x="819302" y="5615330"/>
            <a:ext cx="106875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ближайшие полгода мы сосредоточимся на </a:t>
            </a:r>
            <a:r>
              <a:rPr lang="en-US" sz="13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внедрении новых функций</a:t>
            </a:r>
            <a:r>
              <a:rPr lang="en-US" sz="13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3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расширении интеграций</a:t>
            </a:r>
            <a:r>
              <a:rPr lang="en-US" sz="13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внутренними системами Банка. 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385316"/>
            <a:ext cx="3610051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457200" y="1385316"/>
            <a:ext cx="3588106" cy="38405"/>
          </a:xfrm>
          <a:prstGeom prst="rect">
            <a:avLst/>
          </a:prstGeom>
          <a:solidFill>
            <a:srgbClr val="14B8A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 txBox="1"/>
          <p:nvPr/>
        </p:nvSpPr>
        <p:spPr>
          <a:xfrm>
            <a:off x="3396082" y="1489558"/>
            <a:ext cx="587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623060"/>
            <a:ext cx="3248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"VarData МБ"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" y="196596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функционала, добавление новых бэнчмарков.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194" y="1385316"/>
            <a:ext cx="3610051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4292194" y="1385316"/>
            <a:ext cx="3588106" cy="38405"/>
          </a:xfrm>
          <a:prstGeom prst="rect">
            <a:avLst/>
          </a:prstGeom>
          <a:solidFill>
            <a:srgbClr val="14B8A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 txBox="1"/>
          <p:nvPr/>
        </p:nvSpPr>
        <p:spPr>
          <a:xfrm>
            <a:off x="7136892" y="1489558"/>
            <a:ext cx="648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4530852" y="1623060"/>
            <a:ext cx="3248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"ESG"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30852" y="1965960"/>
            <a:ext cx="3248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скоринговой модели.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28102" y="1385316"/>
            <a:ext cx="3610051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8128102" y="1385316"/>
            <a:ext cx="3588106" cy="38405"/>
          </a:xfrm>
          <a:prstGeom prst="rect">
            <a:avLst/>
          </a:prstGeom>
          <a:solidFill>
            <a:srgbClr val="14B8A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 txBox="1"/>
          <p:nvPr/>
        </p:nvSpPr>
        <p:spPr>
          <a:xfrm>
            <a:off x="10978286" y="1489558"/>
            <a:ext cx="638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8365846" y="1623060"/>
            <a:ext cx="3248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"VarData КБ"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65846" y="196596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Улучшение функционала, интеграция с BPM и LLM, улучшение функционала.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584655" y="3137306"/>
            <a:ext cx="4401007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2"/>
          <p:cNvSpPr/>
          <p:nvPr/>
        </p:nvSpPr>
        <p:spPr>
          <a:xfrm>
            <a:off x="1584655" y="3137306"/>
            <a:ext cx="4377233" cy="38405"/>
          </a:xfrm>
          <a:prstGeom prst="rect">
            <a:avLst/>
          </a:prstGeom>
          <a:solidFill>
            <a:srgbClr val="14B8A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 txBox="1"/>
          <p:nvPr/>
        </p:nvSpPr>
        <p:spPr>
          <a:xfrm>
            <a:off x="5276088" y="3256835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Text 24"/>
          <p:cNvSpPr txBox="1"/>
          <p:nvPr/>
        </p:nvSpPr>
        <p:spPr>
          <a:xfrm>
            <a:off x="1823314" y="3375965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SpecCond - Факсимиле - "Набивалка"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823314" y="3760927"/>
            <a:ext cx="4038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решения, улучшение функционала.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10605" y="3137306"/>
            <a:ext cx="4401007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7"/>
          <p:cNvSpPr/>
          <p:nvPr/>
        </p:nvSpPr>
        <p:spPr>
          <a:xfrm>
            <a:off x="6210605" y="3137306"/>
            <a:ext cx="4377233" cy="38405"/>
          </a:xfrm>
          <a:prstGeom prst="rect">
            <a:avLst/>
          </a:prstGeom>
          <a:solidFill>
            <a:srgbClr val="14B8A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 txBox="1"/>
          <p:nvPr/>
        </p:nvSpPr>
        <p:spPr>
          <a:xfrm>
            <a:off x="9845345" y="3242462"/>
            <a:ext cx="638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32" name="Text 29"/>
          <p:cNvSpPr txBox="1"/>
          <p:nvPr/>
        </p:nvSpPr>
        <p:spPr>
          <a:xfrm>
            <a:off x="6448349" y="3375965"/>
            <a:ext cx="40389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SpecCond РБ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448349" y="3766413"/>
            <a:ext cx="4038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Новый проект.</a:t>
            </a:r>
            <a:endParaRPr lang="en-US" sz="10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905" y="392278"/>
            <a:ext cx="152705" cy="13350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457200" y="727862"/>
            <a:ext cx="7982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Текущие проекты и приоритетные задачи</a:t>
            </a:r>
            <a:endParaRPr lang="en-US" sz="2700" dirty="0"/>
          </a:p>
        </p:txBody>
      </p:sp>
      <p:sp>
        <p:nvSpPr>
          <p:cNvPr id="36" name="Text 32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4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6"/>
          <p:cNvSpPr txBox="1"/>
          <p:nvPr/>
        </p:nvSpPr>
        <p:spPr>
          <a:xfrm>
            <a:off x="838505" y="304495"/>
            <a:ext cx="61904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УРАС 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0974" y="1484071"/>
            <a:ext cx="34774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bg1">
                    <a:lumMod val="5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Временные трудности</a:t>
            </a:r>
            <a:endParaRPr lang="en-US" sz="2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0" y="1478584"/>
            <a:ext cx="4000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Планы развития: Команда</a:t>
            </a:r>
            <a:endParaRPr lang="en-US" sz="2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6096305" y="2052828"/>
            <a:ext cx="9144" cy="473659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57200" y="2089404"/>
            <a:ext cx="5333695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5"/>
          <p:cNvSpPr/>
          <p:nvPr/>
        </p:nvSpPr>
        <p:spPr>
          <a:xfrm>
            <a:off x="457200" y="2089404"/>
            <a:ext cx="47549" cy="2190902"/>
          </a:xfrm>
          <a:prstGeom prst="roundRect">
            <a:avLst>
              <a:gd name="adj" fmla="val 100334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23" r="-23"/>
          <a:stretch/>
        </p:blipFill>
        <p:spPr>
          <a:xfrm>
            <a:off x="4190521" y="2283845"/>
            <a:ext cx="1425971" cy="1140263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33349" y="231800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3077" y="2451506"/>
            <a:ext cx="237744" cy="19019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57200" y="4507078"/>
            <a:ext cx="5333695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8"/>
          <p:cNvSpPr/>
          <p:nvPr/>
        </p:nvSpPr>
        <p:spPr>
          <a:xfrm>
            <a:off x="457200" y="4507078"/>
            <a:ext cx="47549" cy="2190902"/>
          </a:xfrm>
          <a:prstGeom prst="roundRect">
            <a:avLst>
              <a:gd name="adj" fmla="val 100334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9"/>
          <p:cNvSpPr/>
          <p:nvPr/>
        </p:nvSpPr>
        <p:spPr>
          <a:xfrm>
            <a:off x="733349" y="473567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3077" y="4869180"/>
            <a:ext cx="237744" cy="19019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400800" y="2089404"/>
            <a:ext cx="5333695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14B8A6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1"/>
          <p:cNvSpPr/>
          <p:nvPr/>
        </p:nvSpPr>
        <p:spPr>
          <a:xfrm>
            <a:off x="6400800" y="2089404"/>
            <a:ext cx="47549" cy="2190902"/>
          </a:xfrm>
          <a:prstGeom prst="roundRect">
            <a:avLst>
              <a:gd name="adj" fmla="val 10033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2"/>
          <p:cNvSpPr/>
          <p:nvPr/>
        </p:nvSpPr>
        <p:spPr>
          <a:xfrm>
            <a:off x="6676949" y="231800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819595" y="2451506"/>
            <a:ext cx="171907" cy="19019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6400800" y="4507078"/>
            <a:ext cx="5333695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14B8A6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Shape 14"/>
          <p:cNvSpPr/>
          <p:nvPr/>
        </p:nvSpPr>
        <p:spPr>
          <a:xfrm>
            <a:off x="6400800" y="4507078"/>
            <a:ext cx="47549" cy="2190902"/>
          </a:xfrm>
          <a:prstGeom prst="roundRect">
            <a:avLst>
              <a:gd name="adj" fmla="val 10033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>
            <a:alphaModFix amt="5000"/>
          </a:blip>
          <a:srcRect l="-23" r="-23"/>
          <a:stretch/>
        </p:blipFill>
        <p:spPr>
          <a:xfrm>
            <a:off x="9868078" y="4855922"/>
            <a:ext cx="1807896" cy="144566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6676949" y="473567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86677" y="4869180"/>
            <a:ext cx="237744" cy="19019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33349" y="2927909"/>
            <a:ext cx="49441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Технологические барьеры</a:t>
            </a:r>
            <a:endParaRPr lang="en-US" sz="1500" dirty="0"/>
          </a:p>
        </p:txBody>
      </p:sp>
      <p:sp>
        <p:nvSpPr>
          <p:cNvPr id="29" name="Text 17"/>
          <p:cNvSpPr txBox="1"/>
          <p:nvPr/>
        </p:nvSpPr>
        <p:spPr>
          <a:xfrm>
            <a:off x="733349" y="3290011"/>
            <a:ext cx="4905756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Присутствует </a:t>
            </a: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код</a:t>
            </a: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Высокая сложность интеграции устаревших систем с новыми технологическими стеками. Критически необходим глубокий </a:t>
            </a: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рефакторинг</a:t>
            </a: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ключевых систем. </a:t>
            </a:r>
            <a:endParaRPr lang="en-US" sz="1100" dirty="0"/>
          </a:p>
        </p:txBody>
      </p:sp>
      <p:sp>
        <p:nvSpPr>
          <p:cNvPr id="30" name="Text 18"/>
          <p:cNvSpPr txBox="1"/>
          <p:nvPr/>
        </p:nvSpPr>
        <p:spPr>
          <a:xfrm>
            <a:off x="733349" y="5345582"/>
            <a:ext cx="49441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Процессные сложности</a:t>
            </a:r>
            <a:endParaRPr lang="en-US" sz="1500" dirty="0"/>
          </a:p>
        </p:txBody>
      </p:sp>
      <p:sp>
        <p:nvSpPr>
          <p:cNvPr id="31" name="Text 19"/>
          <p:cNvSpPr txBox="1"/>
          <p:nvPr/>
        </p:nvSpPr>
        <p:spPr>
          <a:xfrm>
            <a:off x="733349" y="5707685"/>
            <a:ext cx="49057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Необходимость оптимизации внутренних процессов </a:t>
            </a: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разработки и внедрения</a:t>
            </a: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(CI/CD). Устранение узких мест в передаче задач между аналитикой и разработкой. </a:t>
            </a:r>
            <a:endParaRPr lang="en-US" sz="1100" dirty="0"/>
          </a:p>
        </p:txBody>
      </p:sp>
      <p:sp>
        <p:nvSpPr>
          <p:cNvPr id="32" name="Text 20"/>
          <p:cNvSpPr txBox="1"/>
          <p:nvPr/>
        </p:nvSpPr>
        <p:spPr>
          <a:xfrm>
            <a:off x="6676949" y="2927909"/>
            <a:ext cx="49441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</a:t>
            </a:r>
            <a:endParaRPr lang="en-US" sz="1500" dirty="0"/>
          </a:p>
        </p:txBody>
      </p:sp>
      <p:sp>
        <p:nvSpPr>
          <p:cNvPr id="33" name="Text 21"/>
          <p:cNvSpPr txBox="1"/>
          <p:nvPr/>
        </p:nvSpPr>
        <p:spPr>
          <a:xfrm>
            <a:off x="6676949" y="3290011"/>
            <a:ext cx="49057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Запуск программ </a:t>
            </a:r>
            <a:r>
              <a:rPr lang="en-US" sz="11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повышения квалификации</a:t>
            </a: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текущих сотрудников. Получение профессиональных сертификаций по стеку технологий (Python, PostgreSQL, React). 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6676949" y="5345582"/>
            <a:ext cx="49441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Наставничество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6676949" y="5707685"/>
            <a:ext cx="49057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Развитие системы </a:t>
            </a:r>
            <a:r>
              <a:rPr lang="en-US" sz="11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наставничества (mentoring)</a:t>
            </a: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быстрой адаптации новых работников. Создание базы знаний и внутренних воркшопов для обмена опытом. </a:t>
            </a:r>
            <a:endParaRPr lang="en-US" sz="11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609905" y="392278"/>
            <a:ext cx="152705" cy="1335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457200" y="727862"/>
            <a:ext cx="77440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Временные трудности и планы развития</a:t>
            </a:r>
            <a:endParaRPr lang="en-US" sz="2700" dirty="0"/>
          </a:p>
        </p:txBody>
      </p:sp>
      <p:sp>
        <p:nvSpPr>
          <p:cNvPr id="38" name="Text 25"/>
          <p:cNvSpPr txBox="1"/>
          <p:nvPr/>
        </p:nvSpPr>
        <p:spPr>
          <a:xfrm>
            <a:off x="9927641" y="342900"/>
            <a:ext cx="1419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Halyk Bank</a:t>
            </a:r>
            <a:endParaRPr lang="en-US" sz="1800" dirty="0"/>
          </a:p>
        </p:txBody>
      </p:sp>
      <p:sp>
        <p:nvSpPr>
          <p:cNvPr id="39" name="Shape 26"/>
          <p:cNvSpPr/>
          <p:nvPr/>
        </p:nvSpPr>
        <p:spPr>
          <a:xfrm>
            <a:off x="11354105" y="304495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A6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27"/>
          <p:cNvSpPr txBox="1"/>
          <p:nvPr/>
        </p:nvSpPr>
        <p:spPr>
          <a:xfrm>
            <a:off x="11324844" y="30449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500" dirty="0"/>
          </a:p>
        </p:txBody>
      </p:sp>
      <p:sp>
        <p:nvSpPr>
          <p:cNvPr id="41" name="Shape 28"/>
          <p:cNvSpPr/>
          <p:nvPr/>
        </p:nvSpPr>
        <p:spPr>
          <a:xfrm>
            <a:off x="457200" y="304495"/>
            <a:ext cx="942746" cy="314554"/>
          </a:xfrm>
          <a:prstGeom prst="roundRect">
            <a:avLst>
              <a:gd name="adj" fmla="val 290697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29"/>
          <p:cNvSpPr txBox="1"/>
          <p:nvPr/>
        </p:nvSpPr>
        <p:spPr>
          <a:xfrm>
            <a:off x="838505" y="304495"/>
            <a:ext cx="61904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УРАС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2384</Words>
  <Application>Microsoft Macintosh PowerPoint</Application>
  <PresentationFormat>Широкоэкранный</PresentationFormat>
  <Paragraphs>743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Century Gothic</vt:lpstr>
      <vt:lpstr>Montserrat</vt:lpstr>
      <vt:lpstr>Montserrat Light</vt:lpstr>
      <vt:lpstr>Montserrat Medium</vt:lpstr>
      <vt:lpstr>ui-monospace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37</cp:revision>
  <dcterms:created xsi:type="dcterms:W3CDTF">2026-02-03T18:49:27Z</dcterms:created>
  <dcterms:modified xsi:type="dcterms:W3CDTF">2026-02-04T09:41:51Z</dcterms:modified>
</cp:coreProperties>
</file>