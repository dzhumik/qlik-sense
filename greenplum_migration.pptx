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923C"/>
    <a:srgbClr val="F9FBFC"/>
    <a:srgbClr val="AD48F6"/>
    <a:srgbClr val="DCFCE7"/>
    <a:srgbClr val="FEF9C4"/>
    <a:srgbClr val="A846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27"/>
    <p:restoredTop sz="94610"/>
  </p:normalViewPr>
  <p:slideViewPr>
    <p:cSldViewPr snapToGrid="0" snapToObjects="1">
      <p:cViewPr>
        <p:scale>
          <a:sx n="128" d="100"/>
          <a:sy n="128" d="100"/>
        </p:scale>
        <p:origin x="-648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51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17961" y="108481"/>
            <a:ext cx="9260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Миграция платформы данных на Greenplum</a:t>
            </a:r>
            <a:endParaRPr lang="en-US" sz="2800" dirty="0">
              <a:latin typeface="Montserrat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17962" y="614309"/>
            <a:ext cx="6980860" cy="33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KZ" altLang="ru-KZ" sz="1400" dirty="0">
                <a:solidFill>
                  <a:srgbClr val="666666"/>
                </a:solidFill>
                <a:latin typeface="Montserrat" pitchFamily="2" charset="0"/>
              </a:rPr>
              <a:t>Поэтапный переход с EDW (Hadoop / Oracle) — без остановки отчётности</a:t>
            </a:r>
            <a:endParaRPr lang="ru-KZ" altLang="ru-KZ" sz="1400" dirty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834640" y="6858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17962" y="1100133"/>
            <a:ext cx="6949440" cy="590827"/>
          </a:xfrm>
          <a:prstGeom prst="roundRect">
            <a:avLst>
              <a:gd name="adj" fmla="val 7143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dash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0"/>
          <p:cNvSpPr/>
          <p:nvPr/>
        </p:nvSpPr>
        <p:spPr>
          <a:xfrm>
            <a:off x="7618862" y="11064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Этапы реализации</a:t>
            </a:r>
            <a:endParaRPr lang="en-US" sz="1800" dirty="0">
              <a:latin typeface="Montserrat" pitchFamily="2" charset="0"/>
            </a:endParaRPr>
          </a:p>
        </p:txBody>
      </p:sp>
      <p:grpSp>
        <p:nvGrpSpPr>
          <p:cNvPr id="136" name="Группа 135">
            <a:extLst>
              <a:ext uri="{FF2B5EF4-FFF2-40B4-BE49-F238E27FC236}">
                <a16:creationId xmlns:a16="http://schemas.microsoft.com/office/drawing/2014/main" id="{9E6B80DA-6A3E-106C-FEBE-B689C268A0AC}"/>
              </a:ext>
            </a:extLst>
          </p:cNvPr>
          <p:cNvGrpSpPr/>
          <p:nvPr/>
        </p:nvGrpSpPr>
        <p:grpSpPr>
          <a:xfrm>
            <a:off x="7618862" y="3694176"/>
            <a:ext cx="4297680" cy="621792"/>
            <a:chOff x="7618862" y="3694176"/>
            <a:chExt cx="4297680" cy="621792"/>
          </a:xfrm>
        </p:grpSpPr>
        <p:sp>
          <p:nvSpPr>
            <p:cNvPr id="57" name="Shape 50"/>
            <p:cNvSpPr/>
            <p:nvPr/>
          </p:nvSpPr>
          <p:spPr>
            <a:xfrm>
              <a:off x="7618862" y="3694176"/>
              <a:ext cx="4297680" cy="621792"/>
            </a:xfrm>
            <a:prstGeom prst="roundRect">
              <a:avLst>
                <a:gd name="adj" fmla="val 11765"/>
              </a:avLst>
            </a:prstGeom>
            <a:solidFill>
              <a:srgbClr val="F0FDF4"/>
            </a:solidFill>
            <a:ln/>
          </p:spPr>
          <p:txBody>
            <a:bodyPr/>
            <a:lstStyle/>
            <a:p>
              <a:endParaRPr lang="ru-KZ"/>
            </a:p>
          </p:txBody>
        </p:sp>
        <p:pic>
          <p:nvPicPr>
            <p:cNvPr id="58" name="Image 5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1742" y="3822192"/>
              <a:ext cx="320040" cy="320040"/>
            </a:xfrm>
            <a:prstGeom prst="rect">
              <a:avLst/>
            </a:prstGeom>
          </p:spPr>
        </p:pic>
        <p:sp>
          <p:nvSpPr>
            <p:cNvPr id="59" name="Text 51"/>
            <p:cNvSpPr/>
            <p:nvPr/>
          </p:nvSpPr>
          <p:spPr>
            <a:xfrm>
              <a:off x="8258942" y="3739896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A1A1A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Подключение QlikSense</a:t>
              </a:r>
              <a:endParaRPr lang="en-US" sz="1100" dirty="0">
                <a:latin typeface="Montserrat" pitchFamily="2" charset="0"/>
              </a:endParaRPr>
            </a:p>
          </p:txBody>
        </p:sp>
        <p:sp>
          <p:nvSpPr>
            <p:cNvPr id="60" name="Text 52"/>
            <p:cNvSpPr/>
            <p:nvPr/>
          </p:nvSpPr>
          <p:spPr>
            <a:xfrm>
              <a:off x="8258942" y="4014216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6B7280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Отчетность работает</a:t>
              </a:r>
              <a:endParaRPr lang="en-US" sz="950" dirty="0">
                <a:latin typeface="Montserrat" pitchFamily="2" charset="0"/>
              </a:endParaRPr>
            </a:p>
          </p:txBody>
        </p:sp>
      </p:grpSp>
      <p:grpSp>
        <p:nvGrpSpPr>
          <p:cNvPr id="137" name="Группа 136">
            <a:extLst>
              <a:ext uri="{FF2B5EF4-FFF2-40B4-BE49-F238E27FC236}">
                <a16:creationId xmlns:a16="http://schemas.microsoft.com/office/drawing/2014/main" id="{D5C39AC5-C51A-570F-2BB1-A8E049684EB5}"/>
              </a:ext>
            </a:extLst>
          </p:cNvPr>
          <p:cNvGrpSpPr/>
          <p:nvPr/>
        </p:nvGrpSpPr>
        <p:grpSpPr>
          <a:xfrm>
            <a:off x="7618862" y="4389120"/>
            <a:ext cx="4297680" cy="621792"/>
            <a:chOff x="7618862" y="4389120"/>
            <a:chExt cx="4297680" cy="621792"/>
          </a:xfrm>
        </p:grpSpPr>
        <p:sp>
          <p:nvSpPr>
            <p:cNvPr id="61" name="Shape 53"/>
            <p:cNvSpPr/>
            <p:nvPr/>
          </p:nvSpPr>
          <p:spPr>
            <a:xfrm>
              <a:off x="7618862" y="4389120"/>
              <a:ext cx="4297680" cy="621792"/>
            </a:xfrm>
            <a:prstGeom prst="roundRect">
              <a:avLst>
                <a:gd name="adj" fmla="val 11765"/>
              </a:avLst>
            </a:prstGeom>
            <a:solidFill>
              <a:srgbClr val="F0FDF4"/>
            </a:solidFill>
            <a:ln/>
          </p:spPr>
          <p:txBody>
            <a:bodyPr/>
            <a:lstStyle/>
            <a:p>
              <a:endParaRPr lang="ru-KZ"/>
            </a:p>
          </p:txBody>
        </p:sp>
        <p:pic>
          <p:nvPicPr>
            <p:cNvPr id="62" name="Image 6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1742" y="4517136"/>
              <a:ext cx="320040" cy="320040"/>
            </a:xfrm>
            <a:prstGeom prst="rect">
              <a:avLst/>
            </a:prstGeom>
          </p:spPr>
        </p:pic>
        <p:sp>
          <p:nvSpPr>
            <p:cNvPr id="63" name="Text 54"/>
            <p:cNvSpPr/>
            <p:nvPr/>
          </p:nvSpPr>
          <p:spPr>
            <a:xfrm>
              <a:off x="8258942" y="4434840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A1A1A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Механизм получения в ODS</a:t>
              </a:r>
              <a:endParaRPr lang="en-US" sz="1100" dirty="0">
                <a:latin typeface="Montserrat" pitchFamily="2" charset="0"/>
              </a:endParaRPr>
            </a:p>
          </p:txBody>
        </p:sp>
        <p:sp>
          <p:nvSpPr>
            <p:cNvPr id="64" name="Text 55"/>
            <p:cNvSpPr/>
            <p:nvPr/>
          </p:nvSpPr>
          <p:spPr>
            <a:xfrm>
              <a:off x="8258942" y="4709160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6B7280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Потоки настроены</a:t>
              </a:r>
              <a:endParaRPr lang="en-US" sz="950" dirty="0">
                <a:latin typeface="Montserrat" pitchFamily="2" charset="0"/>
              </a:endParaRPr>
            </a:p>
          </p:txBody>
        </p:sp>
      </p:grpSp>
      <p:grpSp>
        <p:nvGrpSpPr>
          <p:cNvPr id="139" name="Группа 138">
            <a:extLst>
              <a:ext uri="{FF2B5EF4-FFF2-40B4-BE49-F238E27FC236}">
                <a16:creationId xmlns:a16="http://schemas.microsoft.com/office/drawing/2014/main" id="{589698DA-0487-CCEF-E116-000D2C74F5E5}"/>
              </a:ext>
            </a:extLst>
          </p:cNvPr>
          <p:cNvGrpSpPr/>
          <p:nvPr/>
        </p:nvGrpSpPr>
        <p:grpSpPr>
          <a:xfrm>
            <a:off x="7618862" y="5779008"/>
            <a:ext cx="4297680" cy="621792"/>
            <a:chOff x="7618862" y="5779008"/>
            <a:chExt cx="4297680" cy="621792"/>
          </a:xfrm>
        </p:grpSpPr>
        <p:sp>
          <p:nvSpPr>
            <p:cNvPr id="69" name="Shape 59"/>
            <p:cNvSpPr/>
            <p:nvPr/>
          </p:nvSpPr>
          <p:spPr>
            <a:xfrm>
              <a:off x="7618862" y="5779008"/>
              <a:ext cx="4297680" cy="621792"/>
            </a:xfrm>
            <a:prstGeom prst="roundRect">
              <a:avLst>
                <a:gd name="adj" fmla="val 11765"/>
              </a:avLst>
            </a:prstGeom>
            <a:solidFill>
              <a:srgbClr val="FFF7ED"/>
            </a:solidFill>
            <a:ln w="19050">
              <a:solidFill>
                <a:srgbClr val="FB923C"/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70" name="Image 8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1742" y="5907024"/>
              <a:ext cx="320040" cy="320040"/>
            </a:xfrm>
            <a:prstGeom prst="rect">
              <a:avLst/>
            </a:prstGeom>
          </p:spPr>
        </p:pic>
        <p:sp>
          <p:nvSpPr>
            <p:cNvPr id="71" name="Text 60"/>
            <p:cNvSpPr/>
            <p:nvPr/>
          </p:nvSpPr>
          <p:spPr>
            <a:xfrm>
              <a:off x="8258942" y="5824728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ru-RU" sz="1100" b="1" dirty="0">
                  <a:solidFill>
                    <a:srgbClr val="1A1A1A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Переключение отчётов, песочниц и интеграций</a:t>
              </a:r>
            </a:p>
          </p:txBody>
        </p:sp>
        <p:sp>
          <p:nvSpPr>
            <p:cNvPr id="72" name="Text 61"/>
            <p:cNvSpPr/>
            <p:nvPr/>
          </p:nvSpPr>
          <p:spPr>
            <a:xfrm>
              <a:off x="8258942" y="6148035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FB92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В РАБОТЕ</a:t>
              </a:r>
              <a:endParaRPr lang="en-US" sz="950" dirty="0"/>
            </a:p>
          </p:txBody>
        </p:sp>
      </p:grpSp>
      <p:sp>
        <p:nvSpPr>
          <p:cNvPr id="76" name="Shape 13">
            <a:extLst>
              <a:ext uri="{FF2B5EF4-FFF2-40B4-BE49-F238E27FC236}">
                <a16:creationId xmlns:a16="http://schemas.microsoft.com/office/drawing/2014/main" id="{6643B3C3-A3AB-4160-AEB0-1EEC300014F4}"/>
              </a:ext>
            </a:extLst>
          </p:cNvPr>
          <p:cNvSpPr/>
          <p:nvPr/>
        </p:nvSpPr>
        <p:spPr>
          <a:xfrm>
            <a:off x="355002" y="1995678"/>
            <a:ext cx="3125338" cy="3865626"/>
          </a:xfrm>
          <a:prstGeom prst="roundRect">
            <a:avLst>
              <a:gd name="adj" fmla="val 6044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dash"/>
          </a:ln>
        </p:spPr>
        <p:txBody>
          <a:bodyPr/>
          <a:lstStyle/>
          <a:p>
            <a:endParaRPr lang="ru-KZ" dirty="0"/>
          </a:p>
        </p:txBody>
      </p:sp>
      <p:sp>
        <p:nvSpPr>
          <p:cNvPr id="78" name="Shape 13">
            <a:extLst>
              <a:ext uri="{FF2B5EF4-FFF2-40B4-BE49-F238E27FC236}">
                <a16:creationId xmlns:a16="http://schemas.microsoft.com/office/drawing/2014/main" id="{2ED335F4-9FCA-3A3C-FD90-6AD4103E17D3}"/>
              </a:ext>
            </a:extLst>
          </p:cNvPr>
          <p:cNvSpPr/>
          <p:nvPr/>
        </p:nvSpPr>
        <p:spPr>
          <a:xfrm>
            <a:off x="349382" y="6144768"/>
            <a:ext cx="6949440" cy="590827"/>
          </a:xfrm>
          <a:prstGeom prst="roundRect">
            <a:avLst>
              <a:gd name="adj" fmla="val 7143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dash"/>
          </a:ln>
        </p:spPr>
        <p:txBody>
          <a:bodyPr/>
          <a:lstStyle/>
          <a:p>
            <a:endParaRPr lang="ru-KZ" dirty="0"/>
          </a:p>
        </p:txBody>
      </p:sp>
      <p:sp>
        <p:nvSpPr>
          <p:cNvPr id="43" name="Text 39"/>
          <p:cNvSpPr/>
          <p:nvPr/>
        </p:nvSpPr>
        <p:spPr>
          <a:xfrm>
            <a:off x="2955111" y="6207543"/>
            <a:ext cx="1759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206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BI </a:t>
            </a:r>
            <a:r>
              <a:rPr lang="ru-RU" b="1" dirty="0">
                <a:solidFill>
                  <a:srgbClr val="00206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b="1" dirty="0">
                <a:solidFill>
                  <a:srgbClr val="00206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Qlik Sense</a:t>
            </a:r>
            <a:r>
              <a:rPr lang="ru-RU" b="1" dirty="0">
                <a:solidFill>
                  <a:srgbClr val="00206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)</a:t>
            </a:r>
            <a:endParaRPr lang="en-US" dirty="0">
              <a:solidFill>
                <a:srgbClr val="002060"/>
              </a:solidFill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53166" y="2052193"/>
            <a:ext cx="3125338" cy="131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99999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ИСХОДНАЯ АРХИТЕКТУРА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27479" y="2614256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7"/>
          <p:cNvSpPr/>
          <p:nvPr/>
        </p:nvSpPr>
        <p:spPr>
          <a:xfrm>
            <a:off x="883730" y="3044951"/>
            <a:ext cx="2011680" cy="766585"/>
          </a:xfrm>
          <a:prstGeom prst="roundRect">
            <a:avLst>
              <a:gd name="adj" fmla="val 12500"/>
            </a:avLst>
          </a:prstGeom>
          <a:solidFill>
            <a:srgbClr val="FEF9C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883730" y="3044951"/>
            <a:ext cx="2011680" cy="766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accent4">
                    <a:lumMod val="7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ODS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27479" y="4223017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531B2E4A-3088-D182-05A7-72042D8F1BAE}"/>
              </a:ext>
            </a:extLst>
          </p:cNvPr>
          <p:cNvSpPr/>
          <p:nvPr/>
        </p:nvSpPr>
        <p:spPr>
          <a:xfrm>
            <a:off x="2145862" y="1150823"/>
            <a:ext cx="34316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SOURCES (</a:t>
            </a:r>
            <a:r>
              <a:rPr lang="ru-RU" b="1" dirty="0">
                <a:solidFill>
                  <a:srgbClr val="00206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ИСТОЧНИКИ)</a:t>
            </a:r>
          </a:p>
        </p:txBody>
      </p:sp>
      <p:grpSp>
        <p:nvGrpSpPr>
          <p:cNvPr id="120" name="Группа 119">
            <a:extLst>
              <a:ext uri="{FF2B5EF4-FFF2-40B4-BE49-F238E27FC236}">
                <a16:creationId xmlns:a16="http://schemas.microsoft.com/office/drawing/2014/main" id="{021150DE-92D9-0BF3-1540-A44E518B3077}"/>
              </a:ext>
            </a:extLst>
          </p:cNvPr>
          <p:cNvGrpSpPr/>
          <p:nvPr/>
        </p:nvGrpSpPr>
        <p:grpSpPr>
          <a:xfrm>
            <a:off x="4062236" y="1609344"/>
            <a:ext cx="7854306" cy="4251959"/>
            <a:chOff x="4062236" y="1609344"/>
            <a:chExt cx="7854306" cy="4251959"/>
          </a:xfrm>
        </p:grpSpPr>
        <p:grpSp>
          <p:nvGrpSpPr>
            <p:cNvPr id="118" name="Группа 117">
              <a:extLst>
                <a:ext uri="{FF2B5EF4-FFF2-40B4-BE49-F238E27FC236}">
                  <a16:creationId xmlns:a16="http://schemas.microsoft.com/office/drawing/2014/main" id="{E208B2A1-CABF-2ED8-1AE9-8578DA29CDA0}"/>
                </a:ext>
              </a:extLst>
            </p:cNvPr>
            <p:cNvGrpSpPr/>
            <p:nvPr/>
          </p:nvGrpSpPr>
          <p:grpSpPr>
            <a:xfrm>
              <a:off x="4062236" y="1609344"/>
              <a:ext cx="7854306" cy="4251959"/>
              <a:chOff x="4062236" y="1609344"/>
              <a:chExt cx="7854306" cy="4251959"/>
            </a:xfrm>
          </p:grpSpPr>
          <p:sp>
            <p:nvSpPr>
              <p:cNvPr id="79" name="Shape 13">
                <a:extLst>
                  <a:ext uri="{FF2B5EF4-FFF2-40B4-BE49-F238E27FC236}">
                    <a16:creationId xmlns:a16="http://schemas.microsoft.com/office/drawing/2014/main" id="{DEF4D4AB-E407-F569-C0C3-6996E0703447}"/>
                  </a:ext>
                </a:extLst>
              </p:cNvPr>
              <p:cNvSpPr/>
              <p:nvPr/>
            </p:nvSpPr>
            <p:spPr>
              <a:xfrm>
                <a:off x="4062236" y="1995677"/>
                <a:ext cx="3189030" cy="3865626"/>
              </a:xfrm>
              <a:prstGeom prst="roundRect">
                <a:avLst>
                  <a:gd name="adj" fmla="val 6044"/>
                </a:avLst>
              </a:prstGeom>
              <a:solidFill>
                <a:srgbClr val="FAFAFA"/>
              </a:solidFill>
              <a:ln w="12700">
                <a:solidFill>
                  <a:srgbClr val="00B050"/>
                </a:solidFill>
                <a:prstDash val="dash"/>
              </a:ln>
            </p:spPr>
            <p:txBody>
              <a:bodyPr/>
              <a:lstStyle/>
              <a:p>
                <a:endParaRPr lang="ru-KZ" dirty="0"/>
              </a:p>
            </p:txBody>
          </p:sp>
          <p:grpSp>
            <p:nvGrpSpPr>
              <p:cNvPr id="117" name="Группа 116">
                <a:extLst>
                  <a:ext uri="{FF2B5EF4-FFF2-40B4-BE49-F238E27FC236}">
                    <a16:creationId xmlns:a16="http://schemas.microsoft.com/office/drawing/2014/main" id="{1CDA4540-3D10-6066-4DC0-FECB034B40DC}"/>
                  </a:ext>
                </a:extLst>
              </p:cNvPr>
              <p:cNvGrpSpPr/>
              <p:nvPr/>
            </p:nvGrpSpPr>
            <p:grpSpPr>
              <a:xfrm>
                <a:off x="7618862" y="1609344"/>
                <a:ext cx="4297680" cy="621792"/>
                <a:chOff x="9842926" y="7132320"/>
                <a:chExt cx="4297680" cy="621792"/>
              </a:xfrm>
            </p:grpSpPr>
            <p:sp>
              <p:nvSpPr>
                <p:cNvPr id="45" name="Shape 41"/>
                <p:cNvSpPr/>
                <p:nvPr/>
              </p:nvSpPr>
              <p:spPr>
                <a:xfrm>
                  <a:off x="9842926" y="7132320"/>
                  <a:ext cx="4297680" cy="621792"/>
                </a:xfrm>
                <a:prstGeom prst="roundRect">
                  <a:avLst>
                    <a:gd name="adj" fmla="val 11765"/>
                  </a:avLst>
                </a:prstGeom>
                <a:solidFill>
                  <a:srgbClr val="F0FDF4"/>
                </a:solidFill>
                <a:ln/>
              </p:spPr>
              <p:txBody>
                <a:bodyPr/>
                <a:lstStyle/>
                <a:p>
                  <a:endParaRPr lang="ru-KZ"/>
                </a:p>
              </p:txBody>
            </p:sp>
            <p:grpSp>
              <p:nvGrpSpPr>
                <p:cNvPr id="116" name="Группа 115">
                  <a:extLst>
                    <a:ext uri="{FF2B5EF4-FFF2-40B4-BE49-F238E27FC236}">
                      <a16:creationId xmlns:a16="http://schemas.microsoft.com/office/drawing/2014/main" id="{2AC42FB8-30F6-6D0B-40D6-AB3AE47A00A9}"/>
                    </a:ext>
                  </a:extLst>
                </p:cNvPr>
                <p:cNvGrpSpPr/>
                <p:nvPr/>
              </p:nvGrpSpPr>
              <p:grpSpPr>
                <a:xfrm>
                  <a:off x="9996302" y="7191756"/>
                  <a:ext cx="3931920" cy="502920"/>
                  <a:chOff x="5724698" y="7066408"/>
                  <a:chExt cx="3931920" cy="502920"/>
                </a:xfrm>
              </p:grpSpPr>
              <p:pic>
                <p:nvPicPr>
                  <p:cNvPr id="46" name="Image 2" descr="preencoded.png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724698" y="7148704"/>
                    <a:ext cx="320040" cy="320040"/>
                  </a:xfrm>
                  <a:prstGeom prst="rect">
                    <a:avLst/>
                  </a:prstGeom>
                </p:spPr>
              </p:pic>
              <p:sp>
                <p:nvSpPr>
                  <p:cNvPr id="47" name="Text 42"/>
                  <p:cNvSpPr/>
                  <p:nvPr/>
                </p:nvSpPr>
                <p:spPr>
                  <a:xfrm>
                    <a:off x="6181898" y="7066408"/>
                    <a:ext cx="3474720" cy="32004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100" b="1" dirty="0">
                        <a:solidFill>
                          <a:srgbClr val="1A1A1A"/>
                        </a:solidFill>
                        <a:latin typeface="Montserrat" pitchFamily="2" charset="0"/>
                        <a:ea typeface="Arial" pitchFamily="34" charset="-122"/>
                        <a:cs typeface="Arial" pitchFamily="34" charset="-120"/>
                      </a:rPr>
                      <a:t>Развертывание кластера Greenplum</a:t>
                    </a:r>
                    <a:endParaRPr lang="en-US" sz="1100" dirty="0">
                      <a:latin typeface="Montserrat" pitchFamily="2" charset="0"/>
                    </a:endParaRPr>
                  </a:p>
                </p:txBody>
              </p:sp>
              <p:sp>
                <p:nvSpPr>
                  <p:cNvPr id="48" name="Text 43"/>
                  <p:cNvSpPr/>
                  <p:nvPr/>
                </p:nvSpPr>
                <p:spPr>
                  <a:xfrm>
                    <a:off x="6181898" y="7340728"/>
                    <a:ext cx="3474720" cy="2286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950" dirty="0">
                        <a:solidFill>
                          <a:srgbClr val="6B7280"/>
                        </a:solidFill>
                        <a:latin typeface="Montserrat" pitchFamily="2" charset="0"/>
                        <a:ea typeface="Arial" pitchFamily="34" charset="-122"/>
                        <a:cs typeface="Arial" pitchFamily="34" charset="-120"/>
                      </a:rPr>
                      <a:t>Инфраструктура готова</a:t>
                    </a:r>
                    <a:endParaRPr lang="en-US" sz="950" dirty="0">
                      <a:latin typeface="Montserrat" pitchFamily="2" charset="0"/>
                    </a:endParaRPr>
                  </a:p>
                </p:txBody>
              </p:sp>
            </p:grpSp>
          </p:grpSp>
        </p:grpSp>
        <p:grpSp>
          <p:nvGrpSpPr>
            <p:cNvPr id="119" name="Группа 118">
              <a:extLst>
                <a:ext uri="{FF2B5EF4-FFF2-40B4-BE49-F238E27FC236}">
                  <a16:creationId xmlns:a16="http://schemas.microsoft.com/office/drawing/2014/main" id="{6E0449C8-2FC7-8A06-8451-F17259E018D7}"/>
                </a:ext>
              </a:extLst>
            </p:cNvPr>
            <p:cNvGrpSpPr/>
            <p:nvPr/>
          </p:nvGrpSpPr>
          <p:grpSpPr>
            <a:xfrm>
              <a:off x="4062236" y="2032877"/>
              <a:ext cx="3218614" cy="499198"/>
              <a:chOff x="4062236" y="2032877"/>
              <a:chExt cx="3218614" cy="499198"/>
            </a:xfrm>
          </p:grpSpPr>
          <p:sp>
            <p:nvSpPr>
              <p:cNvPr id="33" name="Text 29"/>
              <p:cNvSpPr/>
              <p:nvPr/>
            </p:nvSpPr>
            <p:spPr>
              <a:xfrm>
                <a:off x="4124092" y="2032877"/>
                <a:ext cx="3079618" cy="18414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ru-RU" sz="1000" kern="0" spc="100" dirty="0">
                    <a:solidFill>
                      <a:srgbClr val="999999"/>
                    </a:solidFill>
                    <a:latin typeface="Montserrat" pitchFamily="2" charset="0"/>
                    <a:ea typeface="Arial" pitchFamily="34" charset="-122"/>
                    <a:cs typeface="Arial" pitchFamily="34" charset="-120"/>
                  </a:rPr>
                  <a:t>МЯГКАЯ МИГРАЦИЯ</a:t>
                </a:r>
                <a:endParaRPr lang="en-US" sz="1000" kern="0" spc="100" dirty="0">
                  <a:solidFill>
                    <a:srgbClr val="999999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29BBED0-5FFF-8C17-C0C5-8AD3A740DD8F}"/>
                  </a:ext>
                </a:extLst>
              </p:cNvPr>
              <p:cNvSpPr txBox="1"/>
              <p:nvPr/>
            </p:nvSpPr>
            <p:spPr>
              <a:xfrm>
                <a:off x="4062236" y="2224298"/>
                <a:ext cx="321861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1400" kern="0" spc="100" dirty="0">
                    <a:solidFill>
                      <a:srgbClr val="00B050"/>
                    </a:solidFill>
                    <a:latin typeface="Montserrat" pitchFamily="2" charset="0"/>
                    <a:ea typeface="Arial" pitchFamily="34" charset="-122"/>
                    <a:cs typeface="Arial" pitchFamily="34" charset="-120"/>
                  </a:rPr>
                  <a:t>YMATRIX(GREENPLUM)</a:t>
                </a:r>
                <a:endParaRPr lang="en-US" sz="1400" dirty="0">
                  <a:solidFill>
                    <a:srgbClr val="00B050"/>
                  </a:solidFill>
                  <a:latin typeface="Montserrat" pitchFamily="2" charset="0"/>
                </a:endParaRPr>
              </a:p>
            </p:txBody>
          </p:sp>
        </p:grpSp>
      </p:grp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22A0001B-6A36-4BD8-674B-56AFF61F29C4}"/>
              </a:ext>
            </a:extLst>
          </p:cNvPr>
          <p:cNvGrpSpPr/>
          <p:nvPr/>
        </p:nvGrpSpPr>
        <p:grpSpPr>
          <a:xfrm>
            <a:off x="881274" y="4680700"/>
            <a:ext cx="2011680" cy="365760"/>
            <a:chOff x="4663440" y="4674870"/>
            <a:chExt cx="2011680" cy="365760"/>
          </a:xfrm>
        </p:grpSpPr>
        <p:sp>
          <p:nvSpPr>
            <p:cNvPr id="104" name="Shape 21">
              <a:extLst>
                <a:ext uri="{FF2B5EF4-FFF2-40B4-BE49-F238E27FC236}">
                  <a16:creationId xmlns:a16="http://schemas.microsoft.com/office/drawing/2014/main" id="{8F2329BF-8352-C350-6215-8884C6473C23}"/>
                </a:ext>
              </a:extLst>
            </p:cNvPr>
            <p:cNvSpPr/>
            <p:nvPr/>
          </p:nvSpPr>
          <p:spPr>
            <a:xfrm>
              <a:off x="4663440" y="4674870"/>
              <a:ext cx="2011680" cy="365760"/>
            </a:xfrm>
            <a:prstGeom prst="roundRect">
              <a:avLst>
                <a:gd name="adj" fmla="val 12500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105" name="Text 22">
              <a:extLst>
                <a:ext uri="{FF2B5EF4-FFF2-40B4-BE49-F238E27FC236}">
                  <a16:creationId xmlns:a16="http://schemas.microsoft.com/office/drawing/2014/main" id="{1517C9A5-4A26-BF87-CB47-7A6B97BFC26F}"/>
                </a:ext>
              </a:extLst>
            </p:cNvPr>
            <p:cNvSpPr/>
            <p:nvPr/>
          </p:nvSpPr>
          <p:spPr>
            <a:xfrm>
              <a:off x="4663440" y="4674870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 b="1" dirty="0">
                  <a:solidFill>
                    <a:srgbClr val="166534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DDS</a:t>
              </a:r>
              <a:endParaRPr lang="en-US" sz="110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grpSp>
        <p:nvGrpSpPr>
          <p:cNvPr id="106" name="Группа 105">
            <a:extLst>
              <a:ext uri="{FF2B5EF4-FFF2-40B4-BE49-F238E27FC236}">
                <a16:creationId xmlns:a16="http://schemas.microsoft.com/office/drawing/2014/main" id="{2C26CFF3-89E0-2131-9A1D-EDA1CCE71E5D}"/>
              </a:ext>
            </a:extLst>
          </p:cNvPr>
          <p:cNvGrpSpPr/>
          <p:nvPr/>
        </p:nvGrpSpPr>
        <p:grpSpPr>
          <a:xfrm>
            <a:off x="881274" y="5137900"/>
            <a:ext cx="2011680" cy="365760"/>
            <a:chOff x="4663440" y="5132070"/>
            <a:chExt cx="2011680" cy="365760"/>
          </a:xfrm>
        </p:grpSpPr>
        <p:sp>
          <p:nvSpPr>
            <p:cNvPr id="107" name="Shape 23">
              <a:extLst>
                <a:ext uri="{FF2B5EF4-FFF2-40B4-BE49-F238E27FC236}">
                  <a16:creationId xmlns:a16="http://schemas.microsoft.com/office/drawing/2014/main" id="{43347533-69F8-F19A-935A-D804AD8304BF}"/>
                </a:ext>
              </a:extLst>
            </p:cNvPr>
            <p:cNvSpPr/>
            <p:nvPr/>
          </p:nvSpPr>
          <p:spPr>
            <a:xfrm>
              <a:off x="4663440" y="5132070"/>
              <a:ext cx="2011680" cy="365760"/>
            </a:xfrm>
            <a:prstGeom prst="roundRect">
              <a:avLst>
                <a:gd name="adj" fmla="val 12500"/>
              </a:avLst>
            </a:prstGeom>
            <a:solidFill>
              <a:srgbClr val="A846EF">
                <a:alpha val="45570"/>
              </a:srgbClr>
            </a:solidFill>
            <a:ln/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108" name="Text 24">
              <a:extLst>
                <a:ext uri="{FF2B5EF4-FFF2-40B4-BE49-F238E27FC236}">
                  <a16:creationId xmlns:a16="http://schemas.microsoft.com/office/drawing/2014/main" id="{6989DF7D-A95A-EAE4-DCF1-24416356061B}"/>
                </a:ext>
              </a:extLst>
            </p:cNvPr>
            <p:cNvSpPr/>
            <p:nvPr/>
          </p:nvSpPr>
          <p:spPr>
            <a:xfrm>
              <a:off x="4663440" y="5132070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7030A0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DM</a:t>
              </a:r>
              <a:endParaRPr lang="en-US" sz="1100" b="1" dirty="0">
                <a:solidFill>
                  <a:srgbClr val="7030A0"/>
                </a:solidFill>
                <a:latin typeface="Montserrat" pitchFamily="2" charset="0"/>
              </a:endParaRP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826ADB29-B640-E7D9-B5F3-4DA468789B0B}"/>
              </a:ext>
            </a:extLst>
          </p:cNvPr>
          <p:cNvSpPr txBox="1"/>
          <p:nvPr/>
        </p:nvSpPr>
        <p:spPr>
          <a:xfrm>
            <a:off x="1783973" y="1539187"/>
            <a:ext cx="214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rPr>
              <a:t>↓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44F659B-0432-0910-85AE-6A24101AC452}"/>
              </a:ext>
            </a:extLst>
          </p:cNvPr>
          <p:cNvSpPr txBox="1"/>
          <p:nvPr/>
        </p:nvSpPr>
        <p:spPr>
          <a:xfrm>
            <a:off x="1778230" y="5722710"/>
            <a:ext cx="214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rPr>
              <a:t>↓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1BBBB19-A5FC-D8AE-6464-8B64467CDCFD}"/>
              </a:ext>
            </a:extLst>
          </p:cNvPr>
          <p:cNvSpPr txBox="1"/>
          <p:nvPr/>
        </p:nvSpPr>
        <p:spPr>
          <a:xfrm>
            <a:off x="5494150" y="5727771"/>
            <a:ext cx="214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C55E"/>
                </a:solidFill>
                <a:latin typeface="Montserrat" pitchFamily="2" charset="0"/>
              </a:rPr>
              <a:t>↓</a:t>
            </a:r>
            <a:endParaRPr lang="en-US" sz="2800" dirty="0">
              <a:latin typeface="Montserrat" pitchFamily="2" charset="0"/>
            </a:endParaRPr>
          </a:p>
        </p:txBody>
      </p:sp>
      <p:sp>
        <p:nvSpPr>
          <p:cNvPr id="122" name="Rectangle 2">
            <a:extLst>
              <a:ext uri="{FF2B5EF4-FFF2-40B4-BE49-F238E27FC236}">
                <a16:creationId xmlns:a16="http://schemas.microsoft.com/office/drawing/2014/main" id="{DE8E2190-FACE-C108-F8F9-73D92C9A6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78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KZ" altLang="ru-K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3" name="Rectangle 3">
            <a:extLst>
              <a:ext uri="{FF2B5EF4-FFF2-40B4-BE49-F238E27FC236}">
                <a16:creationId xmlns:a16="http://schemas.microsoft.com/office/drawing/2014/main" id="{E6200300-E125-45D8-B69C-8E54FB1C5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KZ" altLang="ru-K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795672A-A527-E352-AAA7-DD46960FA5B5}"/>
              </a:ext>
            </a:extLst>
          </p:cNvPr>
          <p:cNvSpPr txBox="1">
            <a:spLocks/>
          </p:cNvSpPr>
          <p:nvPr/>
        </p:nvSpPr>
        <p:spPr>
          <a:xfrm rot="16200000">
            <a:off x="3636413" y="3434782"/>
            <a:ext cx="214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C55E"/>
                </a:solidFill>
                <a:latin typeface="Montserrat" pitchFamily="2" charset="0"/>
              </a:rPr>
              <a:t>↓</a:t>
            </a:r>
            <a:endParaRPr lang="en-US" sz="2800" dirty="0">
              <a:latin typeface="Montserrat" pitchFamily="2" charset="0"/>
            </a:endParaRPr>
          </a:p>
        </p:txBody>
      </p: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5CD643E5-2509-E39D-F110-E44E0B41E5E8}"/>
              </a:ext>
            </a:extLst>
          </p:cNvPr>
          <p:cNvGrpSpPr/>
          <p:nvPr/>
        </p:nvGrpSpPr>
        <p:grpSpPr>
          <a:xfrm>
            <a:off x="4389120" y="2304288"/>
            <a:ext cx="7527422" cy="1691640"/>
            <a:chOff x="4389120" y="2304288"/>
            <a:chExt cx="7527422" cy="1691640"/>
          </a:xfrm>
        </p:grpSpPr>
        <p:grpSp>
          <p:nvGrpSpPr>
            <p:cNvPr id="144" name="Группа 143">
              <a:extLst>
                <a:ext uri="{FF2B5EF4-FFF2-40B4-BE49-F238E27FC236}">
                  <a16:creationId xmlns:a16="http://schemas.microsoft.com/office/drawing/2014/main" id="{B5A876AF-8A0F-843A-F582-0CF3A8480B14}"/>
                </a:ext>
              </a:extLst>
            </p:cNvPr>
            <p:cNvGrpSpPr/>
            <p:nvPr/>
          </p:nvGrpSpPr>
          <p:grpSpPr>
            <a:xfrm>
              <a:off x="4389120" y="2304288"/>
              <a:ext cx="7527422" cy="1691640"/>
              <a:chOff x="4389120" y="2304288"/>
              <a:chExt cx="7527422" cy="1691640"/>
            </a:xfrm>
          </p:grpSpPr>
          <p:grpSp>
            <p:nvGrpSpPr>
              <p:cNvPr id="134" name="Группа 133">
                <a:extLst>
                  <a:ext uri="{FF2B5EF4-FFF2-40B4-BE49-F238E27FC236}">
                    <a16:creationId xmlns:a16="http://schemas.microsoft.com/office/drawing/2014/main" id="{D8A17FCF-87DD-35DD-89A2-3C38E1753172}"/>
                  </a:ext>
                </a:extLst>
              </p:cNvPr>
              <p:cNvGrpSpPr/>
              <p:nvPr/>
            </p:nvGrpSpPr>
            <p:grpSpPr>
              <a:xfrm>
                <a:off x="7618862" y="2304288"/>
                <a:ext cx="4297680" cy="621792"/>
                <a:chOff x="7618862" y="2304288"/>
                <a:chExt cx="4297680" cy="621792"/>
              </a:xfrm>
            </p:grpSpPr>
            <p:sp>
              <p:nvSpPr>
                <p:cNvPr id="49" name="Shape 44"/>
                <p:cNvSpPr/>
                <p:nvPr/>
              </p:nvSpPr>
              <p:spPr>
                <a:xfrm>
                  <a:off x="7618862" y="2304288"/>
                  <a:ext cx="4297680" cy="621792"/>
                </a:xfrm>
                <a:prstGeom prst="roundRect">
                  <a:avLst>
                    <a:gd name="adj" fmla="val 11765"/>
                  </a:avLst>
                </a:prstGeom>
                <a:solidFill>
                  <a:srgbClr val="F0FDF4"/>
                </a:solidFill>
                <a:ln/>
              </p:spPr>
              <p:txBody>
                <a:bodyPr/>
                <a:lstStyle/>
                <a:p>
                  <a:endParaRPr lang="ru-KZ"/>
                </a:p>
              </p:txBody>
            </p:sp>
            <p:pic>
              <p:nvPicPr>
                <p:cNvPr id="50" name="Image 3" descr="preencoded.png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01742" y="2432304"/>
                  <a:ext cx="320040" cy="320040"/>
                </a:xfrm>
                <a:prstGeom prst="rect">
                  <a:avLst/>
                </a:prstGeom>
              </p:spPr>
            </p:pic>
            <p:sp>
              <p:nvSpPr>
                <p:cNvPr id="51" name="Text 45"/>
                <p:cNvSpPr/>
                <p:nvPr/>
              </p:nvSpPr>
              <p:spPr>
                <a:xfrm>
                  <a:off x="8258942" y="2350008"/>
                  <a:ext cx="347472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b="1" dirty="0">
                      <a:solidFill>
                        <a:srgbClr val="1A1A1A"/>
                      </a:solidFill>
                      <a:latin typeface="Montserrat" pitchFamily="2" charset="0"/>
                      <a:ea typeface="Arial" pitchFamily="34" charset="-122"/>
                      <a:cs typeface="Arial" pitchFamily="34" charset="-120"/>
                    </a:rPr>
                    <a:t>Создание копий таблиц ODS</a:t>
                  </a:r>
                  <a:endParaRPr lang="en-US" sz="1100" dirty="0">
                    <a:latin typeface="Montserrat" pitchFamily="2" charset="0"/>
                  </a:endParaRPr>
                </a:p>
              </p:txBody>
            </p:sp>
            <p:sp>
              <p:nvSpPr>
                <p:cNvPr id="52" name="Text 46"/>
                <p:cNvSpPr/>
                <p:nvPr/>
              </p:nvSpPr>
              <p:spPr>
                <a:xfrm>
                  <a:off x="8258942" y="2624328"/>
                  <a:ext cx="347472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50" dirty="0">
                      <a:solidFill>
                        <a:srgbClr val="6B7280"/>
                      </a:solidFill>
                      <a:latin typeface="Montserrat" pitchFamily="2" charset="0"/>
                      <a:ea typeface="Arial" pitchFamily="34" charset="-122"/>
                      <a:cs typeface="Arial" pitchFamily="34" charset="-120"/>
                    </a:rPr>
                    <a:t>Данные перенесены</a:t>
                  </a:r>
                  <a:endParaRPr lang="en-US" sz="950" dirty="0">
                    <a:latin typeface="Montserrat" pitchFamily="2" charset="0"/>
                  </a:endParaRPr>
                </a:p>
              </p:txBody>
            </p:sp>
          </p:grpSp>
          <p:sp>
            <p:nvSpPr>
              <p:cNvPr id="85" name="Shape 15">
                <a:extLst>
                  <a:ext uri="{FF2B5EF4-FFF2-40B4-BE49-F238E27FC236}">
                    <a16:creationId xmlns:a16="http://schemas.microsoft.com/office/drawing/2014/main" id="{7B2A0C7B-B4F3-F8F1-B5EA-6FD7CD15B936}"/>
                  </a:ext>
                </a:extLst>
              </p:cNvPr>
              <p:cNvSpPr/>
              <p:nvPr/>
            </p:nvSpPr>
            <p:spPr>
              <a:xfrm>
                <a:off x="4389120" y="2624328"/>
                <a:ext cx="2560320" cy="137160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 w="15875">
                <a:solidFill>
                  <a:srgbClr val="FDE68A"/>
                </a:solidFill>
                <a:prstDash val="solid"/>
              </a:ln>
            </p:spPr>
            <p:txBody>
              <a:bodyPr/>
              <a:lstStyle/>
              <a:p>
                <a:endParaRPr lang="ru-KZ"/>
              </a:p>
            </p:txBody>
          </p:sp>
        </p:grpSp>
        <p:grpSp>
          <p:nvGrpSpPr>
            <p:cNvPr id="124" name="Группа 123">
              <a:extLst>
                <a:ext uri="{FF2B5EF4-FFF2-40B4-BE49-F238E27FC236}">
                  <a16:creationId xmlns:a16="http://schemas.microsoft.com/office/drawing/2014/main" id="{25D36C57-F016-F237-1EBB-80619AF2E926}"/>
                </a:ext>
              </a:extLst>
            </p:cNvPr>
            <p:cNvGrpSpPr/>
            <p:nvPr/>
          </p:nvGrpSpPr>
          <p:grpSpPr>
            <a:xfrm>
              <a:off x="4683692" y="2736723"/>
              <a:ext cx="1920240" cy="685800"/>
              <a:chOff x="91440" y="10012680"/>
              <a:chExt cx="1920240" cy="685800"/>
            </a:xfrm>
          </p:grpSpPr>
          <p:sp>
            <p:nvSpPr>
              <p:cNvPr id="34" name="Shape 30"/>
              <p:cNvSpPr/>
              <p:nvPr/>
            </p:nvSpPr>
            <p:spPr>
              <a:xfrm>
                <a:off x="91440" y="10012680"/>
                <a:ext cx="1920240" cy="685800"/>
              </a:xfrm>
              <a:prstGeom prst="roundRect">
                <a:avLst>
                  <a:gd name="adj" fmla="val 13333"/>
                </a:avLst>
              </a:prstGeom>
              <a:solidFill>
                <a:srgbClr val="FEF9C4"/>
              </a:solidFill>
              <a:ln/>
            </p:spPr>
            <p:txBody>
              <a:bodyPr/>
              <a:lstStyle/>
              <a:p>
                <a:endParaRPr lang="ru-KZ" dirty="0"/>
              </a:p>
            </p:txBody>
          </p:sp>
          <p:sp>
            <p:nvSpPr>
              <p:cNvPr id="35" name="Text 31"/>
              <p:cNvSpPr/>
              <p:nvPr/>
            </p:nvSpPr>
            <p:spPr>
              <a:xfrm>
                <a:off x="91440" y="10012680"/>
                <a:ext cx="192024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accent4">
                        <a:lumMod val="75000"/>
                      </a:schemeClr>
                    </a:solidFill>
                    <a:latin typeface="Montserrat" pitchFamily="2" charset="0"/>
                    <a:ea typeface="Arial" pitchFamily="34" charset="-122"/>
                    <a:cs typeface="Arial" pitchFamily="34" charset="-120"/>
                  </a:rPr>
                  <a:t>ODS</a:t>
                </a:r>
                <a:endParaRPr lang="en-US" sz="1400" dirty="0">
                  <a:solidFill>
                    <a:schemeClr val="accent4">
                      <a:lumMod val="75000"/>
                    </a:schemeClr>
                  </a:solidFill>
                  <a:latin typeface="Montserrat" pitchFamily="2" charset="0"/>
                </a:endParaRPr>
              </a:p>
            </p:txBody>
          </p:sp>
        </p:grpSp>
      </p:grpSp>
      <p:sp>
        <p:nvSpPr>
          <p:cNvPr id="90" name="Shape 19">
            <a:extLst>
              <a:ext uri="{FF2B5EF4-FFF2-40B4-BE49-F238E27FC236}">
                <a16:creationId xmlns:a16="http://schemas.microsoft.com/office/drawing/2014/main" id="{EE4466BA-22E3-96FF-28DD-68F2D17AEC70}"/>
              </a:ext>
            </a:extLst>
          </p:cNvPr>
          <p:cNvSpPr/>
          <p:nvPr/>
        </p:nvSpPr>
        <p:spPr>
          <a:xfrm>
            <a:off x="4389120" y="4221821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grpSp>
        <p:nvGrpSpPr>
          <p:cNvPr id="135" name="Группа 134">
            <a:extLst>
              <a:ext uri="{FF2B5EF4-FFF2-40B4-BE49-F238E27FC236}">
                <a16:creationId xmlns:a16="http://schemas.microsoft.com/office/drawing/2014/main" id="{C2E207AC-0579-BDA0-1FA0-68B2166DF36F}"/>
              </a:ext>
            </a:extLst>
          </p:cNvPr>
          <p:cNvGrpSpPr/>
          <p:nvPr/>
        </p:nvGrpSpPr>
        <p:grpSpPr>
          <a:xfrm>
            <a:off x="7618862" y="2999232"/>
            <a:ext cx="4297680" cy="621792"/>
            <a:chOff x="7618862" y="2999232"/>
            <a:chExt cx="4297680" cy="621792"/>
          </a:xfrm>
        </p:grpSpPr>
        <p:sp>
          <p:nvSpPr>
            <p:cNvPr id="53" name="Shape 47"/>
            <p:cNvSpPr/>
            <p:nvPr/>
          </p:nvSpPr>
          <p:spPr>
            <a:xfrm>
              <a:off x="7618862" y="2999232"/>
              <a:ext cx="4297680" cy="621792"/>
            </a:xfrm>
            <a:prstGeom prst="roundRect">
              <a:avLst>
                <a:gd name="adj" fmla="val 11765"/>
              </a:avLst>
            </a:prstGeom>
            <a:solidFill>
              <a:srgbClr val="F0FDF4"/>
            </a:solidFill>
            <a:ln/>
          </p:spPr>
          <p:txBody>
            <a:bodyPr/>
            <a:lstStyle/>
            <a:p>
              <a:endParaRPr lang="ru-KZ"/>
            </a:p>
          </p:txBody>
        </p:sp>
        <p:pic>
          <p:nvPicPr>
            <p:cNvPr id="54" name="Image 4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1742" y="3127248"/>
              <a:ext cx="320040" cy="320040"/>
            </a:xfrm>
            <a:prstGeom prst="rect">
              <a:avLst/>
            </a:prstGeom>
          </p:spPr>
        </p:pic>
        <p:sp>
          <p:nvSpPr>
            <p:cNvPr id="55" name="Text 48"/>
            <p:cNvSpPr/>
            <p:nvPr/>
          </p:nvSpPr>
          <p:spPr>
            <a:xfrm>
              <a:off x="8258942" y="3044952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A1A1A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Синхронизация Oracle EDW</a:t>
              </a:r>
              <a:endParaRPr lang="en-US" sz="1100" dirty="0">
                <a:latin typeface="Montserrat" pitchFamily="2" charset="0"/>
              </a:endParaRPr>
            </a:p>
          </p:txBody>
        </p:sp>
        <p:sp>
          <p:nvSpPr>
            <p:cNvPr id="56" name="Text 49"/>
            <p:cNvSpPr/>
            <p:nvPr/>
          </p:nvSpPr>
          <p:spPr>
            <a:xfrm>
              <a:off x="8258942" y="3319272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6B7280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Качество проверено</a:t>
              </a:r>
              <a:endParaRPr lang="en-US" sz="950" dirty="0">
                <a:latin typeface="Montserrat" pitchFamily="2" charset="0"/>
              </a:endParaRP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E99ACDC6-FBEB-1A0C-ECAD-C603787CD2E9}"/>
              </a:ext>
            </a:extLst>
          </p:cNvPr>
          <p:cNvSpPr txBox="1"/>
          <p:nvPr/>
        </p:nvSpPr>
        <p:spPr>
          <a:xfrm rot="16200000">
            <a:off x="3629088" y="4600643"/>
            <a:ext cx="214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C55E"/>
                </a:solidFill>
                <a:latin typeface="Montserrat" pitchFamily="2" charset="0"/>
              </a:rPr>
              <a:t>↓</a:t>
            </a:r>
            <a:endParaRPr lang="en-US" sz="2800" dirty="0">
              <a:latin typeface="Montserrat" pitchFamily="2" charset="0"/>
            </a:endParaRPr>
          </a:p>
        </p:txBody>
      </p:sp>
      <p:grpSp>
        <p:nvGrpSpPr>
          <p:cNvPr id="148" name="Группа 147">
            <a:extLst>
              <a:ext uri="{FF2B5EF4-FFF2-40B4-BE49-F238E27FC236}">
                <a16:creationId xmlns:a16="http://schemas.microsoft.com/office/drawing/2014/main" id="{66E3E754-4504-518E-FEFD-6B43A8D3A6EF}"/>
              </a:ext>
            </a:extLst>
          </p:cNvPr>
          <p:cNvGrpSpPr/>
          <p:nvPr/>
        </p:nvGrpSpPr>
        <p:grpSpPr>
          <a:xfrm>
            <a:off x="4683692" y="4337261"/>
            <a:ext cx="1920240" cy="524992"/>
            <a:chOff x="2194560" y="10012680"/>
            <a:chExt cx="1920240" cy="685800"/>
          </a:xfrm>
        </p:grpSpPr>
        <p:sp>
          <p:nvSpPr>
            <p:cNvPr id="36" name="Shape 32"/>
            <p:cNvSpPr/>
            <p:nvPr/>
          </p:nvSpPr>
          <p:spPr>
            <a:xfrm>
              <a:off x="2194560" y="10012680"/>
              <a:ext cx="1920240" cy="685800"/>
            </a:xfrm>
            <a:prstGeom prst="roundRect">
              <a:avLst>
                <a:gd name="adj" fmla="val 13333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37" name="Text 33"/>
            <p:cNvSpPr/>
            <p:nvPr/>
          </p:nvSpPr>
          <p:spPr>
            <a:xfrm>
              <a:off x="2194560" y="10012680"/>
              <a:ext cx="192024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66534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DDS</a:t>
              </a:r>
              <a:endParaRPr lang="en-US" sz="1400" dirty="0">
                <a:latin typeface="Montserrat" pitchFamily="2" charset="0"/>
              </a:endParaRPr>
            </a:p>
          </p:txBody>
        </p:sp>
      </p:grpSp>
      <p:grpSp>
        <p:nvGrpSpPr>
          <p:cNvPr id="149" name="Группа 148">
            <a:extLst>
              <a:ext uri="{FF2B5EF4-FFF2-40B4-BE49-F238E27FC236}">
                <a16:creationId xmlns:a16="http://schemas.microsoft.com/office/drawing/2014/main" id="{727C3112-531F-1163-550B-0FCFB6009EE9}"/>
              </a:ext>
            </a:extLst>
          </p:cNvPr>
          <p:cNvGrpSpPr/>
          <p:nvPr/>
        </p:nvGrpSpPr>
        <p:grpSpPr>
          <a:xfrm>
            <a:off x="4683692" y="4966353"/>
            <a:ext cx="1265739" cy="520972"/>
            <a:chOff x="4297680" y="10012680"/>
            <a:chExt cx="1920240" cy="685800"/>
          </a:xfrm>
        </p:grpSpPr>
        <p:sp>
          <p:nvSpPr>
            <p:cNvPr id="38" name="Shape 34"/>
            <p:cNvSpPr/>
            <p:nvPr/>
          </p:nvSpPr>
          <p:spPr>
            <a:xfrm>
              <a:off x="4297680" y="10012680"/>
              <a:ext cx="1920240" cy="685800"/>
            </a:xfrm>
            <a:prstGeom prst="roundRect">
              <a:avLst>
                <a:gd name="adj" fmla="val 13333"/>
              </a:avLst>
            </a:prstGeom>
            <a:solidFill>
              <a:srgbClr val="AD48F6">
                <a:alpha val="46302"/>
              </a:srgbClr>
            </a:solidFill>
            <a:ln w="12700">
              <a:noFill/>
              <a:prstDash val="dash"/>
            </a:ln>
          </p:spPr>
          <p:txBody>
            <a:bodyPr/>
            <a:lstStyle/>
            <a:p>
              <a:endParaRPr lang="ru-KZ" dirty="0">
                <a:ln>
                  <a:solidFill>
                    <a:srgbClr val="F9FBFC"/>
                  </a:solidFill>
                </a:ln>
                <a:solidFill>
                  <a:srgbClr val="7030A0"/>
                </a:solidFill>
              </a:endParaRPr>
            </a:p>
          </p:txBody>
        </p:sp>
        <p:sp>
          <p:nvSpPr>
            <p:cNvPr id="39" name="Text 35"/>
            <p:cNvSpPr/>
            <p:nvPr/>
          </p:nvSpPr>
          <p:spPr>
            <a:xfrm>
              <a:off x="4297680" y="10012680"/>
              <a:ext cx="192024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030A0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DM</a:t>
              </a:r>
              <a:endParaRPr lang="en-US" sz="1400" dirty="0">
                <a:solidFill>
                  <a:srgbClr val="7030A0"/>
                </a:solidFill>
                <a:latin typeface="Montserrat" pitchFamily="2" charset="0"/>
              </a:endParaRPr>
            </a:p>
          </p:txBody>
        </p:sp>
      </p:grpSp>
      <p:grpSp>
        <p:nvGrpSpPr>
          <p:cNvPr id="154" name="Группа 153">
            <a:extLst>
              <a:ext uri="{FF2B5EF4-FFF2-40B4-BE49-F238E27FC236}">
                <a16:creationId xmlns:a16="http://schemas.microsoft.com/office/drawing/2014/main" id="{BCD543E0-DBF7-51DC-9C29-FCD4D78AA497}"/>
              </a:ext>
            </a:extLst>
          </p:cNvPr>
          <p:cNvGrpSpPr/>
          <p:nvPr/>
        </p:nvGrpSpPr>
        <p:grpSpPr>
          <a:xfrm>
            <a:off x="5494150" y="1524419"/>
            <a:ext cx="455281" cy="587484"/>
            <a:chOff x="5494150" y="1524419"/>
            <a:chExt cx="455281" cy="587484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048839A-5D82-8871-9DEF-64DFB0FED5BA}"/>
                </a:ext>
              </a:extLst>
            </p:cNvPr>
            <p:cNvSpPr txBox="1"/>
            <p:nvPr/>
          </p:nvSpPr>
          <p:spPr>
            <a:xfrm>
              <a:off x="5494150" y="1524419"/>
              <a:ext cx="21474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22C55E"/>
                  </a:solidFill>
                  <a:latin typeface="Montserrat" pitchFamily="2" charset="0"/>
                </a:rPr>
                <a:t>↓</a:t>
              </a:r>
              <a:endParaRPr lang="en-US" sz="2800" dirty="0">
                <a:latin typeface="Montserrat" pitchFamily="2" charset="0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0CD70A84-252A-0EEB-3DAB-C9152DDF6926}"/>
                </a:ext>
              </a:extLst>
            </p:cNvPr>
            <p:cNvSpPr txBox="1"/>
            <p:nvPr/>
          </p:nvSpPr>
          <p:spPr>
            <a:xfrm rot="10800000">
              <a:off x="5734686" y="1588683"/>
              <a:ext cx="21474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22C55E"/>
                  </a:solidFill>
                  <a:latin typeface="Montserrat" pitchFamily="2" charset="0"/>
                </a:rPr>
                <a:t>↓</a:t>
              </a:r>
              <a:endParaRPr lang="en-US" sz="2800" dirty="0">
                <a:latin typeface="Montserrat" pitchFamily="2" charset="0"/>
              </a:endParaRPr>
            </a:p>
          </p:txBody>
        </p:sp>
      </p:grpSp>
      <p:grpSp>
        <p:nvGrpSpPr>
          <p:cNvPr id="131" name="Группа 130">
            <a:extLst>
              <a:ext uri="{FF2B5EF4-FFF2-40B4-BE49-F238E27FC236}">
                <a16:creationId xmlns:a16="http://schemas.microsoft.com/office/drawing/2014/main" id="{82222647-26BC-A075-E00C-53C198F12F55}"/>
              </a:ext>
            </a:extLst>
          </p:cNvPr>
          <p:cNvGrpSpPr/>
          <p:nvPr/>
        </p:nvGrpSpPr>
        <p:grpSpPr>
          <a:xfrm>
            <a:off x="5690755" y="3529445"/>
            <a:ext cx="893859" cy="353083"/>
            <a:chOff x="-2402270" y="10127119"/>
            <a:chExt cx="893859" cy="353083"/>
          </a:xfrm>
        </p:grpSpPr>
        <p:sp>
          <p:nvSpPr>
            <p:cNvPr id="126" name="Shape 30">
              <a:extLst>
                <a:ext uri="{FF2B5EF4-FFF2-40B4-BE49-F238E27FC236}">
                  <a16:creationId xmlns:a16="http://schemas.microsoft.com/office/drawing/2014/main" id="{2BFAA7EE-8179-0DE1-5451-991F5D283A98}"/>
                </a:ext>
              </a:extLst>
            </p:cNvPr>
            <p:cNvSpPr/>
            <p:nvPr/>
          </p:nvSpPr>
          <p:spPr>
            <a:xfrm>
              <a:off x="-2402270" y="10127119"/>
              <a:ext cx="893859" cy="353083"/>
            </a:xfrm>
            <a:prstGeom prst="roundRect">
              <a:avLst>
                <a:gd name="adj" fmla="val 13333"/>
              </a:avLst>
            </a:prstGeom>
            <a:solidFill>
              <a:srgbClr val="FEF9C4"/>
            </a:solidFill>
            <a:ln/>
          </p:spPr>
          <p:txBody>
            <a:bodyPr/>
            <a:lstStyle/>
            <a:p>
              <a:endParaRPr lang="ru-KZ" dirty="0"/>
            </a:p>
          </p:txBody>
        </p:sp>
        <p:pic>
          <p:nvPicPr>
            <p:cNvPr id="128" name="Рисунок 127" descr="База данных со сплошной заливкой">
              <a:extLst>
                <a:ext uri="{FF2B5EF4-FFF2-40B4-BE49-F238E27FC236}">
                  <a16:creationId xmlns:a16="http://schemas.microsoft.com/office/drawing/2014/main" id="{730016D2-7555-B528-4955-63D6F92B1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097885" y="10149306"/>
              <a:ext cx="285088" cy="285088"/>
            </a:xfrm>
            <a:prstGeom prst="rect">
              <a:avLst/>
            </a:prstGeom>
          </p:spPr>
        </p:pic>
      </p:grpSp>
      <p:pic>
        <p:nvPicPr>
          <p:cNvPr id="1029" name="Picture 5">
            <a:extLst>
              <a:ext uri="{FF2B5EF4-FFF2-40B4-BE49-F238E27FC236}">
                <a16:creationId xmlns:a16="http://schemas.microsoft.com/office/drawing/2014/main" id="{EE1BF21B-3800-BFAC-A87B-BB1C0B294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009" y="2653034"/>
            <a:ext cx="1326472" cy="34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Oracle Logo and symbol, meaning, history, PNG, brand">
            <a:extLst>
              <a:ext uri="{FF2B5EF4-FFF2-40B4-BE49-F238E27FC236}">
                <a16:creationId xmlns:a16="http://schemas.microsoft.com/office/drawing/2014/main" id="{5247476E-376A-18BA-F3C9-DAFAD22849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56" b="29920"/>
          <a:stretch>
            <a:fillRect/>
          </a:stretch>
        </p:blipFill>
        <p:spPr bwMode="auto">
          <a:xfrm>
            <a:off x="1168211" y="4291984"/>
            <a:ext cx="1478855" cy="341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" name="Группа 131">
            <a:extLst>
              <a:ext uri="{FF2B5EF4-FFF2-40B4-BE49-F238E27FC236}">
                <a16:creationId xmlns:a16="http://schemas.microsoft.com/office/drawing/2014/main" id="{960E71E3-7E21-C81C-A779-A659F737B74A}"/>
              </a:ext>
            </a:extLst>
          </p:cNvPr>
          <p:cNvGrpSpPr/>
          <p:nvPr/>
        </p:nvGrpSpPr>
        <p:grpSpPr>
          <a:xfrm>
            <a:off x="4683692" y="3530663"/>
            <a:ext cx="893859" cy="353083"/>
            <a:chOff x="-3671539" y="6356878"/>
            <a:chExt cx="893859" cy="353083"/>
          </a:xfrm>
        </p:grpSpPr>
        <p:sp>
          <p:nvSpPr>
            <p:cNvPr id="125" name="Shape 30">
              <a:extLst>
                <a:ext uri="{FF2B5EF4-FFF2-40B4-BE49-F238E27FC236}">
                  <a16:creationId xmlns:a16="http://schemas.microsoft.com/office/drawing/2014/main" id="{F7BA2C2D-21EB-D09C-D96F-ABA4EF153015}"/>
                </a:ext>
              </a:extLst>
            </p:cNvPr>
            <p:cNvSpPr/>
            <p:nvPr/>
          </p:nvSpPr>
          <p:spPr>
            <a:xfrm>
              <a:off x="-3671539" y="6356878"/>
              <a:ext cx="893859" cy="353083"/>
            </a:xfrm>
            <a:prstGeom prst="roundRect">
              <a:avLst>
                <a:gd name="adj" fmla="val 13333"/>
              </a:avLst>
            </a:prstGeom>
            <a:solidFill>
              <a:srgbClr val="FEF9C4"/>
            </a:solidFill>
            <a:ln/>
          </p:spPr>
          <p:txBody>
            <a:bodyPr/>
            <a:lstStyle/>
            <a:p>
              <a:endParaRPr lang="ru-KZ" dirty="0"/>
            </a:p>
          </p:txBody>
        </p:sp>
        <p:pic>
          <p:nvPicPr>
            <p:cNvPr id="130" name="Рисунок 129">
              <a:extLst>
                <a:ext uri="{FF2B5EF4-FFF2-40B4-BE49-F238E27FC236}">
                  <a16:creationId xmlns:a16="http://schemas.microsoft.com/office/drawing/2014/main" id="{C43935C1-0E58-9FD1-9AD9-587A5E029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-3396303" y="6367545"/>
              <a:ext cx="326366" cy="326366"/>
            </a:xfrm>
            <a:prstGeom prst="rect">
              <a:avLst/>
            </a:prstGeom>
          </p:spPr>
        </p:pic>
      </p:grpSp>
      <p:sp>
        <p:nvSpPr>
          <p:cNvPr id="3" name="Shape 30">
            <a:extLst>
              <a:ext uri="{FF2B5EF4-FFF2-40B4-BE49-F238E27FC236}">
                <a16:creationId xmlns:a16="http://schemas.microsoft.com/office/drawing/2014/main" id="{14BB1E00-1AAE-D01E-6240-797116E34413}"/>
              </a:ext>
            </a:extLst>
          </p:cNvPr>
          <p:cNvSpPr/>
          <p:nvPr/>
        </p:nvSpPr>
        <p:spPr>
          <a:xfrm>
            <a:off x="5995140" y="4977693"/>
            <a:ext cx="608792" cy="486482"/>
          </a:xfrm>
          <a:prstGeom prst="roundRect">
            <a:avLst>
              <a:gd name="adj" fmla="val 13333"/>
            </a:avLst>
          </a:prstGeom>
          <a:solidFill>
            <a:srgbClr val="F9FBFC"/>
          </a:solidFill>
          <a:ln w="9525">
            <a:solidFill>
              <a:schemeClr val="bg1">
                <a:lumMod val="75000"/>
              </a:schemeClr>
            </a:solidFill>
            <a:prstDash val="lgDash"/>
          </a:ln>
        </p:spPr>
        <p:txBody>
          <a:bodyPr/>
          <a:lstStyle/>
          <a:p>
            <a:endParaRPr lang="ru-KZ" dirty="0"/>
          </a:p>
        </p:txBody>
      </p:sp>
      <p:pic>
        <p:nvPicPr>
          <p:cNvPr id="7" name="Рисунок 6" descr="База данных со сплошной заливкой">
            <a:extLst>
              <a:ext uri="{FF2B5EF4-FFF2-40B4-BE49-F238E27FC236}">
                <a16:creationId xmlns:a16="http://schemas.microsoft.com/office/drawing/2014/main" id="{DEA07782-8F7F-CAC5-D3A9-CE6D03A113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55371" y="5076338"/>
            <a:ext cx="285088" cy="2850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681F6C-D85F-9F01-D105-2AA0AB8533BB}"/>
              </a:ext>
            </a:extLst>
          </p:cNvPr>
          <p:cNvSpPr txBox="1">
            <a:spLocks/>
          </p:cNvSpPr>
          <p:nvPr/>
        </p:nvSpPr>
        <p:spPr>
          <a:xfrm>
            <a:off x="6249548" y="3821823"/>
            <a:ext cx="214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C923C"/>
                </a:solidFill>
                <a:latin typeface="Montserrat" pitchFamily="2" charset="0"/>
              </a:rPr>
              <a:t>↓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094DE3EF-05FF-C568-2EB9-438471D6447C}"/>
              </a:ext>
            </a:extLst>
          </p:cNvPr>
          <p:cNvGrpSpPr/>
          <p:nvPr/>
        </p:nvGrpSpPr>
        <p:grpSpPr>
          <a:xfrm>
            <a:off x="7618862" y="5065776"/>
            <a:ext cx="4297680" cy="621792"/>
            <a:chOff x="7618862" y="5779008"/>
            <a:chExt cx="4297680" cy="621792"/>
          </a:xfrm>
        </p:grpSpPr>
        <p:sp>
          <p:nvSpPr>
            <p:cNvPr id="11" name="Shape 59">
              <a:extLst>
                <a:ext uri="{FF2B5EF4-FFF2-40B4-BE49-F238E27FC236}">
                  <a16:creationId xmlns:a16="http://schemas.microsoft.com/office/drawing/2014/main" id="{025DFC46-E217-EF6F-6552-FA512456FB4B}"/>
                </a:ext>
              </a:extLst>
            </p:cNvPr>
            <p:cNvSpPr/>
            <p:nvPr/>
          </p:nvSpPr>
          <p:spPr>
            <a:xfrm>
              <a:off x="7618862" y="5779008"/>
              <a:ext cx="4297680" cy="621792"/>
            </a:xfrm>
            <a:prstGeom prst="roundRect">
              <a:avLst>
                <a:gd name="adj" fmla="val 11765"/>
              </a:avLst>
            </a:prstGeom>
            <a:solidFill>
              <a:srgbClr val="FFF7ED"/>
            </a:solidFill>
            <a:ln w="19050">
              <a:solidFill>
                <a:srgbClr val="FB923C"/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12" name="Image 8" descr="preencoded.png">
              <a:extLst>
                <a:ext uri="{FF2B5EF4-FFF2-40B4-BE49-F238E27FC236}">
                  <a16:creationId xmlns:a16="http://schemas.microsoft.com/office/drawing/2014/main" id="{C5451A69-FDA8-84DD-9018-CA5F00533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1742" y="5907024"/>
              <a:ext cx="320040" cy="320040"/>
            </a:xfrm>
            <a:prstGeom prst="rect">
              <a:avLst/>
            </a:prstGeom>
          </p:spPr>
        </p:pic>
        <p:sp>
          <p:nvSpPr>
            <p:cNvPr id="13" name="Text 60">
              <a:extLst>
                <a:ext uri="{FF2B5EF4-FFF2-40B4-BE49-F238E27FC236}">
                  <a16:creationId xmlns:a16="http://schemas.microsoft.com/office/drawing/2014/main" id="{16832D88-84F1-1C10-309A-791568E191AA}"/>
                </a:ext>
              </a:extLst>
            </p:cNvPr>
            <p:cNvSpPr/>
            <p:nvPr/>
          </p:nvSpPr>
          <p:spPr>
            <a:xfrm>
              <a:off x="8258942" y="5824728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1A1A1A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Маппинги DDS </a:t>
              </a:r>
              <a:r>
                <a:rPr lang="ru-RU" sz="1100" b="1" dirty="0">
                  <a:solidFill>
                    <a:srgbClr val="1A1A1A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и DM из</a:t>
              </a:r>
              <a:r>
                <a:rPr lang="en-US" sz="1100" b="1" dirty="0">
                  <a:solidFill>
                    <a:srgbClr val="1A1A1A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 ODS</a:t>
              </a:r>
              <a:endParaRPr lang="en-US" sz="1100" dirty="0">
                <a:latin typeface="Montserrat" pitchFamily="2" charset="0"/>
              </a:endParaRPr>
            </a:p>
          </p:txBody>
        </p:sp>
        <p:sp>
          <p:nvSpPr>
            <p:cNvPr id="17" name="Text 61">
              <a:extLst>
                <a:ext uri="{FF2B5EF4-FFF2-40B4-BE49-F238E27FC236}">
                  <a16:creationId xmlns:a16="http://schemas.microsoft.com/office/drawing/2014/main" id="{FCA8627C-9BCD-1AF9-C3B8-BB4D1C566D50}"/>
                </a:ext>
              </a:extLst>
            </p:cNvPr>
            <p:cNvSpPr/>
            <p:nvPr/>
          </p:nvSpPr>
          <p:spPr>
            <a:xfrm>
              <a:off x="8258942" y="6099048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FB92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В РАБОТЕ</a:t>
              </a:r>
              <a:endParaRPr lang="en-US" sz="9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82 0.03472 L 0.00169 -0.00069 " pathEditMode="relative" ptsTypes="AA">
                                      <p:cBhvr>
                                        <p:cTn id="46" dur="2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334 0.01389 L 2.29167E-6 -0.00463 " pathEditMode="relative" ptsTypes="AA">
                                      <p:cBhvr>
                                        <p:cTn id="51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67" dur="3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90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000"/>
                            </p:stCondLst>
                            <p:childTnLst>
                              <p:par>
                                <p:cTn id="9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9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28 -0.22454 L -0.00157 3.7037E-7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" y="11227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24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00" grpId="0"/>
      <p:bldP spid="142" grpId="0"/>
      <p:bldP spid="3" grpId="0" animBg="1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96</Words>
  <Application>Microsoft Macintosh PowerPoint</Application>
  <PresentationFormat>Широкоэкранный</PresentationFormat>
  <Paragraphs>39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Montserrat</vt:lpstr>
      <vt:lpstr>Office Theme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zhumabay azamatov</cp:lastModifiedBy>
  <cp:revision>30</cp:revision>
  <dcterms:created xsi:type="dcterms:W3CDTF">2026-03-02T06:56:12Z</dcterms:created>
  <dcterms:modified xsi:type="dcterms:W3CDTF">2026-03-02T10:58:33Z</dcterms:modified>
</cp:coreProperties>
</file>